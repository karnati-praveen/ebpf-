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1821"/>
                </a:solidFill>
                <a:latin typeface="Calibri"/>
              </a:defRPr>
            </a:pPr>
            <a:r>
              <a:rPr sz="1200" b="0" i="0" u="none" strike="noStrike">
                <a:solidFill>
                  <a:srgbClr val="141821"/>
                </a:solidFill>
                <a:latin typeface="Calibri"/>
              </a:rPr>
              <a:t>Time on the slowest machine, per word (ms) - lower is better</a:t>
            </a:r>
          </a:p>
        </c:rich>
      </c:tx>
      <c:layout/>
      <c:overlay val="0"/>
    </c:title>
    <c:autoTitleDeleted val="0"/>
    <c:plotArea>
      <c:layout/>
      <c:barChart>
        <c:barDir val="col"/>
        <c:grouping val="clustered"/>
        <c:varyColors val="0"/>
        <c:ser>
          <c:idx val="0"/>
          <c:order val="0"/>
          <c:tx>
            <c:strRef>
              <c:f>Sheet1!$B$1</c:f>
              <c:strCache>
                <c:ptCount val="1"/>
                <c:pt idx="0">
                  <c:v>Ours - measures all the time</c:v>
                </c:pt>
              </c:strCache>
            </c:strRef>
          </c:tx>
          <c:spPr>
            <a:solidFill>
              <a:srgbClr val="1F8A80"/>
            </a:solidFill>
            <a:effectLst/>
          </c:spPr>
          <c:invertIfNegative val="0"/>
          <c:dLbls>
            <c:numFmt formatCode="#,##0" sourceLinked="0"/>
            <c:txPr>
              <a:bodyPr/>
              <a:lstStyle/>
              <a:p>
                <a:pPr>
                  <a:defRPr b="0" i="0" strike="noStrike" sz="850" u="none">
                    <a:solidFill>
                      <a:srgbClr val="4A5264"/>
                    </a:solidFill>
                    <a:latin typeface="Calibri"/>
                  </a:defRPr>
                </a:pPr>
              </a:p>
            </c:txPr>
            <c:showLegendKey val="0"/>
            <c:showVal val="1"/>
            <c:showCatName val="0"/>
            <c:showSerName val="0"/>
            <c:showPercent val="0"/>
            <c:showBubbleSize val="0"/>
            <c:showLeaderLines val="0"/>
          </c:dLbls>
          <c:cat>
            <c:multiLvlStrRef>
              <c:f>Sheet1!$A$2:$A$5</c:f>
              <c:multiLvlStrCache>
                <c:ptCount val="4"/>
                <c:lvl>
                  <c:pt idx="0">
                    <c:v>Nothing
wrong</c:v>
                  </c:pt>
                  <c:pt idx="1">
                    <c:v>Machine
gets hot</c:v>
                  </c:pt>
                  <c:pt idx="2">
                    <c:v>Network
gets slow</c:v>
                  </c:pt>
                  <c:pt idx="3">
                    <c:v>Both at
once</c:v>
                  </c:pt>
                </c:lvl>
              </c:multiLvlStrCache>
            </c:multiLvlStrRef>
          </c:cat>
          <c:val>
            <c:numRef>
              <c:f>Sheet1!$B$2:$B$5</c:f>
              <c:numCache>
                <c:formatCode>General</c:formatCode>
                <c:ptCount val="4"/>
                <c:pt idx="0">
                  <c:v>42</c:v>
                </c:pt>
                <c:pt idx="1">
                  <c:v>52</c:v>
                </c:pt>
                <c:pt idx="2">
                  <c:v>62</c:v>
                </c:pt>
                <c:pt idx="3">
                  <c:v>62</c:v>
                </c:pt>
              </c:numCache>
            </c:numRef>
          </c:val>
        </c:ser>
        <c:ser>
          <c:idx val="1"/>
          <c:order val="1"/>
          <c:tx>
            <c:strRef>
              <c:f>Sheet1!$C$1</c:f>
              <c:strCache>
                <c:ptCount val="1"/>
                <c:pt idx="0">
                  <c:v>Measure once, then freeze</c:v>
                </c:pt>
              </c:strCache>
            </c:strRef>
          </c:tx>
          <c:spPr>
            <a:solidFill>
              <a:srgbClr val="E07B39"/>
            </a:solidFill>
            <a:effectLst/>
          </c:spPr>
          <c:invertIfNegative val="0"/>
          <c:dLbls>
            <c:numFmt formatCode="#,##0" sourceLinked="0"/>
            <c:txPr>
              <a:bodyPr/>
              <a:lstStyle/>
              <a:p>
                <a:pPr>
                  <a:defRPr b="0" i="0" strike="noStrike" sz="850" u="none">
                    <a:solidFill>
                      <a:srgbClr val="4A5264"/>
                    </a:solidFill>
                    <a:latin typeface="Calibri"/>
                  </a:defRPr>
                </a:pPr>
              </a:p>
            </c:txPr>
            <c:showLegendKey val="0"/>
            <c:showVal val="1"/>
            <c:showCatName val="0"/>
            <c:showSerName val="0"/>
            <c:showPercent val="0"/>
            <c:showBubbleSize val="0"/>
            <c:showLeaderLines val="0"/>
          </c:dLbls>
          <c:cat>
            <c:multiLvlStrRef>
              <c:f>Sheet1!$A$2:$A$5</c:f>
              <c:multiLvlStrCache>
                <c:ptCount val="4"/>
                <c:lvl>
                  <c:pt idx="0">
                    <c:v>Nothing
wrong</c:v>
                  </c:pt>
                  <c:pt idx="1">
                    <c:v>Machine
gets hot</c:v>
                  </c:pt>
                  <c:pt idx="2">
                    <c:v>Network
gets slow</c:v>
                  </c:pt>
                  <c:pt idx="3">
                    <c:v>Both at
once</c:v>
                  </c:pt>
                </c:lvl>
              </c:multiLvlStrCache>
            </c:multiLvlStrRef>
          </c:cat>
          <c:val>
            <c:numRef>
              <c:f>Sheet1!$C$2:$C$5</c:f>
              <c:numCache>
                <c:formatCode>General</c:formatCode>
                <c:ptCount val="4"/>
                <c:pt idx="0">
                  <c:v>42</c:v>
                </c:pt>
                <c:pt idx="1">
                  <c:v>102</c:v>
                </c:pt>
                <c:pt idx="2">
                  <c:v>122</c:v>
                </c:pt>
                <c:pt idx="3">
                  <c:v>182</c:v>
                </c:pt>
              </c:numCache>
            </c:numRef>
          </c:val>
        </c:ser>
        <c:ser>
          <c:idx val="2"/>
          <c:order val="2"/>
          <c:tx>
            <c:strRef>
              <c:f>Sheet1!$D$1</c:f>
              <c:strCache>
                <c:ptCount val="1"/>
                <c:pt idx="0">
                  <c:v>Fixed equal cut</c:v>
                </c:pt>
              </c:strCache>
            </c:strRef>
          </c:tx>
          <c:spPr>
            <a:solidFill>
              <a:srgbClr val="B6BDCA"/>
            </a:solidFill>
            <a:effectLst/>
          </c:spPr>
          <c:invertIfNegative val="0"/>
          <c:dLbls>
            <c:numFmt formatCode="#,##0" sourceLinked="0"/>
            <c:txPr>
              <a:bodyPr/>
              <a:lstStyle/>
              <a:p>
                <a:pPr>
                  <a:defRPr b="0" i="0" strike="noStrike" sz="850" u="none">
                    <a:solidFill>
                      <a:srgbClr val="4A5264"/>
                    </a:solidFill>
                    <a:latin typeface="Calibri"/>
                  </a:defRPr>
                </a:pPr>
              </a:p>
            </c:txPr>
            <c:showLegendKey val="0"/>
            <c:showVal val="1"/>
            <c:showCatName val="0"/>
            <c:showSerName val="0"/>
            <c:showPercent val="0"/>
            <c:showBubbleSize val="0"/>
            <c:showLeaderLines val="0"/>
          </c:dLbls>
          <c:cat>
            <c:multiLvlStrRef>
              <c:f>Sheet1!$A$2:$A$5</c:f>
              <c:multiLvlStrCache>
                <c:ptCount val="4"/>
                <c:lvl>
                  <c:pt idx="0">
                    <c:v>Nothing
wrong</c:v>
                  </c:pt>
                  <c:pt idx="1">
                    <c:v>Machine
gets hot</c:v>
                  </c:pt>
                  <c:pt idx="2">
                    <c:v>Network
gets slow</c:v>
                  </c:pt>
                  <c:pt idx="3">
                    <c:v>Both at
once</c:v>
                  </c:pt>
                </c:lvl>
              </c:multiLvlStrCache>
            </c:multiLvlStrRef>
          </c:cat>
          <c:val>
            <c:numRef>
              <c:f>Sheet1!$D$2:$D$5</c:f>
              <c:numCache>
                <c:formatCode>General</c:formatCode>
                <c:ptCount val="4"/>
                <c:pt idx="0">
                  <c:v>42</c:v>
                </c:pt>
                <c:pt idx="1">
                  <c:v>102</c:v>
                </c:pt>
                <c:pt idx="2">
                  <c:v>122</c:v>
                </c:pt>
                <c:pt idx="3">
                  <c:v>182</c:v>
                </c:pt>
              </c:numCache>
            </c:numRef>
          </c:val>
        </c:ser>
        <c:dLbls>
          <c:numFmt formatCode="#,##0" sourceLinked="0"/>
          <c:txPr>
            <a:bodyPr/>
            <a:lstStyle/>
            <a:p>
              <a:pPr>
                <a:defRPr b="0" i="0" strike="noStrike" sz="850" u="none">
                  <a:solidFill>
                    <a:srgbClr val="4A5264"/>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4A5264"/>
                </a:solidFill>
                <a:latin typeface="Calibri"/>
              </a:defRPr>
            </a:pPr>
            <a:endParaRPr lang="en-US"/>
          </a:p>
        </c:txPr>
        <c:crossAx val="2094734552"/>
        <c:crosses val="autoZero"/>
        <c:auto val="1"/>
        <c:lblAlgn val="ctr"/>
        <c:noMultiLvlLbl val="1"/>
      </c:catAx>
      <c:valAx>
        <c:axId val="2094734552"/>
        <c:scaling>
          <c:orientation val="minMax"/>
          <c:max val="200"/>
        </c:scaling>
        <c:delete val="0"/>
        <c:axPos val="l"/>
        <c:majorGridlines>
          <c:spPr>
            <a:ln w="12700" cap="flat">
              <a:solidFill>
                <a:srgbClr val="E8EA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A5264"/>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950">
              <a:solidFill>
                <a:srgbClr val="4A5264"/>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Fill in author, institution and date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the cut is chosen once, but the machines it was chosen for do not stay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what the paper does, and the gap we fill.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what the paper does, and the gap we fill.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slide: each column has some of what is needed. None has all of it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problem, then break it into four jobs - one for each stage of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clearly that the algorithm is standard. What is new is the loop around it and the live data feeding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then point at the dashed arrow going back - that is what the other systems do not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solver is textbook. What matters on this slide is the brakes that make it safe to redo it constantly.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eBPF really runs in the kernel. Only the GPU reading has a simulated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solver's own numbers, reproducible with `go run ./bench/dpsim`. Measure-once matches the fixed cut here because all machines start equal - the difference is that it still recovers when a machine 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network row is the best result: the solver drops a machine all by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here: the last row measures different things in different columns. Say so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one-line message, then the honest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papers, all from 2024-2025.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21"/>
        </a:solidFill>
      </p:bgPr>
    </p:bg>
    <p:spTree>
      <p:nvGrpSpPr>
        <p:cNvPr id="1" name=""/>
        <p:cNvGrpSpPr/>
        <p:nvPr/>
      </p:nvGrpSpPr>
      <p:grpSpPr>
        <a:xfrm>
          <a:off x="0" y="0"/>
          <a:ext cx="0" cy="0"/>
          <a:chOff x="0" y="0"/>
          <a:chExt cx="0" cy="0"/>
        </a:xfrm>
      </p:grpSpPr>
      <p:sp>
        <p:nvSpPr>
          <p:cNvPr id="2" name="Shape 0"/>
          <p:cNvSpPr/>
          <p:nvPr/>
        </p:nvSpPr>
        <p:spPr>
          <a:xfrm>
            <a:off x="8869680" y="-1371600"/>
            <a:ext cx="5120640" cy="5120640"/>
          </a:xfrm>
          <a:prstGeom prst="ellipse">
            <a:avLst/>
          </a:prstGeom>
          <a:solidFill>
            <a:srgbClr val="232A38"/>
          </a:solidFill>
          <a:ln w="12700">
            <a:solidFill>
              <a:srgbClr val="333333"/>
            </a:solidFill>
            <a:prstDash val="solid"/>
          </a:ln>
        </p:spPr>
      </p:sp>
      <p:sp>
        <p:nvSpPr>
          <p:cNvPr id="3" name="Shape 1"/>
          <p:cNvSpPr/>
          <p:nvPr/>
        </p:nvSpPr>
        <p:spPr>
          <a:xfrm>
            <a:off x="10241280" y="3840480"/>
            <a:ext cx="2743200" cy="2743200"/>
          </a:xfrm>
          <a:prstGeom prst="ellipse">
            <a:avLst/>
          </a:prstGeom>
          <a:solidFill>
            <a:srgbClr val="232A38"/>
          </a:solidFill>
          <a:ln w="12700">
            <a:solidFill>
              <a:srgbClr val="333333"/>
            </a:solidFill>
            <a:prstDash val="solid"/>
          </a:ln>
        </p:spPr>
      </p:sp>
      <p:sp>
        <p:nvSpPr>
          <p:cNvPr id="4" name="Text 2"/>
          <p:cNvSpPr/>
          <p:nvPr/>
        </p:nvSpPr>
        <p:spPr>
          <a:xfrm>
            <a:off x="566928" y="1371600"/>
            <a:ext cx="8229600" cy="274320"/>
          </a:xfrm>
          <a:prstGeom prst="rect">
            <a:avLst/>
          </a:prstGeom>
          <a:noFill/>
          <a:ln/>
        </p:spPr>
        <p:txBody>
          <a:bodyPr wrap="square" lIns="0" tIns="0" rIns="0" bIns="0" rtlCol="0" anchor="ctr"/>
          <a:lstStyle/>
          <a:p>
            <a:pPr indent="0" marL="0">
              <a:buNone/>
            </a:pPr>
            <a:r>
              <a:rPr lang="en-US" sz="1200" b="1" spc="340" kern="0" dirty="0">
                <a:solidFill>
                  <a:srgbClr val="E07B39"/>
                </a:solidFill>
                <a:latin typeface="Calibri" pitchFamily="34" charset="0"/>
                <a:ea typeface="Calibri" pitchFamily="34" charset="-122"/>
                <a:cs typeface="Calibri" pitchFamily="34" charset="-120"/>
              </a:rPr>
              <a:t>KUBEEDGEINFER</a:t>
            </a:r>
            <a:endParaRPr lang="en-US" sz="1200" dirty="0"/>
          </a:p>
        </p:txBody>
      </p:sp>
      <p:sp>
        <p:nvSpPr>
          <p:cNvPr id="5" name="Text 3"/>
          <p:cNvSpPr/>
          <p:nvPr/>
        </p:nvSpPr>
        <p:spPr>
          <a:xfrm>
            <a:off x="566928" y="1828800"/>
            <a:ext cx="7772400" cy="1737360"/>
          </a:xfrm>
          <a:prstGeom prst="rect">
            <a:avLst/>
          </a:prstGeom>
          <a:noFill/>
          <a:ln/>
        </p:spPr>
        <p:txBody>
          <a:bodyPr wrap="square" lIns="0" tIns="0" rIns="0" bIns="0" rtlCol="0" anchor="ctr"/>
          <a:lstStyle/>
          <a:p>
            <a:pPr indent="0" marL="0">
              <a:lnSpc>
                <a:spcPts val="3600"/>
              </a:lnSpc>
              <a:buNone/>
            </a:pPr>
            <a:r>
              <a:rPr lang="en-US" sz="3000" b="1" dirty="0">
                <a:solidFill>
                  <a:srgbClr val="FFFFFF"/>
                </a:solidFill>
                <a:latin typeface="Cambria" pitchFamily="34" charset="0"/>
                <a:ea typeface="Cambria" pitchFamily="34" charset="-122"/>
                <a:cs typeface="Cambria" pitchFamily="34" charset="-120"/>
              </a:rPr>
              <a:t>Sharing One Big AI Model Across Small Machines - and Fixing the Split While It Runs</a:t>
            </a:r>
            <a:endParaRPr lang="en-US" sz="3000" dirty="0"/>
          </a:p>
        </p:txBody>
      </p:sp>
      <p:sp>
        <p:nvSpPr>
          <p:cNvPr id="6" name="Text 4"/>
          <p:cNvSpPr/>
          <p:nvPr/>
        </p:nvSpPr>
        <p:spPr>
          <a:xfrm>
            <a:off x="566928" y="3703320"/>
            <a:ext cx="7680960" cy="731520"/>
          </a:xfrm>
          <a:prstGeom prst="rect">
            <a:avLst/>
          </a:prstGeom>
          <a:noFill/>
          <a:ln/>
        </p:spPr>
        <p:txBody>
          <a:bodyPr wrap="square" lIns="0" tIns="0" rIns="0" bIns="0" rtlCol="0" anchor="ctr"/>
          <a:lstStyle/>
          <a:p>
            <a:pPr indent="0" marL="0">
              <a:lnSpc>
                <a:spcPts val="2200"/>
              </a:lnSpc>
              <a:buNone/>
            </a:pPr>
            <a:r>
              <a:rPr lang="en-US" sz="1500" dirty="0">
                <a:solidFill>
                  <a:srgbClr val="B9C0CC"/>
                </a:solidFill>
                <a:latin typeface="Calibri" pitchFamily="34" charset="0"/>
                <a:ea typeface="Calibri" pitchFamily="34" charset="-122"/>
                <a:cs typeface="Calibri" pitchFamily="34" charset="-120"/>
              </a:rPr>
              <a:t>Most systems choose how to cut the model once. We keep checking, and change the cut whenever the machines change.</a:t>
            </a:r>
            <a:endParaRPr lang="en-US" sz="1500" dirty="0"/>
          </a:p>
        </p:txBody>
      </p:sp>
      <p:sp>
        <p:nvSpPr>
          <p:cNvPr id="7" name="Shape 5"/>
          <p:cNvSpPr/>
          <p:nvPr/>
        </p:nvSpPr>
        <p:spPr>
          <a:xfrm>
            <a:off x="566928" y="4800600"/>
            <a:ext cx="1828800" cy="402336"/>
          </a:xfrm>
          <a:prstGeom prst="roundRect">
            <a:avLst>
              <a:gd name="adj" fmla="val 50000"/>
            </a:avLst>
          </a:prstGeom>
          <a:solidFill>
            <a:srgbClr val="232A38"/>
          </a:solidFill>
          <a:ln w="12700">
            <a:solidFill>
              <a:srgbClr val="3A4356"/>
            </a:solidFill>
            <a:prstDash val="solid"/>
          </a:ln>
        </p:spPr>
      </p:sp>
      <p:sp>
        <p:nvSpPr>
          <p:cNvPr id="8" name="Text 6"/>
          <p:cNvSpPr/>
          <p:nvPr/>
        </p:nvSpPr>
        <p:spPr>
          <a:xfrm>
            <a:off x="566928" y="4800600"/>
            <a:ext cx="1828800" cy="402336"/>
          </a:xfrm>
          <a:prstGeom prst="rect">
            <a:avLst/>
          </a:prstGeom>
          <a:noFill/>
          <a:ln/>
        </p:spPr>
        <p:txBody>
          <a:bodyPr wrap="square" lIns="0" tIns="0" rIns="0" bIns="0" rtlCol="0" anchor="ctr"/>
          <a:lstStyle/>
          <a:p>
            <a:pPr algn="ctr" indent="0" marL="0">
              <a:buNone/>
            </a:pPr>
            <a:r>
              <a:rPr lang="en-US" sz="950" dirty="0">
                <a:solidFill>
                  <a:srgbClr val="C9D0DC"/>
                </a:solidFill>
                <a:latin typeface="Calibri" pitchFamily="34" charset="0"/>
                <a:ea typeface="Calibri" pitchFamily="34" charset="-122"/>
                <a:cs typeface="Calibri" pitchFamily="34" charset="-120"/>
              </a:rPr>
              <a:t>Kernel measuring (eBPF)</a:t>
            </a:r>
            <a:endParaRPr lang="en-US" sz="950" dirty="0"/>
          </a:p>
        </p:txBody>
      </p:sp>
      <p:sp>
        <p:nvSpPr>
          <p:cNvPr id="9" name="Shape 7"/>
          <p:cNvSpPr/>
          <p:nvPr/>
        </p:nvSpPr>
        <p:spPr>
          <a:xfrm>
            <a:off x="2523744" y="4800600"/>
            <a:ext cx="1828800" cy="402336"/>
          </a:xfrm>
          <a:prstGeom prst="roundRect">
            <a:avLst>
              <a:gd name="adj" fmla="val 50000"/>
            </a:avLst>
          </a:prstGeom>
          <a:solidFill>
            <a:srgbClr val="232A38"/>
          </a:solidFill>
          <a:ln w="12700">
            <a:solidFill>
              <a:srgbClr val="3A4356"/>
            </a:solidFill>
            <a:prstDash val="solid"/>
          </a:ln>
        </p:spPr>
      </p:sp>
      <p:sp>
        <p:nvSpPr>
          <p:cNvPr id="10" name="Text 8"/>
          <p:cNvSpPr/>
          <p:nvPr/>
        </p:nvSpPr>
        <p:spPr>
          <a:xfrm>
            <a:off x="2523744" y="4800600"/>
            <a:ext cx="1828800" cy="402336"/>
          </a:xfrm>
          <a:prstGeom prst="rect">
            <a:avLst/>
          </a:prstGeom>
          <a:noFill/>
          <a:ln/>
        </p:spPr>
        <p:txBody>
          <a:bodyPr wrap="square" lIns="0" tIns="0" rIns="0" bIns="0" rtlCol="0" anchor="ctr"/>
          <a:lstStyle/>
          <a:p>
            <a:pPr algn="ctr" indent="0" marL="0">
              <a:buNone/>
            </a:pPr>
            <a:r>
              <a:rPr lang="en-US" sz="950" dirty="0">
                <a:solidFill>
                  <a:srgbClr val="C9D0DC"/>
                </a:solidFill>
                <a:latin typeface="Calibri" pitchFamily="34" charset="0"/>
                <a:ea typeface="Calibri" pitchFamily="34" charset="-122"/>
                <a:cs typeface="Calibri" pitchFamily="34" charset="-120"/>
              </a:rPr>
              <a:t>Kubernetes</a:t>
            </a:r>
            <a:endParaRPr lang="en-US" sz="950" dirty="0"/>
          </a:p>
        </p:txBody>
      </p:sp>
      <p:sp>
        <p:nvSpPr>
          <p:cNvPr id="11" name="Shape 9"/>
          <p:cNvSpPr/>
          <p:nvPr/>
        </p:nvSpPr>
        <p:spPr>
          <a:xfrm>
            <a:off x="4480560" y="4800600"/>
            <a:ext cx="1828800" cy="402336"/>
          </a:xfrm>
          <a:prstGeom prst="roundRect">
            <a:avLst>
              <a:gd name="adj" fmla="val 50000"/>
            </a:avLst>
          </a:prstGeom>
          <a:solidFill>
            <a:srgbClr val="232A38"/>
          </a:solidFill>
          <a:ln w="12700">
            <a:solidFill>
              <a:srgbClr val="3A4356"/>
            </a:solidFill>
            <a:prstDash val="solid"/>
          </a:ln>
        </p:spPr>
      </p:sp>
      <p:sp>
        <p:nvSpPr>
          <p:cNvPr id="12" name="Text 10"/>
          <p:cNvSpPr/>
          <p:nvPr/>
        </p:nvSpPr>
        <p:spPr>
          <a:xfrm>
            <a:off x="4480560" y="4800600"/>
            <a:ext cx="1828800" cy="402336"/>
          </a:xfrm>
          <a:prstGeom prst="rect">
            <a:avLst/>
          </a:prstGeom>
          <a:noFill/>
          <a:ln/>
        </p:spPr>
        <p:txBody>
          <a:bodyPr wrap="square" lIns="0" tIns="0" rIns="0" bIns="0" rtlCol="0" anchor="ctr"/>
          <a:lstStyle/>
          <a:p>
            <a:pPr algn="ctr" indent="0" marL="0">
              <a:buNone/>
            </a:pPr>
            <a:r>
              <a:rPr lang="en-US" sz="950" dirty="0">
                <a:solidFill>
                  <a:srgbClr val="C9D0DC"/>
                </a:solidFill>
                <a:latin typeface="Calibri" pitchFamily="34" charset="0"/>
                <a:ea typeface="Calibri" pitchFamily="34" charset="-122"/>
                <a:cs typeface="Calibri" pitchFamily="34" charset="-120"/>
              </a:rPr>
              <a:t>Split by layer</a:t>
            </a:r>
            <a:endParaRPr lang="en-US" sz="950" dirty="0"/>
          </a:p>
        </p:txBody>
      </p:sp>
      <p:sp>
        <p:nvSpPr>
          <p:cNvPr id="13" name="Shape 11"/>
          <p:cNvSpPr/>
          <p:nvPr/>
        </p:nvSpPr>
        <p:spPr>
          <a:xfrm>
            <a:off x="6437376" y="4800600"/>
            <a:ext cx="1828800" cy="402336"/>
          </a:xfrm>
          <a:prstGeom prst="roundRect">
            <a:avLst>
              <a:gd name="adj" fmla="val 50000"/>
            </a:avLst>
          </a:prstGeom>
          <a:solidFill>
            <a:srgbClr val="232A38"/>
          </a:solidFill>
          <a:ln w="12700">
            <a:solidFill>
              <a:srgbClr val="3A4356"/>
            </a:solidFill>
            <a:prstDash val="solid"/>
          </a:ln>
        </p:spPr>
      </p:sp>
      <p:sp>
        <p:nvSpPr>
          <p:cNvPr id="14" name="Text 12"/>
          <p:cNvSpPr/>
          <p:nvPr/>
        </p:nvSpPr>
        <p:spPr>
          <a:xfrm>
            <a:off x="6437376" y="4800600"/>
            <a:ext cx="1828800" cy="402336"/>
          </a:xfrm>
          <a:prstGeom prst="rect">
            <a:avLst/>
          </a:prstGeom>
          <a:noFill/>
          <a:ln/>
        </p:spPr>
        <p:txBody>
          <a:bodyPr wrap="square" lIns="0" tIns="0" rIns="0" bIns="0" rtlCol="0" anchor="ctr"/>
          <a:lstStyle/>
          <a:p>
            <a:pPr algn="ctr" indent="0" marL="0">
              <a:buNone/>
            </a:pPr>
            <a:r>
              <a:rPr lang="en-US" sz="950" dirty="0">
                <a:solidFill>
                  <a:srgbClr val="C9D0DC"/>
                </a:solidFill>
                <a:latin typeface="Calibri" pitchFamily="34" charset="0"/>
                <a:ea typeface="Calibri" pitchFamily="34" charset="-122"/>
                <a:cs typeface="Calibri" pitchFamily="34" charset="-120"/>
              </a:rPr>
              <a:t>Everyday machines</a:t>
            </a:r>
            <a:endParaRPr lang="en-US" sz="950" dirty="0"/>
          </a:p>
        </p:txBody>
      </p:sp>
      <p:sp>
        <p:nvSpPr>
          <p:cNvPr id="15" name="Text 13"/>
          <p:cNvSpPr/>
          <p:nvPr/>
        </p:nvSpPr>
        <p:spPr>
          <a:xfrm>
            <a:off x="566928" y="5806440"/>
            <a:ext cx="5486400" cy="274320"/>
          </a:xfrm>
          <a:prstGeom prst="rect">
            <a:avLst/>
          </a:prstGeom>
          <a:noFill/>
          <a:ln/>
        </p:spPr>
        <p:txBody>
          <a:bodyPr wrap="square" lIns="0" tIns="0" rIns="0" bIns="0" rtlCol="0" anchor="ctr"/>
          <a:lstStyle/>
          <a:p>
            <a:pPr indent="0" marL="0">
              <a:buNone/>
            </a:pPr>
            <a:r>
              <a:rPr lang="en-US" sz="1200" b="1" dirty="0">
                <a:solidFill>
                  <a:srgbClr val="1F8A80"/>
                </a:solidFill>
                <a:latin typeface="Calibri" pitchFamily="34" charset="0"/>
                <a:ea typeface="Calibri" pitchFamily="34" charset="-122"/>
                <a:cs typeface="Calibri" pitchFamily="34" charset="-120"/>
              </a:rPr>
              <a:t>Research Presentation</a:t>
            </a:r>
            <a:endParaRPr lang="en-US" sz="1200" dirty="0"/>
          </a:p>
        </p:txBody>
      </p:sp>
      <p:sp>
        <p:nvSpPr>
          <p:cNvPr id="16" name="Text 14"/>
          <p:cNvSpPr/>
          <p:nvPr/>
        </p:nvSpPr>
        <p:spPr>
          <a:xfrm>
            <a:off x="566928" y="6108192"/>
            <a:ext cx="7315200" cy="274320"/>
          </a:xfrm>
          <a:prstGeom prst="rect">
            <a:avLst/>
          </a:prstGeom>
          <a:noFill/>
          <a:ln/>
        </p:spPr>
        <p:txBody>
          <a:bodyPr wrap="square" lIns="0" tIns="0" rIns="0" bIns="0" rtlCol="0" anchor="ctr"/>
          <a:lstStyle/>
          <a:p>
            <a:pPr indent="0" marL="0">
              <a:buNone/>
            </a:pPr>
            <a:r>
              <a:rPr lang="en-US" sz="1100" dirty="0">
                <a:solidFill>
                  <a:srgbClr val="7C8698"/>
                </a:solidFill>
                <a:latin typeface="Calibri" pitchFamily="34" charset="0"/>
                <a:ea typeface="Calibri" pitchFamily="34" charset="-122"/>
                <a:cs typeface="Calibri" pitchFamily="34" charset="-120"/>
              </a:rPr>
              <a:t>Author:  •  Institution:  •  Date: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50" b="1" spc="220" kern="0" dirty="0">
                <a:solidFill>
                  <a:srgbClr val="E07B39"/>
                </a:solidFill>
                <a:latin typeface="Calibri" pitchFamily="34" charset="0"/>
                <a:ea typeface="Calibri" pitchFamily="34" charset="-122"/>
                <a:cs typeface="Calibri" pitchFamily="34" charset="-120"/>
              </a:rPr>
              <a:t>INTRODUCTION</a:t>
            </a:r>
            <a:endParaRPr lang="en-US" sz="1150" dirty="0"/>
          </a:p>
        </p:txBody>
      </p:sp>
      <p:sp>
        <p:nvSpPr>
          <p:cNvPr id="3" name="Text 1"/>
          <p:cNvSpPr/>
          <p:nvPr/>
        </p:nvSpPr>
        <p:spPr>
          <a:xfrm>
            <a:off x="566928" y="566928"/>
            <a:ext cx="11055096" cy="658368"/>
          </a:xfrm>
          <a:prstGeom prst="rect">
            <a:avLst/>
          </a:prstGeom>
          <a:noFill/>
          <a:ln/>
        </p:spPr>
        <p:txBody>
          <a:bodyPr wrap="square" lIns="0" tIns="0" rIns="0" bIns="0" rtlCol="0" anchor="ctr"/>
          <a:lstStyle/>
          <a:p>
            <a:pPr indent="0" marL="0">
              <a:buNone/>
            </a:pPr>
            <a:r>
              <a:rPr lang="en-US" sz="3200" b="1" dirty="0">
                <a:solidFill>
                  <a:srgbClr val="141821"/>
                </a:solidFill>
                <a:latin typeface="Cambria" pitchFamily="34" charset="0"/>
                <a:ea typeface="Cambria" pitchFamily="34" charset="-122"/>
                <a:cs typeface="Cambria" pitchFamily="34" charset="-120"/>
              </a:rPr>
              <a:t>The machines keep changing</a:t>
            </a:r>
            <a:endParaRPr lang="en-US" sz="3200" dirty="0"/>
          </a:p>
        </p:txBody>
      </p:sp>
      <p:sp>
        <p:nvSpPr>
          <p:cNvPr id="4" name="Shape 2"/>
          <p:cNvSpPr/>
          <p:nvPr/>
        </p:nvSpPr>
        <p:spPr>
          <a:xfrm>
            <a:off x="566928" y="1481328"/>
            <a:ext cx="6858000" cy="1298448"/>
          </a:xfrm>
          <a:prstGeom prst="roundRect">
            <a:avLst>
              <a:gd name="adj" fmla="val 4930"/>
            </a:avLst>
          </a:prstGeom>
          <a:solidFill>
            <a:srgbClr val="F1F3F7"/>
          </a:solidFill>
          <a:ln w="12700">
            <a:solidFill>
              <a:srgbClr val="FFFFFF"/>
            </a:solidFill>
            <a:prstDash val="solid"/>
          </a:ln>
          <a:effectLst>
            <a:outerShdw sx="100000" sy="100000" kx="0" ky="0" algn="bl" rotWithShape="0" blurRad="127000" dist="25400" dir="5400000">
              <a:srgbClr val="9AA3B2">
                <a:alpha val="28000"/>
              </a:srgbClr>
            </a:outerShdw>
          </a:effectLst>
        </p:spPr>
      </p:sp>
      <p:sp>
        <p:nvSpPr>
          <p:cNvPr id="5" name="Shape 3"/>
          <p:cNvSpPr/>
          <p:nvPr/>
        </p:nvSpPr>
        <p:spPr>
          <a:xfrm>
            <a:off x="841248" y="1755648"/>
            <a:ext cx="310896" cy="310896"/>
          </a:xfrm>
          <a:prstGeom prst="ellipse">
            <a:avLst/>
          </a:prstGeom>
          <a:solidFill>
            <a:srgbClr val="1F8A80"/>
          </a:solidFill>
          <a:ln w="12700">
            <a:solidFill>
              <a:srgbClr val="1F8A80"/>
            </a:solidFill>
            <a:prstDash val="solid"/>
          </a:ln>
        </p:spPr>
      </p:sp>
      <p:sp>
        <p:nvSpPr>
          <p:cNvPr id="6" name="Text 4"/>
          <p:cNvSpPr/>
          <p:nvPr/>
        </p:nvSpPr>
        <p:spPr>
          <a:xfrm>
            <a:off x="841248" y="1755648"/>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p:nvPr/>
        </p:nvSpPr>
        <p:spPr>
          <a:xfrm>
            <a:off x="1280160" y="1682496"/>
            <a:ext cx="5943600" cy="292608"/>
          </a:xfrm>
          <a:prstGeom prst="rect">
            <a:avLst/>
          </a:prstGeom>
          <a:noFill/>
          <a:ln/>
        </p:spPr>
        <p:txBody>
          <a:bodyPr wrap="square" lIns="0" tIns="0" rIns="0" bIns="0" rtlCol="0" anchor="ctr"/>
          <a:lstStyle/>
          <a:p>
            <a:pPr indent="0" marL="0">
              <a:buNone/>
            </a:pPr>
            <a:r>
              <a:rPr lang="en-US" sz="1450" b="1" dirty="0">
                <a:solidFill>
                  <a:srgbClr val="141821"/>
                </a:solidFill>
                <a:latin typeface="Calibri" pitchFamily="34" charset="0"/>
                <a:ea typeface="Calibri" pitchFamily="34" charset="-122"/>
                <a:cs typeface="Calibri" pitchFamily="34" charset="-120"/>
              </a:rPr>
              <a:t>Why we split the model at all</a:t>
            </a:r>
            <a:endParaRPr lang="en-US" sz="1450" dirty="0"/>
          </a:p>
        </p:txBody>
      </p:sp>
      <p:sp>
        <p:nvSpPr>
          <p:cNvPr id="8" name="Text 6"/>
          <p:cNvSpPr/>
          <p:nvPr/>
        </p:nvSpPr>
        <p:spPr>
          <a:xfrm>
            <a:off x="1280160" y="1993392"/>
            <a:ext cx="5943600" cy="713232"/>
          </a:xfrm>
          <a:prstGeom prst="rect">
            <a:avLst/>
          </a:prstGeom>
          <a:noFill/>
          <a:ln/>
        </p:spPr>
        <p:txBody>
          <a:bodyPr wrap="square" lIns="0" tIns="0" rIns="0" bIns="0" rtlCol="0" anchor="ctr"/>
          <a:lstStyle/>
          <a:p>
            <a:pPr indent="0" marL="0">
              <a:lnSpc>
                <a:spcPts val="1500"/>
              </a:lnSpc>
              <a:buNone/>
            </a:pPr>
            <a:r>
              <a:rPr lang="en-US" sz="1150" dirty="0">
                <a:solidFill>
                  <a:srgbClr val="3E4658"/>
                </a:solidFill>
                <a:latin typeface="Calibri" pitchFamily="34" charset="0"/>
                <a:ea typeface="Calibri" pitchFamily="34" charset="-122"/>
                <a:cs typeface="Calibri" pitchFamily="34" charset="-120"/>
              </a:rPr>
              <a:t>A big AI model is too large for one laptop or small PC. So we cut it into blocks of layers and give one block to each machine. Where we cut is the most important choice we make.</a:t>
            </a:r>
            <a:endParaRPr lang="en-US" sz="1150" dirty="0"/>
          </a:p>
        </p:txBody>
      </p:sp>
      <p:sp>
        <p:nvSpPr>
          <p:cNvPr id="9" name="Shape 7"/>
          <p:cNvSpPr/>
          <p:nvPr/>
        </p:nvSpPr>
        <p:spPr>
          <a:xfrm>
            <a:off x="566928" y="2962656"/>
            <a:ext cx="6858000" cy="1298448"/>
          </a:xfrm>
          <a:prstGeom prst="roundRect">
            <a:avLst>
              <a:gd name="adj" fmla="val 4930"/>
            </a:avLst>
          </a:prstGeom>
          <a:solidFill>
            <a:srgbClr val="F1F3F7"/>
          </a:solidFill>
          <a:ln w="12700">
            <a:solidFill>
              <a:srgbClr val="FFFFFF"/>
            </a:solidFill>
            <a:prstDash val="solid"/>
          </a:ln>
          <a:effectLst>
            <a:outerShdw sx="100000" sy="100000" kx="0" ky="0" algn="bl" rotWithShape="0" blurRad="127000" dist="25400" dir="5400000">
              <a:srgbClr val="9AA3B2">
                <a:alpha val="28000"/>
              </a:srgbClr>
            </a:outerShdw>
          </a:effectLst>
        </p:spPr>
      </p:sp>
      <p:sp>
        <p:nvSpPr>
          <p:cNvPr id="10" name="Shape 8"/>
          <p:cNvSpPr/>
          <p:nvPr/>
        </p:nvSpPr>
        <p:spPr>
          <a:xfrm>
            <a:off x="841248" y="3236976"/>
            <a:ext cx="310896" cy="310896"/>
          </a:xfrm>
          <a:prstGeom prst="ellipse">
            <a:avLst/>
          </a:prstGeom>
          <a:solidFill>
            <a:srgbClr val="1F8A80"/>
          </a:solidFill>
          <a:ln w="12700">
            <a:solidFill>
              <a:srgbClr val="1F8A80"/>
            </a:solidFill>
            <a:prstDash val="solid"/>
          </a:ln>
        </p:spPr>
      </p:sp>
      <p:sp>
        <p:nvSpPr>
          <p:cNvPr id="11" name="Text 9"/>
          <p:cNvSpPr/>
          <p:nvPr/>
        </p:nvSpPr>
        <p:spPr>
          <a:xfrm>
            <a:off x="841248" y="3236976"/>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2" name="Text 10"/>
          <p:cNvSpPr/>
          <p:nvPr/>
        </p:nvSpPr>
        <p:spPr>
          <a:xfrm>
            <a:off x="1280160" y="3163824"/>
            <a:ext cx="5943600" cy="292608"/>
          </a:xfrm>
          <a:prstGeom prst="rect">
            <a:avLst/>
          </a:prstGeom>
          <a:noFill/>
          <a:ln/>
        </p:spPr>
        <p:txBody>
          <a:bodyPr wrap="square" lIns="0" tIns="0" rIns="0" bIns="0" rtlCol="0" anchor="ctr"/>
          <a:lstStyle/>
          <a:p>
            <a:pPr indent="0" marL="0">
              <a:buNone/>
            </a:pPr>
            <a:r>
              <a:rPr lang="en-US" sz="1450" b="1" dirty="0">
                <a:solidFill>
                  <a:srgbClr val="141821"/>
                </a:solidFill>
                <a:latin typeface="Calibri" pitchFamily="34" charset="0"/>
                <a:ea typeface="Calibri" pitchFamily="34" charset="-122"/>
                <a:cs typeface="Calibri" pitchFamily="34" charset="-120"/>
              </a:rPr>
              <a:t>Small machines are not like data centres</a:t>
            </a:r>
            <a:endParaRPr lang="en-US" sz="1450" dirty="0"/>
          </a:p>
        </p:txBody>
      </p:sp>
      <p:sp>
        <p:nvSpPr>
          <p:cNvPr id="13" name="Text 11"/>
          <p:cNvSpPr/>
          <p:nvPr/>
        </p:nvSpPr>
        <p:spPr>
          <a:xfrm>
            <a:off x="1280160" y="3474720"/>
            <a:ext cx="5943600" cy="713232"/>
          </a:xfrm>
          <a:prstGeom prst="rect">
            <a:avLst/>
          </a:prstGeom>
          <a:noFill/>
          <a:ln/>
        </p:spPr>
        <p:txBody>
          <a:bodyPr wrap="square" lIns="0" tIns="0" rIns="0" bIns="0" rtlCol="0" anchor="ctr"/>
          <a:lstStyle/>
          <a:p>
            <a:pPr indent="0" marL="0">
              <a:lnSpc>
                <a:spcPts val="1500"/>
              </a:lnSpc>
              <a:buNone/>
            </a:pPr>
            <a:r>
              <a:rPr lang="en-US" sz="1150" dirty="0">
                <a:solidFill>
                  <a:srgbClr val="3E4658"/>
                </a:solidFill>
                <a:latin typeface="Calibri" pitchFamily="34" charset="0"/>
                <a:ea typeface="Calibri" pitchFamily="34" charset="-122"/>
                <a:cs typeface="Calibri" pitchFamily="34" charset="-120"/>
              </a:rPr>
              <a:t>Data centre servers are all the same and stay cool. Our machines are laptops and cheap GPU boxes on WiFi. They get hot and slow down, their network speed wanders, and sometimes they switch off.</a:t>
            </a:r>
            <a:endParaRPr lang="en-US" sz="1150" dirty="0"/>
          </a:p>
        </p:txBody>
      </p:sp>
      <p:sp>
        <p:nvSpPr>
          <p:cNvPr id="14" name="Shape 12"/>
          <p:cNvSpPr/>
          <p:nvPr/>
        </p:nvSpPr>
        <p:spPr>
          <a:xfrm>
            <a:off x="566928" y="4443984"/>
            <a:ext cx="6858000" cy="1298448"/>
          </a:xfrm>
          <a:prstGeom prst="roundRect">
            <a:avLst>
              <a:gd name="adj" fmla="val 4930"/>
            </a:avLst>
          </a:prstGeom>
          <a:solidFill>
            <a:srgbClr val="F1F3F7"/>
          </a:solidFill>
          <a:ln w="12700">
            <a:solidFill>
              <a:srgbClr val="FFFFFF"/>
            </a:solidFill>
            <a:prstDash val="solid"/>
          </a:ln>
          <a:effectLst>
            <a:outerShdw sx="100000" sy="100000" kx="0" ky="0" algn="bl" rotWithShape="0" blurRad="127000" dist="25400" dir="5400000">
              <a:srgbClr val="9AA3B2">
                <a:alpha val="28000"/>
              </a:srgbClr>
            </a:outerShdw>
          </a:effectLst>
        </p:spPr>
      </p:sp>
      <p:sp>
        <p:nvSpPr>
          <p:cNvPr id="15" name="Shape 13"/>
          <p:cNvSpPr/>
          <p:nvPr/>
        </p:nvSpPr>
        <p:spPr>
          <a:xfrm>
            <a:off x="841248" y="4718304"/>
            <a:ext cx="310896" cy="310896"/>
          </a:xfrm>
          <a:prstGeom prst="ellipse">
            <a:avLst/>
          </a:prstGeom>
          <a:solidFill>
            <a:srgbClr val="E07B39"/>
          </a:solidFill>
          <a:ln w="12700">
            <a:solidFill>
              <a:srgbClr val="E07B39"/>
            </a:solidFill>
            <a:prstDash val="solid"/>
          </a:ln>
        </p:spPr>
      </p:sp>
      <p:sp>
        <p:nvSpPr>
          <p:cNvPr id="16" name="Text 14"/>
          <p:cNvSpPr/>
          <p:nvPr/>
        </p:nvSpPr>
        <p:spPr>
          <a:xfrm>
            <a:off x="841248" y="4718304"/>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7" name="Text 15"/>
          <p:cNvSpPr/>
          <p:nvPr/>
        </p:nvSpPr>
        <p:spPr>
          <a:xfrm>
            <a:off x="1280160" y="4645152"/>
            <a:ext cx="5943600" cy="292608"/>
          </a:xfrm>
          <a:prstGeom prst="rect">
            <a:avLst/>
          </a:prstGeom>
          <a:noFill/>
          <a:ln/>
        </p:spPr>
        <p:txBody>
          <a:bodyPr wrap="square" lIns="0" tIns="0" rIns="0" bIns="0" rtlCol="0" anchor="ctr"/>
          <a:lstStyle/>
          <a:p>
            <a:pPr indent="0" marL="0">
              <a:buNone/>
            </a:pPr>
            <a:r>
              <a:rPr lang="en-US" sz="1450" b="1" dirty="0">
                <a:solidFill>
                  <a:srgbClr val="141821"/>
                </a:solidFill>
                <a:latin typeface="Calibri" pitchFamily="34" charset="0"/>
                <a:ea typeface="Calibri" pitchFamily="34" charset="-122"/>
                <a:cs typeface="Calibri" pitchFamily="34" charset="-120"/>
              </a:rPr>
              <a:t>What other systems do today</a:t>
            </a:r>
            <a:endParaRPr lang="en-US" sz="1450" dirty="0"/>
          </a:p>
        </p:txBody>
      </p:sp>
      <p:sp>
        <p:nvSpPr>
          <p:cNvPr id="18" name="Text 16"/>
          <p:cNvSpPr/>
          <p:nvPr/>
        </p:nvSpPr>
        <p:spPr>
          <a:xfrm>
            <a:off x="1280160" y="4956048"/>
            <a:ext cx="5943600" cy="713232"/>
          </a:xfrm>
          <a:prstGeom prst="rect">
            <a:avLst/>
          </a:prstGeom>
          <a:noFill/>
          <a:ln/>
        </p:spPr>
        <p:txBody>
          <a:bodyPr wrap="square" lIns="0" tIns="0" rIns="0" bIns="0" rtlCol="0" anchor="ctr"/>
          <a:lstStyle/>
          <a:p>
            <a:pPr indent="0" marL="0">
              <a:lnSpc>
                <a:spcPts val="1500"/>
              </a:lnSpc>
              <a:buNone/>
            </a:pPr>
            <a:r>
              <a:rPr lang="en-US" sz="1150" dirty="0">
                <a:solidFill>
                  <a:srgbClr val="3E4658"/>
                </a:solidFill>
                <a:latin typeface="Calibri" pitchFamily="34" charset="0"/>
                <a:ea typeface="Calibri" pitchFamily="34" charset="-122"/>
                <a:cs typeface="Calibri" pitchFamily="34" charset="-120"/>
              </a:rPr>
              <a:t>They measure the machines once, pick a cut, and never look again. That cut is right at the start and gets more and more wrong as the machines change.</a:t>
            </a:r>
            <a:endParaRPr lang="en-US" sz="1150" dirty="0"/>
          </a:p>
        </p:txBody>
      </p:sp>
      <p:sp>
        <p:nvSpPr>
          <p:cNvPr id="19" name="Shape 17"/>
          <p:cNvSpPr/>
          <p:nvPr/>
        </p:nvSpPr>
        <p:spPr>
          <a:xfrm>
            <a:off x="7882128" y="1481328"/>
            <a:ext cx="3739896" cy="4224528"/>
          </a:xfrm>
          <a:prstGeom prst="roundRect">
            <a:avLst>
              <a:gd name="adj" fmla="val 1711"/>
            </a:avLst>
          </a:prstGeom>
          <a:solidFill>
            <a:srgbClr val="141821"/>
          </a:solidFill>
          <a:ln w="12700">
            <a:solidFill>
              <a:srgbClr val="FFFFFF"/>
            </a:solidFill>
            <a:prstDash val="solid"/>
          </a:ln>
          <a:effectLst>
            <a:outerShdw sx="100000" sy="100000" kx="0" ky="0" algn="bl" rotWithShape="0" blurRad="127000" dist="25400" dir="5400000">
              <a:srgbClr val="9AA3B2">
                <a:alpha val="28000"/>
              </a:srgbClr>
            </a:outerShdw>
          </a:effectLst>
        </p:spPr>
      </p:sp>
      <p:sp>
        <p:nvSpPr>
          <p:cNvPr id="20" name="Text 18"/>
          <p:cNvSpPr/>
          <p:nvPr/>
        </p:nvSpPr>
        <p:spPr>
          <a:xfrm>
            <a:off x="8156448" y="1755648"/>
            <a:ext cx="3200400" cy="274320"/>
          </a:xfrm>
          <a:prstGeom prst="rect">
            <a:avLst/>
          </a:prstGeom>
          <a:noFill/>
          <a:ln/>
        </p:spPr>
        <p:txBody>
          <a:bodyPr wrap="square" lIns="0" tIns="0" rIns="0" bIns="0" rtlCol="0" anchor="ctr"/>
          <a:lstStyle/>
          <a:p>
            <a:pPr indent="0" marL="0">
              <a:buNone/>
            </a:pPr>
            <a:r>
              <a:rPr lang="en-US" sz="1100" b="1" spc="160" kern="0" dirty="0">
                <a:solidFill>
                  <a:srgbClr val="E07B39"/>
                </a:solidFill>
                <a:latin typeface="Calibri" pitchFamily="34" charset="0"/>
                <a:ea typeface="Calibri" pitchFamily="34" charset="-122"/>
                <a:cs typeface="Calibri" pitchFamily="34" charset="-120"/>
              </a:rPr>
              <a:t>What that costs</a:t>
            </a:r>
            <a:endParaRPr lang="en-US" sz="1100" dirty="0"/>
          </a:p>
        </p:txBody>
      </p:sp>
      <p:sp>
        <p:nvSpPr>
          <p:cNvPr id="21" name="Text 19"/>
          <p:cNvSpPr/>
          <p:nvPr/>
        </p:nvSpPr>
        <p:spPr>
          <a:xfrm>
            <a:off x="8156448" y="2157984"/>
            <a:ext cx="3200400" cy="566928"/>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2.4x</a:t>
            </a:r>
            <a:endParaRPr lang="en-US" sz="4000" dirty="0"/>
          </a:p>
        </p:txBody>
      </p:sp>
      <p:sp>
        <p:nvSpPr>
          <p:cNvPr id="22" name="Text 20"/>
          <p:cNvSpPr/>
          <p:nvPr/>
        </p:nvSpPr>
        <p:spPr>
          <a:xfrm>
            <a:off x="8156448" y="2706624"/>
            <a:ext cx="3200400" cy="566928"/>
          </a:xfrm>
          <a:prstGeom prst="rect">
            <a:avLst/>
          </a:prstGeom>
          <a:noFill/>
          <a:ln/>
        </p:spPr>
        <p:txBody>
          <a:bodyPr wrap="square" lIns="0" tIns="0" rIns="0" bIns="0" rtlCol="0" anchor="ctr"/>
          <a:lstStyle/>
          <a:p>
            <a:pPr indent="0" marL="0">
              <a:lnSpc>
                <a:spcPts val="1300"/>
              </a:lnSpc>
              <a:buNone/>
            </a:pPr>
            <a:r>
              <a:rPr lang="en-US" sz="1000" dirty="0">
                <a:solidFill>
                  <a:srgbClr val="9AA3B4"/>
                </a:solidFill>
                <a:latin typeface="Calibri" pitchFamily="34" charset="0"/>
                <a:ea typeface="Calibri" pitchFamily="34" charset="-122"/>
                <a:cs typeface="Calibri" pitchFamily="34" charset="-120"/>
              </a:rPr>
              <a:t>slower on the busiest machine when one machine gets hot and the cut never changes</a:t>
            </a:r>
            <a:endParaRPr lang="en-US" sz="1000" dirty="0"/>
          </a:p>
        </p:txBody>
      </p:sp>
      <p:sp>
        <p:nvSpPr>
          <p:cNvPr id="23" name="Text 21"/>
          <p:cNvSpPr/>
          <p:nvPr/>
        </p:nvSpPr>
        <p:spPr>
          <a:xfrm>
            <a:off x="8156448" y="3364992"/>
            <a:ext cx="3200400" cy="566928"/>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4.3x</a:t>
            </a:r>
            <a:endParaRPr lang="en-US" sz="4000" dirty="0"/>
          </a:p>
        </p:txBody>
      </p:sp>
      <p:sp>
        <p:nvSpPr>
          <p:cNvPr id="24" name="Text 22"/>
          <p:cNvSpPr/>
          <p:nvPr/>
        </p:nvSpPr>
        <p:spPr>
          <a:xfrm>
            <a:off x="8156448" y="3913632"/>
            <a:ext cx="3200400" cy="566928"/>
          </a:xfrm>
          <a:prstGeom prst="rect">
            <a:avLst/>
          </a:prstGeom>
          <a:noFill/>
          <a:ln/>
        </p:spPr>
        <p:txBody>
          <a:bodyPr wrap="square" lIns="0" tIns="0" rIns="0" bIns="0" rtlCol="0" anchor="ctr"/>
          <a:lstStyle/>
          <a:p>
            <a:pPr indent="0" marL="0">
              <a:lnSpc>
                <a:spcPts val="1300"/>
              </a:lnSpc>
              <a:buNone/>
            </a:pPr>
            <a:r>
              <a:rPr lang="en-US" sz="1000" dirty="0">
                <a:solidFill>
                  <a:srgbClr val="9AA3B4"/>
                </a:solidFill>
                <a:latin typeface="Calibri" pitchFamily="34" charset="0"/>
                <a:ea typeface="Calibri" pitchFamily="34" charset="-122"/>
                <a:cs typeface="Calibri" pitchFamily="34" charset="-120"/>
              </a:rPr>
              <a:t>slower when a slow network and a hot GPU happen at the same time</a:t>
            </a:r>
            <a:endParaRPr lang="en-US" sz="1000" dirty="0"/>
          </a:p>
        </p:txBody>
      </p:sp>
      <p:sp>
        <p:nvSpPr>
          <p:cNvPr id="25" name="Text 23"/>
          <p:cNvSpPr/>
          <p:nvPr/>
        </p:nvSpPr>
        <p:spPr>
          <a:xfrm>
            <a:off x="8156448" y="4572000"/>
            <a:ext cx="3200400" cy="566928"/>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0</a:t>
            </a:r>
            <a:endParaRPr lang="en-US" sz="4000" dirty="0"/>
          </a:p>
        </p:txBody>
      </p:sp>
      <p:sp>
        <p:nvSpPr>
          <p:cNvPr id="26" name="Text 24"/>
          <p:cNvSpPr/>
          <p:nvPr/>
        </p:nvSpPr>
        <p:spPr>
          <a:xfrm>
            <a:off x="8156448" y="5120640"/>
            <a:ext cx="3200400" cy="566928"/>
          </a:xfrm>
          <a:prstGeom prst="rect">
            <a:avLst/>
          </a:prstGeom>
          <a:noFill/>
          <a:ln/>
        </p:spPr>
        <p:txBody>
          <a:bodyPr wrap="square" lIns="0" tIns="0" rIns="0" bIns="0" rtlCol="0" anchor="ctr"/>
          <a:lstStyle/>
          <a:p>
            <a:pPr indent="0" marL="0">
              <a:lnSpc>
                <a:spcPts val="1300"/>
              </a:lnSpc>
              <a:buNone/>
            </a:pPr>
            <a:r>
              <a:rPr lang="en-US" sz="1000" dirty="0">
                <a:solidFill>
                  <a:srgbClr val="9AA3B4"/>
                </a:solidFill>
                <a:latin typeface="Calibri" pitchFamily="34" charset="0"/>
                <a:ea typeface="Calibri" pitchFamily="34" charset="-122"/>
                <a:cs typeface="Calibri" pitchFamily="34" charset="-120"/>
              </a:rPr>
              <a:t>answers given after one machine dies, if nothing is re-planned</a:t>
            </a:r>
            <a:endParaRPr lang="en-US" sz="1000" dirty="0"/>
          </a:p>
        </p:txBody>
      </p:sp>
      <p:sp>
        <p:nvSpPr>
          <p:cNvPr id="27" name="Text 25"/>
          <p:cNvSpPr/>
          <p:nvPr/>
        </p:nvSpPr>
        <p:spPr>
          <a:xfrm>
            <a:off x="566928" y="6382512"/>
            <a:ext cx="9692640" cy="274320"/>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Numbers from the test on slide 11 (12 layers, 3 machines).</a:t>
            </a:r>
            <a:endParaRPr lang="en-US" sz="950" dirty="0"/>
          </a:p>
        </p:txBody>
      </p:sp>
      <p:sp>
        <p:nvSpPr>
          <p:cNvPr id="28" name="Text 26"/>
          <p:cNvSpPr/>
          <p:nvPr/>
        </p:nvSpPr>
        <p:spPr>
          <a:xfrm>
            <a:off x="11073384" y="6382512"/>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50" b="1" spc="220" kern="0" dirty="0">
                <a:solidFill>
                  <a:srgbClr val="E07B39"/>
                </a:solidFill>
                <a:latin typeface="Calibri" pitchFamily="34" charset="0"/>
                <a:ea typeface="Calibri" pitchFamily="34" charset="-122"/>
                <a:cs typeface="Calibri" pitchFamily="34" charset="-120"/>
              </a:rPr>
              <a:t>LITERATURE REVIEW (1 OF 2)</a:t>
            </a:r>
            <a:endParaRPr lang="en-US" sz="1150" dirty="0"/>
          </a:p>
        </p:txBody>
      </p:sp>
      <p:sp>
        <p:nvSpPr>
          <p:cNvPr id="3" name="Text 1"/>
          <p:cNvSpPr/>
          <p:nvPr/>
        </p:nvSpPr>
        <p:spPr>
          <a:xfrm>
            <a:off x="566928" y="566928"/>
            <a:ext cx="11055096" cy="658368"/>
          </a:xfrm>
          <a:prstGeom prst="rect">
            <a:avLst/>
          </a:prstGeom>
          <a:noFill/>
          <a:ln/>
        </p:spPr>
        <p:txBody>
          <a:bodyPr wrap="square" lIns="0" tIns="0" rIns="0" bIns="0" rtlCol="0" anchor="ctr"/>
          <a:lstStyle/>
          <a:p>
            <a:pPr indent="0" marL="0">
              <a:buNone/>
            </a:pPr>
            <a:r>
              <a:rPr lang="en-US" sz="3200" b="1" dirty="0">
                <a:solidFill>
                  <a:srgbClr val="141821"/>
                </a:solidFill>
                <a:latin typeface="Cambria" pitchFamily="34" charset="0"/>
                <a:ea typeface="Cambria" pitchFamily="34" charset="-122"/>
                <a:cs typeface="Cambria" pitchFamily="34" charset="-120"/>
              </a:rPr>
              <a:t>How other systems split the model</a:t>
            </a:r>
            <a:endParaRPr lang="en-US" sz="3200" dirty="0"/>
          </a:p>
        </p:txBody>
      </p:sp>
      <p:sp>
        <p:nvSpPr>
          <p:cNvPr id="4" name="Shape 2"/>
          <p:cNvSpPr/>
          <p:nvPr/>
        </p:nvSpPr>
        <p:spPr>
          <a:xfrm>
            <a:off x="566928" y="1444752"/>
            <a:ext cx="11055096" cy="877824"/>
          </a:xfrm>
          <a:prstGeom prst="roundRect">
            <a:avLst>
              <a:gd name="adj" fmla="val 7292"/>
            </a:avLst>
          </a:prstGeom>
          <a:solidFill>
            <a:srgbClr val="F1F3F7"/>
          </a:solidFill>
          <a:ln w="12700">
            <a:solidFill>
              <a:srgbClr val="FFFFFF"/>
            </a:solidFill>
            <a:prstDash val="solid"/>
          </a:ln>
          <a:effectLst>
            <a:outerShdw sx="100000" sy="100000" kx="0" ky="0" algn="bl" rotWithShape="0" blurRad="127000" dist="25400" dir="5400000">
              <a:srgbClr val="9AA3B2">
                <a:alpha val="28000"/>
              </a:srgbClr>
            </a:outerShdw>
          </a:effectLst>
        </p:spPr>
      </p:sp>
      <p:sp>
        <p:nvSpPr>
          <p:cNvPr id="5" name="Text 3"/>
          <p:cNvSpPr/>
          <p:nvPr/>
        </p:nvSpPr>
        <p:spPr>
          <a:xfrm>
            <a:off x="804672" y="1572768"/>
            <a:ext cx="2286000" cy="274320"/>
          </a:xfrm>
          <a:prstGeom prst="rect">
            <a:avLst/>
          </a:prstGeom>
          <a:noFill/>
          <a:ln/>
        </p:spPr>
        <p:txBody>
          <a:bodyPr wrap="square" lIns="0" tIns="0" rIns="0" bIns="0" rtlCol="0" anchor="ctr"/>
          <a:lstStyle/>
          <a:p>
            <a:pPr indent="0" marL="0">
              <a:buNone/>
            </a:pPr>
            <a:r>
              <a:rPr lang="en-US" sz="1300" b="1" dirty="0">
                <a:solidFill>
                  <a:srgbClr val="141821"/>
                </a:solidFill>
                <a:latin typeface="Calibri" pitchFamily="34" charset="0"/>
                <a:ea typeface="Calibri" pitchFamily="34" charset="-122"/>
                <a:cs typeface="Calibri" pitchFamily="34" charset="-120"/>
              </a:rPr>
              <a:t>EdgeShard</a:t>
            </a:r>
            <a:endParaRPr lang="en-US" sz="1300" dirty="0"/>
          </a:p>
        </p:txBody>
      </p:sp>
      <p:sp>
        <p:nvSpPr>
          <p:cNvPr id="6" name="Text 4"/>
          <p:cNvSpPr/>
          <p:nvPr/>
        </p:nvSpPr>
        <p:spPr>
          <a:xfrm>
            <a:off x="804672" y="1856232"/>
            <a:ext cx="2286000" cy="219456"/>
          </a:xfrm>
          <a:prstGeom prst="rect">
            <a:avLst/>
          </a:prstGeom>
          <a:noFill/>
          <a:ln/>
        </p:spPr>
        <p:txBody>
          <a:bodyPr wrap="square" lIns="0" tIns="0" rIns="0" bIns="0" rtlCol="0" anchor="ctr"/>
          <a:lstStyle/>
          <a:p>
            <a:pPr indent="0" marL="0">
              <a:buNone/>
            </a:pPr>
            <a:r>
              <a:rPr lang="en-US" sz="950" b="1" dirty="0">
                <a:solidFill>
                  <a:srgbClr val="1F8A80"/>
                </a:solidFill>
                <a:latin typeface="Calibri" pitchFamily="34" charset="0"/>
                <a:ea typeface="Calibri" pitchFamily="34" charset="-122"/>
                <a:cs typeface="Calibri" pitchFamily="34" charset="-120"/>
              </a:rPr>
              <a:t>IEEE IoT-J, 2024</a:t>
            </a:r>
            <a:endParaRPr lang="en-US" sz="950" dirty="0"/>
          </a:p>
        </p:txBody>
      </p:sp>
      <p:sp>
        <p:nvSpPr>
          <p:cNvPr id="7" name="Text 5"/>
          <p:cNvSpPr/>
          <p:nvPr/>
        </p:nvSpPr>
        <p:spPr>
          <a:xfrm>
            <a:off x="804672" y="2048256"/>
            <a:ext cx="2286000" cy="219456"/>
          </a:xfrm>
          <a:prstGeom prst="rect">
            <a:avLst/>
          </a:prstGeom>
          <a:noFill/>
          <a:ln/>
        </p:spPr>
        <p:txBody>
          <a:bodyPr wrap="square" lIns="0" tIns="0" rIns="0" bIns="0" rtlCol="0" anchor="ctr"/>
          <a:lstStyle/>
          <a:p>
            <a:pPr indent="0" marL="0">
              <a:buNone/>
            </a:pPr>
            <a:r>
              <a:rPr lang="en-US" sz="800" dirty="0">
                <a:solidFill>
                  <a:srgbClr val="6B7280"/>
                </a:solidFill>
                <a:latin typeface="Courier New" pitchFamily="34" charset="0"/>
                <a:ea typeface="Courier New" pitchFamily="34" charset="-122"/>
                <a:cs typeface="Courier New" pitchFamily="34" charset="-120"/>
              </a:rPr>
              <a:t>arXiv:2405.14371</a:t>
            </a:r>
            <a:endParaRPr lang="en-US" sz="800" dirty="0"/>
          </a:p>
        </p:txBody>
      </p:sp>
      <p:sp>
        <p:nvSpPr>
          <p:cNvPr id="8" name="Text 6"/>
          <p:cNvSpPr/>
          <p:nvPr/>
        </p:nvSpPr>
        <p:spPr>
          <a:xfrm>
            <a:off x="3236976" y="1563624"/>
            <a:ext cx="4224528" cy="676656"/>
          </a:xfrm>
          <a:prstGeom prst="rect">
            <a:avLst/>
          </a:prstGeom>
          <a:noFill/>
          <a:ln/>
        </p:spPr>
        <p:txBody>
          <a:bodyPr wrap="square" lIns="0" tIns="0" rIns="0" bIns="0" rtlCol="0" anchor="ctr"/>
          <a:lstStyle/>
          <a:p>
            <a:pPr indent="0" marL="0">
              <a:lnSpc>
                <a:spcPts val="1300"/>
              </a:lnSpc>
              <a:buNone/>
            </a:pPr>
            <a:r>
              <a:rPr lang="en-US" sz="1000" dirty="0">
                <a:solidFill>
                  <a:srgbClr val="3E4658"/>
                </a:solidFill>
                <a:latin typeface="Calibri" pitchFamily="34" charset="0"/>
                <a:ea typeface="Calibri" pitchFamily="34" charset="-122"/>
                <a:cs typeface="Calibri" pitchFamily="34" charset="-120"/>
              </a:rPr>
              <a:t>Picks which devices to use and where to cut, with an exact solver. Up to 50% less delay and 2x more work done, tested on 15 real devices.</a:t>
            </a:r>
            <a:endParaRPr lang="en-US" sz="1000" dirty="0"/>
          </a:p>
        </p:txBody>
      </p:sp>
      <p:sp>
        <p:nvSpPr>
          <p:cNvPr id="9" name="Shape 7"/>
          <p:cNvSpPr/>
          <p:nvPr/>
        </p:nvSpPr>
        <p:spPr>
          <a:xfrm>
            <a:off x="7626096" y="1828800"/>
            <a:ext cx="118872" cy="118872"/>
          </a:xfrm>
          <a:prstGeom prst="ellipse">
            <a:avLst/>
          </a:prstGeom>
          <a:solidFill>
            <a:srgbClr val="E07B39"/>
          </a:solidFill>
          <a:ln w="12700">
            <a:solidFill>
              <a:srgbClr val="333333"/>
            </a:solidFill>
            <a:prstDash val="solid"/>
          </a:ln>
        </p:spPr>
      </p:sp>
      <p:sp>
        <p:nvSpPr>
          <p:cNvPr id="10" name="Text 8"/>
          <p:cNvSpPr/>
          <p:nvPr/>
        </p:nvSpPr>
        <p:spPr>
          <a:xfrm>
            <a:off x="7845552" y="1563624"/>
            <a:ext cx="3200400" cy="676656"/>
          </a:xfrm>
          <a:prstGeom prst="rect">
            <a:avLst/>
          </a:prstGeom>
          <a:noFill/>
          <a:ln/>
        </p:spPr>
        <p:txBody>
          <a:bodyPr wrap="square" lIns="0" tIns="0" rIns="0" bIns="0" rtlCol="0" anchor="ctr"/>
          <a:lstStyle/>
          <a:p>
            <a:pPr indent="0" marL="0">
              <a:lnSpc>
                <a:spcPts val="1200"/>
              </a:lnSpc>
              <a:buNone/>
            </a:pPr>
            <a:r>
              <a:rPr lang="en-US" sz="950" i="1" dirty="0">
                <a:solidFill>
                  <a:srgbClr val="6B4A2E"/>
                </a:solidFill>
                <a:latin typeface="Calibri" pitchFamily="34" charset="0"/>
                <a:ea typeface="Calibri" pitchFamily="34" charset="-122"/>
                <a:cs typeface="Calibri" pitchFamily="34" charset="-120"/>
              </a:rPr>
              <a:t>Measures the devices once, before running. The plan never changes after that.</a:t>
            </a:r>
            <a:endParaRPr lang="en-US" sz="950" dirty="0"/>
          </a:p>
        </p:txBody>
      </p:sp>
      <p:sp>
        <p:nvSpPr>
          <p:cNvPr id="11" name="Shape 9"/>
          <p:cNvSpPr/>
          <p:nvPr/>
        </p:nvSpPr>
        <p:spPr>
          <a:xfrm>
            <a:off x="566928" y="2414016"/>
            <a:ext cx="11055096" cy="877824"/>
          </a:xfrm>
          <a:prstGeom prst="roundRect">
            <a:avLst>
              <a:gd name="adj" fmla="val 7292"/>
            </a:avLst>
          </a:prstGeom>
          <a:solidFill>
            <a:srgbClr val="F7F8FA"/>
          </a:solidFill>
          <a:ln w="12700">
            <a:solidFill>
              <a:srgbClr val="FFFFFF"/>
            </a:solidFill>
            <a:prstDash val="solid"/>
          </a:ln>
          <a:effectLst>
            <a:outerShdw sx="100000" sy="100000" kx="0" ky="0" algn="bl" rotWithShape="0" blurRad="127000" dist="25400" dir="5400000">
              <a:srgbClr val="9AA3B2">
                <a:alpha val="28000"/>
              </a:srgbClr>
            </a:outerShdw>
          </a:effectLst>
        </p:spPr>
      </p:sp>
      <p:sp>
        <p:nvSpPr>
          <p:cNvPr id="12" name="Text 10"/>
          <p:cNvSpPr/>
          <p:nvPr/>
        </p:nvSpPr>
        <p:spPr>
          <a:xfrm>
            <a:off x="804672" y="2542032"/>
            <a:ext cx="2286000" cy="274320"/>
          </a:xfrm>
          <a:prstGeom prst="rect">
            <a:avLst/>
          </a:prstGeom>
          <a:noFill/>
          <a:ln/>
        </p:spPr>
        <p:txBody>
          <a:bodyPr wrap="square" lIns="0" tIns="0" rIns="0" bIns="0" rtlCol="0" anchor="ctr"/>
          <a:lstStyle/>
          <a:p>
            <a:pPr indent="0" marL="0">
              <a:buNone/>
            </a:pPr>
            <a:r>
              <a:rPr lang="en-US" sz="1300" b="1" dirty="0">
                <a:solidFill>
                  <a:srgbClr val="141821"/>
                </a:solidFill>
                <a:latin typeface="Calibri" pitchFamily="34" charset="0"/>
                <a:ea typeface="Calibri" pitchFamily="34" charset="-122"/>
                <a:cs typeface="Calibri" pitchFamily="34" charset="-120"/>
              </a:rPr>
              <a:t>Galaxy</a:t>
            </a:r>
            <a:endParaRPr lang="en-US" sz="1300" dirty="0"/>
          </a:p>
        </p:txBody>
      </p:sp>
      <p:sp>
        <p:nvSpPr>
          <p:cNvPr id="13" name="Text 11"/>
          <p:cNvSpPr/>
          <p:nvPr/>
        </p:nvSpPr>
        <p:spPr>
          <a:xfrm>
            <a:off x="804672" y="2825496"/>
            <a:ext cx="2286000" cy="219456"/>
          </a:xfrm>
          <a:prstGeom prst="rect">
            <a:avLst/>
          </a:prstGeom>
          <a:noFill/>
          <a:ln/>
        </p:spPr>
        <p:txBody>
          <a:bodyPr wrap="square" lIns="0" tIns="0" rIns="0" bIns="0" rtlCol="0" anchor="ctr"/>
          <a:lstStyle/>
          <a:p>
            <a:pPr indent="0" marL="0">
              <a:buNone/>
            </a:pPr>
            <a:r>
              <a:rPr lang="en-US" sz="950" b="1" dirty="0">
                <a:solidFill>
                  <a:srgbClr val="1F8A80"/>
                </a:solidFill>
                <a:latin typeface="Calibri" pitchFamily="34" charset="0"/>
                <a:ea typeface="Calibri" pitchFamily="34" charset="-122"/>
                <a:cs typeface="Calibri" pitchFamily="34" charset="-120"/>
              </a:rPr>
              <a:t>IEEE INFOCOM, 2024</a:t>
            </a:r>
            <a:endParaRPr lang="en-US" sz="950" dirty="0"/>
          </a:p>
        </p:txBody>
      </p:sp>
      <p:sp>
        <p:nvSpPr>
          <p:cNvPr id="14" name="Text 12"/>
          <p:cNvSpPr/>
          <p:nvPr/>
        </p:nvSpPr>
        <p:spPr>
          <a:xfrm>
            <a:off x="804672" y="3017520"/>
            <a:ext cx="2286000" cy="219456"/>
          </a:xfrm>
          <a:prstGeom prst="rect">
            <a:avLst/>
          </a:prstGeom>
          <a:noFill/>
          <a:ln/>
        </p:spPr>
        <p:txBody>
          <a:bodyPr wrap="square" lIns="0" tIns="0" rIns="0" bIns="0" rtlCol="0" anchor="ctr"/>
          <a:lstStyle/>
          <a:p>
            <a:pPr indent="0" marL="0">
              <a:buNone/>
            </a:pPr>
            <a:r>
              <a:rPr lang="en-US" sz="800" dirty="0">
                <a:solidFill>
                  <a:srgbClr val="6B7280"/>
                </a:solidFill>
                <a:latin typeface="Courier New" pitchFamily="34" charset="0"/>
                <a:ea typeface="Courier New" pitchFamily="34" charset="-122"/>
                <a:cs typeface="Courier New" pitchFamily="34" charset="-120"/>
              </a:rPr>
              <a:t>arXiv:2405.17245</a:t>
            </a:r>
            <a:endParaRPr lang="en-US" sz="800" dirty="0"/>
          </a:p>
        </p:txBody>
      </p:sp>
      <p:sp>
        <p:nvSpPr>
          <p:cNvPr id="15" name="Text 13"/>
          <p:cNvSpPr/>
          <p:nvPr/>
        </p:nvSpPr>
        <p:spPr>
          <a:xfrm>
            <a:off x="3236976" y="2532888"/>
            <a:ext cx="4224528" cy="676656"/>
          </a:xfrm>
          <a:prstGeom prst="rect">
            <a:avLst/>
          </a:prstGeom>
          <a:noFill/>
          <a:ln/>
        </p:spPr>
        <p:txBody>
          <a:bodyPr wrap="square" lIns="0" tIns="0" rIns="0" bIns="0" rtlCol="0" anchor="ctr"/>
          <a:lstStyle/>
          <a:p>
            <a:pPr indent="0" marL="0">
              <a:lnSpc>
                <a:spcPts val="1300"/>
              </a:lnSpc>
              <a:buNone/>
            </a:pPr>
            <a:r>
              <a:rPr lang="en-US" sz="1000" dirty="0">
                <a:solidFill>
                  <a:srgbClr val="3E4658"/>
                </a:solidFill>
                <a:latin typeface="Calibri" pitchFamily="34" charset="0"/>
                <a:ea typeface="Calibri" pitchFamily="34" charset="-122"/>
                <a:cs typeface="Calibri" pitchFamily="34" charset="-120"/>
              </a:rPr>
              <a:t>Splits the work inside each layer instead of by layer, and overlaps computing with sending. Up to 2.5x less delay.</a:t>
            </a:r>
            <a:endParaRPr lang="en-US" sz="1000" dirty="0"/>
          </a:p>
        </p:txBody>
      </p:sp>
      <p:sp>
        <p:nvSpPr>
          <p:cNvPr id="16" name="Shape 14"/>
          <p:cNvSpPr/>
          <p:nvPr/>
        </p:nvSpPr>
        <p:spPr>
          <a:xfrm>
            <a:off x="7626096" y="2798064"/>
            <a:ext cx="118872" cy="118872"/>
          </a:xfrm>
          <a:prstGeom prst="ellipse">
            <a:avLst/>
          </a:prstGeom>
          <a:solidFill>
            <a:srgbClr val="E07B39"/>
          </a:solidFill>
          <a:ln w="12700">
            <a:solidFill>
              <a:srgbClr val="333333"/>
            </a:solidFill>
            <a:prstDash val="solid"/>
          </a:ln>
        </p:spPr>
      </p:sp>
      <p:sp>
        <p:nvSpPr>
          <p:cNvPr id="17" name="Text 15"/>
          <p:cNvSpPr/>
          <p:nvPr/>
        </p:nvSpPr>
        <p:spPr>
          <a:xfrm>
            <a:off x="7845552" y="2532888"/>
            <a:ext cx="3200400" cy="676656"/>
          </a:xfrm>
          <a:prstGeom prst="rect">
            <a:avLst/>
          </a:prstGeom>
          <a:noFill/>
          <a:ln/>
        </p:spPr>
        <p:txBody>
          <a:bodyPr wrap="square" lIns="0" tIns="0" rIns="0" bIns="0" rtlCol="0" anchor="ctr"/>
          <a:lstStyle/>
          <a:p>
            <a:pPr indent="0" marL="0">
              <a:lnSpc>
                <a:spcPts val="1200"/>
              </a:lnSpc>
              <a:buNone/>
            </a:pPr>
            <a:r>
              <a:rPr lang="en-US" sz="950" i="1" dirty="0">
                <a:solidFill>
                  <a:srgbClr val="6B4A2E"/>
                </a:solidFill>
                <a:latin typeface="Calibri" pitchFamily="34" charset="0"/>
                <a:ea typeface="Calibri" pitchFamily="34" charset="-122"/>
                <a:cs typeface="Calibri" pitchFamily="34" charset="-120"/>
              </a:rPr>
              <a:t>The plan is made once, before running. Nothing is re-planned while it runs.</a:t>
            </a:r>
            <a:endParaRPr lang="en-US" sz="950" dirty="0"/>
          </a:p>
        </p:txBody>
      </p:sp>
      <p:sp>
        <p:nvSpPr>
          <p:cNvPr id="18" name="Shape 16"/>
          <p:cNvSpPr/>
          <p:nvPr/>
        </p:nvSpPr>
        <p:spPr>
          <a:xfrm>
            <a:off x="566928" y="3383280"/>
            <a:ext cx="11055096" cy="877824"/>
          </a:xfrm>
          <a:prstGeom prst="roundRect">
            <a:avLst>
              <a:gd name="adj" fmla="val 7292"/>
            </a:avLst>
          </a:prstGeom>
          <a:solidFill>
            <a:srgbClr val="F1F3F7"/>
          </a:solidFill>
          <a:ln w="12700">
            <a:solidFill>
              <a:srgbClr val="FFFFFF"/>
            </a:solidFill>
            <a:prstDash val="solid"/>
          </a:ln>
          <a:effectLst>
            <a:outerShdw sx="100000" sy="100000" kx="0" ky="0" algn="bl" rotWithShape="0" blurRad="127000" dist="25400" dir="5400000">
              <a:srgbClr val="9AA3B2">
                <a:alpha val="28000"/>
              </a:srgbClr>
            </a:outerShdw>
          </a:effectLst>
        </p:spPr>
      </p:sp>
      <p:sp>
        <p:nvSpPr>
          <p:cNvPr id="19" name="Text 17"/>
          <p:cNvSpPr/>
          <p:nvPr/>
        </p:nvSpPr>
        <p:spPr>
          <a:xfrm>
            <a:off x="804672" y="3511296"/>
            <a:ext cx="2286000" cy="274320"/>
          </a:xfrm>
          <a:prstGeom prst="rect">
            <a:avLst/>
          </a:prstGeom>
          <a:noFill/>
          <a:ln/>
        </p:spPr>
        <p:txBody>
          <a:bodyPr wrap="square" lIns="0" tIns="0" rIns="0" bIns="0" rtlCol="0" anchor="ctr"/>
          <a:lstStyle/>
          <a:p>
            <a:pPr indent="0" marL="0">
              <a:buNone/>
            </a:pPr>
            <a:r>
              <a:rPr lang="en-US" sz="1300" b="1" dirty="0">
                <a:solidFill>
                  <a:srgbClr val="141821"/>
                </a:solidFill>
                <a:latin typeface="Calibri" pitchFamily="34" charset="0"/>
                <a:ea typeface="Calibri" pitchFamily="34" charset="-122"/>
                <a:cs typeface="Calibri" pitchFamily="34" charset="-120"/>
              </a:rPr>
              <a:t>Helix</a:t>
            </a:r>
            <a:endParaRPr lang="en-US" sz="1300" dirty="0"/>
          </a:p>
        </p:txBody>
      </p:sp>
      <p:sp>
        <p:nvSpPr>
          <p:cNvPr id="20" name="Text 18"/>
          <p:cNvSpPr/>
          <p:nvPr/>
        </p:nvSpPr>
        <p:spPr>
          <a:xfrm>
            <a:off x="804672" y="3794760"/>
            <a:ext cx="2286000" cy="219456"/>
          </a:xfrm>
          <a:prstGeom prst="rect">
            <a:avLst/>
          </a:prstGeom>
          <a:noFill/>
          <a:ln/>
        </p:spPr>
        <p:txBody>
          <a:bodyPr wrap="square" lIns="0" tIns="0" rIns="0" bIns="0" rtlCol="0" anchor="ctr"/>
          <a:lstStyle/>
          <a:p>
            <a:pPr indent="0" marL="0">
              <a:buNone/>
            </a:pPr>
            <a:r>
              <a:rPr lang="en-US" sz="950" b="1" dirty="0">
                <a:solidFill>
                  <a:srgbClr val="1F8A80"/>
                </a:solidFill>
                <a:latin typeface="Calibri" pitchFamily="34" charset="0"/>
                <a:ea typeface="Calibri" pitchFamily="34" charset="-122"/>
                <a:cs typeface="Calibri" pitchFamily="34" charset="-120"/>
              </a:rPr>
              <a:t>ACM ASPLOS, 2025</a:t>
            </a:r>
            <a:endParaRPr lang="en-US" sz="950" dirty="0"/>
          </a:p>
        </p:txBody>
      </p:sp>
      <p:sp>
        <p:nvSpPr>
          <p:cNvPr id="21" name="Text 19"/>
          <p:cNvSpPr/>
          <p:nvPr/>
        </p:nvSpPr>
        <p:spPr>
          <a:xfrm>
            <a:off x="804672" y="3986784"/>
            <a:ext cx="2286000" cy="219456"/>
          </a:xfrm>
          <a:prstGeom prst="rect">
            <a:avLst/>
          </a:prstGeom>
          <a:noFill/>
          <a:ln/>
        </p:spPr>
        <p:txBody>
          <a:bodyPr wrap="square" lIns="0" tIns="0" rIns="0" bIns="0" rtlCol="0" anchor="ctr"/>
          <a:lstStyle/>
          <a:p>
            <a:pPr indent="0" marL="0">
              <a:buNone/>
            </a:pPr>
            <a:r>
              <a:rPr lang="en-US" sz="800" dirty="0">
                <a:solidFill>
                  <a:srgbClr val="6B7280"/>
                </a:solidFill>
                <a:latin typeface="Courier New" pitchFamily="34" charset="0"/>
                <a:ea typeface="Courier New" pitchFamily="34" charset="-122"/>
                <a:cs typeface="Courier New" pitchFamily="34" charset="-120"/>
              </a:rPr>
              <a:t>arXiv:2406.01566</a:t>
            </a:r>
            <a:endParaRPr lang="en-US" sz="800" dirty="0"/>
          </a:p>
        </p:txBody>
      </p:sp>
      <p:sp>
        <p:nvSpPr>
          <p:cNvPr id="22" name="Text 20"/>
          <p:cNvSpPr/>
          <p:nvPr/>
        </p:nvSpPr>
        <p:spPr>
          <a:xfrm>
            <a:off x="3236976" y="3502152"/>
            <a:ext cx="4224528" cy="676656"/>
          </a:xfrm>
          <a:prstGeom prst="rect">
            <a:avLst/>
          </a:prstGeom>
          <a:noFill/>
          <a:ln/>
        </p:spPr>
        <p:txBody>
          <a:bodyPr wrap="square" lIns="0" tIns="0" rIns="0" bIns="0" rtlCol="0" anchor="ctr"/>
          <a:lstStyle/>
          <a:p>
            <a:pPr indent="0" marL="0">
              <a:lnSpc>
                <a:spcPts val="1300"/>
              </a:lnSpc>
              <a:buNone/>
            </a:pPr>
            <a:r>
              <a:rPr lang="en-US" sz="1000" dirty="0">
                <a:solidFill>
                  <a:srgbClr val="3E4658"/>
                </a:solidFill>
                <a:latin typeface="Calibri" pitchFamily="34" charset="0"/>
                <a:ea typeface="Calibri" pitchFamily="34" charset="-122"/>
                <a:cs typeface="Calibri" pitchFamily="34" charset="-120"/>
              </a:rPr>
              <a:t>Treats serving on mixed GPUs as a flow problem, and chooses placement and routing together. Up to 3.3x more work done on 24-42 machines.</a:t>
            </a:r>
            <a:endParaRPr lang="en-US" sz="1000" dirty="0"/>
          </a:p>
        </p:txBody>
      </p:sp>
      <p:sp>
        <p:nvSpPr>
          <p:cNvPr id="23" name="Shape 21"/>
          <p:cNvSpPr/>
          <p:nvPr/>
        </p:nvSpPr>
        <p:spPr>
          <a:xfrm>
            <a:off x="7626096" y="3767328"/>
            <a:ext cx="118872" cy="118872"/>
          </a:xfrm>
          <a:prstGeom prst="ellipse">
            <a:avLst/>
          </a:prstGeom>
          <a:solidFill>
            <a:srgbClr val="E07B39"/>
          </a:solidFill>
          <a:ln w="12700">
            <a:solidFill>
              <a:srgbClr val="333333"/>
            </a:solidFill>
            <a:prstDash val="solid"/>
          </a:ln>
        </p:spPr>
      </p:sp>
      <p:sp>
        <p:nvSpPr>
          <p:cNvPr id="24" name="Text 22"/>
          <p:cNvSpPr/>
          <p:nvPr/>
        </p:nvSpPr>
        <p:spPr>
          <a:xfrm>
            <a:off x="7845552" y="3502152"/>
            <a:ext cx="3200400" cy="676656"/>
          </a:xfrm>
          <a:prstGeom prst="rect">
            <a:avLst/>
          </a:prstGeom>
          <a:noFill/>
          <a:ln/>
        </p:spPr>
        <p:txBody>
          <a:bodyPr wrap="square" lIns="0" tIns="0" rIns="0" bIns="0" rtlCol="0" anchor="ctr"/>
          <a:lstStyle/>
          <a:p>
            <a:pPr indent="0" marL="0">
              <a:lnSpc>
                <a:spcPts val="1200"/>
              </a:lnSpc>
              <a:buNone/>
            </a:pPr>
            <a:r>
              <a:rPr lang="en-US" sz="950" i="1" dirty="0">
                <a:solidFill>
                  <a:srgbClr val="6B4A2E"/>
                </a:solidFill>
                <a:latin typeface="Calibri" pitchFamily="34" charset="0"/>
                <a:ea typeface="Calibri" pitchFamily="34" charset="-122"/>
                <a:cs typeface="Calibri" pitchFamily="34" charset="-120"/>
              </a:rPr>
              <a:t>Built for data centre GPUs. Its solver is far too slow to re-run every few seconds.</a:t>
            </a:r>
            <a:endParaRPr lang="en-US" sz="950" dirty="0"/>
          </a:p>
        </p:txBody>
      </p:sp>
      <p:sp>
        <p:nvSpPr>
          <p:cNvPr id="25" name="Shape 23"/>
          <p:cNvSpPr/>
          <p:nvPr/>
        </p:nvSpPr>
        <p:spPr>
          <a:xfrm>
            <a:off x="566928" y="4352544"/>
            <a:ext cx="11055096" cy="877824"/>
          </a:xfrm>
          <a:prstGeom prst="roundRect">
            <a:avLst>
              <a:gd name="adj" fmla="val 7292"/>
            </a:avLst>
          </a:prstGeom>
          <a:solidFill>
            <a:srgbClr val="F7F8FA"/>
          </a:solidFill>
          <a:ln w="12700">
            <a:solidFill>
              <a:srgbClr val="FFFFFF"/>
            </a:solidFill>
            <a:prstDash val="solid"/>
          </a:ln>
          <a:effectLst>
            <a:outerShdw sx="100000" sy="100000" kx="0" ky="0" algn="bl" rotWithShape="0" blurRad="127000" dist="25400" dir="5400000">
              <a:srgbClr val="9AA3B2">
                <a:alpha val="28000"/>
              </a:srgbClr>
            </a:outerShdw>
          </a:effectLst>
        </p:spPr>
      </p:sp>
      <p:sp>
        <p:nvSpPr>
          <p:cNvPr id="26" name="Text 24"/>
          <p:cNvSpPr/>
          <p:nvPr/>
        </p:nvSpPr>
        <p:spPr>
          <a:xfrm>
            <a:off x="804672" y="4480560"/>
            <a:ext cx="2286000" cy="274320"/>
          </a:xfrm>
          <a:prstGeom prst="rect">
            <a:avLst/>
          </a:prstGeom>
          <a:noFill/>
          <a:ln/>
        </p:spPr>
        <p:txBody>
          <a:bodyPr wrap="square" lIns="0" tIns="0" rIns="0" bIns="0" rtlCol="0" anchor="ctr"/>
          <a:lstStyle/>
          <a:p>
            <a:pPr indent="0" marL="0">
              <a:buNone/>
            </a:pPr>
            <a:r>
              <a:rPr lang="en-US" sz="1300" b="1" dirty="0">
                <a:solidFill>
                  <a:srgbClr val="141821"/>
                </a:solidFill>
                <a:latin typeface="Calibri" pitchFamily="34" charset="0"/>
                <a:ea typeface="Calibri" pitchFamily="34" charset="-122"/>
                <a:cs typeface="Calibri" pitchFamily="34" charset="-120"/>
              </a:rPr>
              <a:t>TPI-LLM</a:t>
            </a:r>
            <a:endParaRPr lang="en-US" sz="1300" dirty="0"/>
          </a:p>
        </p:txBody>
      </p:sp>
      <p:sp>
        <p:nvSpPr>
          <p:cNvPr id="27" name="Text 25"/>
          <p:cNvSpPr/>
          <p:nvPr/>
        </p:nvSpPr>
        <p:spPr>
          <a:xfrm>
            <a:off x="804672" y="4764024"/>
            <a:ext cx="2286000" cy="219456"/>
          </a:xfrm>
          <a:prstGeom prst="rect">
            <a:avLst/>
          </a:prstGeom>
          <a:noFill/>
          <a:ln/>
        </p:spPr>
        <p:txBody>
          <a:bodyPr wrap="square" lIns="0" tIns="0" rIns="0" bIns="0" rtlCol="0" anchor="ctr"/>
          <a:lstStyle/>
          <a:p>
            <a:pPr indent="0" marL="0">
              <a:buNone/>
            </a:pPr>
            <a:r>
              <a:rPr lang="en-US" sz="950" b="1" dirty="0">
                <a:solidFill>
                  <a:srgbClr val="1F8A80"/>
                </a:solidFill>
                <a:latin typeface="Calibri" pitchFamily="34" charset="0"/>
                <a:ea typeface="Calibri" pitchFamily="34" charset="-122"/>
                <a:cs typeface="Calibri" pitchFamily="34" charset="-120"/>
              </a:rPr>
              <a:t>arXiv, 2024</a:t>
            </a:r>
            <a:endParaRPr lang="en-US" sz="950" dirty="0"/>
          </a:p>
        </p:txBody>
      </p:sp>
      <p:sp>
        <p:nvSpPr>
          <p:cNvPr id="28" name="Text 26"/>
          <p:cNvSpPr/>
          <p:nvPr/>
        </p:nvSpPr>
        <p:spPr>
          <a:xfrm>
            <a:off x="804672" y="4956048"/>
            <a:ext cx="2286000" cy="219456"/>
          </a:xfrm>
          <a:prstGeom prst="rect">
            <a:avLst/>
          </a:prstGeom>
          <a:noFill/>
          <a:ln/>
        </p:spPr>
        <p:txBody>
          <a:bodyPr wrap="square" lIns="0" tIns="0" rIns="0" bIns="0" rtlCol="0" anchor="ctr"/>
          <a:lstStyle/>
          <a:p>
            <a:pPr indent="0" marL="0">
              <a:buNone/>
            </a:pPr>
            <a:r>
              <a:rPr lang="en-US" sz="800" dirty="0">
                <a:solidFill>
                  <a:srgbClr val="6B7280"/>
                </a:solidFill>
                <a:latin typeface="Courier New" pitchFamily="34" charset="0"/>
                <a:ea typeface="Courier New" pitchFamily="34" charset="-122"/>
                <a:cs typeface="Courier New" pitchFamily="34" charset="-120"/>
              </a:rPr>
              <a:t>arXiv:2410.00531</a:t>
            </a:r>
            <a:endParaRPr lang="en-US" sz="800" dirty="0"/>
          </a:p>
        </p:txBody>
      </p:sp>
      <p:sp>
        <p:nvSpPr>
          <p:cNvPr id="29" name="Text 27"/>
          <p:cNvSpPr/>
          <p:nvPr/>
        </p:nvSpPr>
        <p:spPr>
          <a:xfrm>
            <a:off x="3236976" y="4471416"/>
            <a:ext cx="4224528" cy="676656"/>
          </a:xfrm>
          <a:prstGeom prst="rect">
            <a:avLst/>
          </a:prstGeom>
          <a:noFill/>
          <a:ln/>
        </p:spPr>
        <p:txBody>
          <a:bodyPr wrap="square" lIns="0" tIns="0" rIns="0" bIns="0" rtlCol="0" anchor="ctr"/>
          <a:lstStyle/>
          <a:p>
            <a:pPr indent="0" marL="0">
              <a:lnSpc>
                <a:spcPts val="1300"/>
              </a:lnSpc>
              <a:buNone/>
            </a:pPr>
            <a:r>
              <a:rPr lang="en-US" sz="1000" dirty="0">
                <a:solidFill>
                  <a:srgbClr val="3E4658"/>
                </a:solidFill>
                <a:latin typeface="Calibri" pitchFamily="34" charset="0"/>
                <a:ea typeface="Calibri" pitchFamily="34" charset="-122"/>
                <a:cs typeface="Calibri" pitchFamily="34" charset="-120"/>
              </a:rPr>
              <a:t>Argues that splitting inside layers beats splitting by layer on small devices. Clever memory handling lets 70B models run in small RAM.</a:t>
            </a:r>
            <a:endParaRPr lang="en-US" sz="1000" dirty="0"/>
          </a:p>
        </p:txBody>
      </p:sp>
      <p:sp>
        <p:nvSpPr>
          <p:cNvPr id="30" name="Shape 28"/>
          <p:cNvSpPr/>
          <p:nvPr/>
        </p:nvSpPr>
        <p:spPr>
          <a:xfrm>
            <a:off x="7626096" y="4736592"/>
            <a:ext cx="118872" cy="118872"/>
          </a:xfrm>
          <a:prstGeom prst="ellipse">
            <a:avLst/>
          </a:prstGeom>
          <a:solidFill>
            <a:srgbClr val="E07B39"/>
          </a:solidFill>
          <a:ln w="12700">
            <a:solidFill>
              <a:srgbClr val="333333"/>
            </a:solidFill>
            <a:prstDash val="solid"/>
          </a:ln>
        </p:spPr>
      </p:sp>
      <p:sp>
        <p:nvSpPr>
          <p:cNvPr id="31" name="Text 29"/>
          <p:cNvSpPr/>
          <p:nvPr/>
        </p:nvSpPr>
        <p:spPr>
          <a:xfrm>
            <a:off x="7845552" y="4471416"/>
            <a:ext cx="3200400" cy="676656"/>
          </a:xfrm>
          <a:prstGeom prst="rect">
            <a:avLst/>
          </a:prstGeom>
          <a:noFill/>
          <a:ln/>
        </p:spPr>
        <p:txBody>
          <a:bodyPr wrap="square" lIns="0" tIns="0" rIns="0" bIns="0" rtlCol="0" anchor="ctr"/>
          <a:lstStyle/>
          <a:p>
            <a:pPr indent="0" marL="0">
              <a:lnSpc>
                <a:spcPts val="1200"/>
              </a:lnSpc>
              <a:buNone/>
            </a:pPr>
            <a:r>
              <a:rPr lang="en-US" sz="950" i="1" dirty="0">
                <a:solidFill>
                  <a:srgbClr val="6B4A2E"/>
                </a:solidFill>
                <a:latin typeface="Calibri" pitchFamily="34" charset="0"/>
                <a:ea typeface="Calibri" pitchFamily="34" charset="-122"/>
                <a:cs typeface="Calibri" pitchFamily="34" charset="-120"/>
              </a:rPr>
              <a:t>Improves memory use, but does not react when a machine slows down.</a:t>
            </a:r>
            <a:endParaRPr lang="en-US" sz="950" dirty="0"/>
          </a:p>
        </p:txBody>
      </p:sp>
      <p:sp>
        <p:nvSpPr>
          <p:cNvPr id="32" name="Shape 30"/>
          <p:cNvSpPr/>
          <p:nvPr/>
        </p:nvSpPr>
        <p:spPr>
          <a:xfrm>
            <a:off x="566928" y="5321808"/>
            <a:ext cx="11055096" cy="877824"/>
          </a:xfrm>
          <a:prstGeom prst="roundRect">
            <a:avLst>
              <a:gd name="adj" fmla="val 7292"/>
            </a:avLst>
          </a:prstGeom>
          <a:solidFill>
            <a:srgbClr val="F1F3F7"/>
          </a:solidFill>
          <a:ln w="12700">
            <a:solidFill>
              <a:srgbClr val="FFFFFF"/>
            </a:solidFill>
            <a:prstDash val="solid"/>
          </a:ln>
          <a:effectLst>
            <a:outerShdw sx="100000" sy="100000" kx="0" ky="0" algn="bl" rotWithShape="0" blurRad="127000" dist="25400" dir="5400000">
              <a:srgbClr val="9AA3B2">
                <a:alpha val="28000"/>
              </a:srgbClr>
            </a:outerShdw>
          </a:effectLst>
        </p:spPr>
      </p:sp>
      <p:sp>
        <p:nvSpPr>
          <p:cNvPr id="33" name="Text 31"/>
          <p:cNvSpPr/>
          <p:nvPr/>
        </p:nvSpPr>
        <p:spPr>
          <a:xfrm>
            <a:off x="804672" y="5449824"/>
            <a:ext cx="2286000" cy="274320"/>
          </a:xfrm>
          <a:prstGeom prst="rect">
            <a:avLst/>
          </a:prstGeom>
          <a:noFill/>
          <a:ln/>
        </p:spPr>
        <p:txBody>
          <a:bodyPr wrap="square" lIns="0" tIns="0" rIns="0" bIns="0" rtlCol="0" anchor="ctr"/>
          <a:lstStyle/>
          <a:p>
            <a:pPr indent="0" marL="0">
              <a:buNone/>
            </a:pPr>
            <a:r>
              <a:rPr lang="en-US" sz="1300" b="1" dirty="0">
                <a:solidFill>
                  <a:srgbClr val="141821"/>
                </a:solidFill>
                <a:latin typeface="Calibri" pitchFamily="34" charset="0"/>
                <a:ea typeface="Calibri" pitchFamily="34" charset="-122"/>
                <a:cs typeface="Calibri" pitchFamily="34" charset="-120"/>
              </a:rPr>
              <a:t>prima.cpp</a:t>
            </a:r>
            <a:endParaRPr lang="en-US" sz="1300" dirty="0"/>
          </a:p>
        </p:txBody>
      </p:sp>
      <p:sp>
        <p:nvSpPr>
          <p:cNvPr id="34" name="Text 32"/>
          <p:cNvSpPr/>
          <p:nvPr/>
        </p:nvSpPr>
        <p:spPr>
          <a:xfrm>
            <a:off x="804672" y="5733288"/>
            <a:ext cx="2286000" cy="219456"/>
          </a:xfrm>
          <a:prstGeom prst="rect">
            <a:avLst/>
          </a:prstGeom>
          <a:noFill/>
          <a:ln/>
        </p:spPr>
        <p:txBody>
          <a:bodyPr wrap="square" lIns="0" tIns="0" rIns="0" bIns="0" rtlCol="0" anchor="ctr"/>
          <a:lstStyle/>
          <a:p>
            <a:pPr indent="0" marL="0">
              <a:buNone/>
            </a:pPr>
            <a:r>
              <a:rPr lang="en-US" sz="950" b="1" dirty="0">
                <a:solidFill>
                  <a:srgbClr val="1F8A80"/>
                </a:solidFill>
                <a:latin typeface="Calibri" pitchFamily="34" charset="0"/>
                <a:ea typeface="Calibri" pitchFamily="34" charset="-122"/>
                <a:cs typeface="Calibri" pitchFamily="34" charset="-120"/>
              </a:rPr>
              <a:t>arXiv, 2025</a:t>
            </a:r>
            <a:endParaRPr lang="en-US" sz="950" dirty="0"/>
          </a:p>
        </p:txBody>
      </p:sp>
      <p:sp>
        <p:nvSpPr>
          <p:cNvPr id="35" name="Text 33"/>
          <p:cNvSpPr/>
          <p:nvPr/>
        </p:nvSpPr>
        <p:spPr>
          <a:xfrm>
            <a:off x="804672" y="5925312"/>
            <a:ext cx="2286000" cy="219456"/>
          </a:xfrm>
          <a:prstGeom prst="rect">
            <a:avLst/>
          </a:prstGeom>
          <a:noFill/>
          <a:ln/>
        </p:spPr>
        <p:txBody>
          <a:bodyPr wrap="square" lIns="0" tIns="0" rIns="0" bIns="0" rtlCol="0" anchor="ctr"/>
          <a:lstStyle/>
          <a:p>
            <a:pPr indent="0" marL="0">
              <a:buNone/>
            </a:pPr>
            <a:r>
              <a:rPr lang="en-US" sz="800" dirty="0">
                <a:solidFill>
                  <a:srgbClr val="6B7280"/>
                </a:solidFill>
                <a:latin typeface="Courier New" pitchFamily="34" charset="0"/>
                <a:ea typeface="Courier New" pitchFamily="34" charset="-122"/>
                <a:cs typeface="Courier New" pitchFamily="34" charset="-120"/>
              </a:rPr>
              <a:t>arXiv:2504.08791</a:t>
            </a:r>
            <a:endParaRPr lang="en-US" sz="800" dirty="0"/>
          </a:p>
        </p:txBody>
      </p:sp>
      <p:sp>
        <p:nvSpPr>
          <p:cNvPr id="36" name="Text 34"/>
          <p:cNvSpPr/>
          <p:nvPr/>
        </p:nvSpPr>
        <p:spPr>
          <a:xfrm>
            <a:off x="3236976" y="5440680"/>
            <a:ext cx="4224528" cy="676656"/>
          </a:xfrm>
          <a:prstGeom prst="rect">
            <a:avLst/>
          </a:prstGeom>
          <a:noFill/>
          <a:ln/>
        </p:spPr>
        <p:txBody>
          <a:bodyPr wrap="square" lIns="0" tIns="0" rIns="0" bIns="0" rtlCol="0" anchor="ctr"/>
          <a:lstStyle/>
          <a:p>
            <a:pPr indent="0" marL="0">
              <a:lnSpc>
                <a:spcPts val="1300"/>
              </a:lnSpc>
              <a:buNone/>
            </a:pPr>
            <a:r>
              <a:rPr lang="en-US" sz="1000" dirty="0">
                <a:solidFill>
                  <a:srgbClr val="3E4658"/>
                </a:solidFill>
                <a:latin typeface="Calibri" pitchFamily="34" charset="0"/>
                <a:ea typeface="Calibri" pitchFamily="34" charset="-122"/>
                <a:cs typeface="Calibri" pitchFamily="34" charset="-120"/>
              </a:rPr>
              <a:t>Runs 30-70B models on real home machines. Shares work between CPU and GPU and hides slow disk reads. 5-17x faster per token than llama.cpp.</a:t>
            </a:r>
            <a:endParaRPr lang="en-US" sz="1000" dirty="0"/>
          </a:p>
        </p:txBody>
      </p:sp>
      <p:sp>
        <p:nvSpPr>
          <p:cNvPr id="37" name="Shape 35"/>
          <p:cNvSpPr/>
          <p:nvPr/>
        </p:nvSpPr>
        <p:spPr>
          <a:xfrm>
            <a:off x="7626096" y="5705856"/>
            <a:ext cx="118872" cy="118872"/>
          </a:xfrm>
          <a:prstGeom prst="ellipse">
            <a:avLst/>
          </a:prstGeom>
          <a:solidFill>
            <a:srgbClr val="E07B39"/>
          </a:solidFill>
          <a:ln w="12700">
            <a:solidFill>
              <a:srgbClr val="333333"/>
            </a:solidFill>
            <a:prstDash val="solid"/>
          </a:ln>
        </p:spPr>
      </p:sp>
      <p:sp>
        <p:nvSpPr>
          <p:cNvPr id="38" name="Text 36"/>
          <p:cNvSpPr/>
          <p:nvPr/>
        </p:nvSpPr>
        <p:spPr>
          <a:xfrm>
            <a:off x="7845552" y="5440680"/>
            <a:ext cx="3200400" cy="676656"/>
          </a:xfrm>
          <a:prstGeom prst="rect">
            <a:avLst/>
          </a:prstGeom>
          <a:noFill/>
          <a:ln/>
        </p:spPr>
        <p:txBody>
          <a:bodyPr wrap="square" lIns="0" tIns="0" rIns="0" bIns="0" rtlCol="0" anchor="ctr"/>
          <a:lstStyle/>
          <a:p>
            <a:pPr indent="0" marL="0">
              <a:lnSpc>
                <a:spcPts val="1200"/>
              </a:lnSpc>
              <a:buNone/>
            </a:pPr>
            <a:r>
              <a:rPr lang="en-US" sz="950" i="1" dirty="0">
                <a:solidFill>
                  <a:srgbClr val="6B4A2E"/>
                </a:solidFill>
                <a:latin typeface="Calibri" pitchFamily="34" charset="0"/>
                <a:ea typeface="Calibri" pitchFamily="34" charset="-122"/>
                <a:cs typeface="Calibri" pitchFamily="34" charset="-120"/>
              </a:rPr>
              <a:t>Decides the plan when loading, from fixed device specs.</a:t>
            </a:r>
            <a:endParaRPr lang="en-US" sz="950" dirty="0"/>
          </a:p>
        </p:txBody>
      </p:sp>
      <p:sp>
        <p:nvSpPr>
          <p:cNvPr id="39" name="Text 37"/>
          <p:cNvSpPr/>
          <p:nvPr/>
        </p:nvSpPr>
        <p:spPr>
          <a:xfrm>
            <a:off x="7845552" y="1197864"/>
            <a:ext cx="3200400" cy="219456"/>
          </a:xfrm>
          <a:prstGeom prst="rect">
            <a:avLst/>
          </a:prstGeom>
          <a:noFill/>
          <a:ln/>
        </p:spPr>
        <p:txBody>
          <a:bodyPr wrap="square" lIns="0" tIns="0" rIns="0" bIns="0" rtlCol="0" anchor="ctr"/>
          <a:lstStyle/>
          <a:p>
            <a:pPr indent="0" marL="0">
              <a:buNone/>
            </a:pPr>
            <a:r>
              <a:rPr lang="en-US" sz="900" b="1" spc="120" kern="0" dirty="0">
                <a:solidFill>
                  <a:srgbClr val="E07B39"/>
                </a:solidFill>
                <a:latin typeface="Calibri" pitchFamily="34" charset="0"/>
                <a:ea typeface="Calibri" pitchFamily="34" charset="-122"/>
                <a:cs typeface="Calibri" pitchFamily="34" charset="-120"/>
              </a:rPr>
              <a:t>What it does not do</a:t>
            </a:r>
            <a:endParaRPr lang="en-US" sz="900" dirty="0"/>
          </a:p>
        </p:txBody>
      </p:sp>
      <p:sp>
        <p:nvSpPr>
          <p:cNvPr id="40" name="Text 38"/>
          <p:cNvSpPr/>
          <p:nvPr/>
        </p:nvSpPr>
        <p:spPr>
          <a:xfrm>
            <a:off x="3236976" y="1197864"/>
            <a:ext cx="2743200" cy="219456"/>
          </a:xfrm>
          <a:prstGeom prst="rect">
            <a:avLst/>
          </a:prstGeom>
          <a:noFill/>
          <a:ln/>
        </p:spPr>
        <p:txBody>
          <a:bodyPr wrap="square" lIns="0" tIns="0" rIns="0" bIns="0" rtlCol="0" anchor="ctr"/>
          <a:lstStyle/>
          <a:p>
            <a:pPr indent="0" marL="0">
              <a:buNone/>
            </a:pPr>
            <a:r>
              <a:rPr lang="en-US" sz="900" b="1" spc="120" kern="0" dirty="0">
                <a:solidFill>
                  <a:srgbClr val="6B7280"/>
                </a:solidFill>
                <a:latin typeface="Calibri" pitchFamily="34" charset="0"/>
                <a:ea typeface="Calibri" pitchFamily="34" charset="-122"/>
                <a:cs typeface="Calibri" pitchFamily="34" charset="-120"/>
              </a:rPr>
              <a:t>Contribution</a:t>
            </a:r>
            <a:endParaRPr lang="en-US" sz="900" dirty="0"/>
          </a:p>
        </p:txBody>
      </p:sp>
      <p:sp>
        <p:nvSpPr>
          <p:cNvPr id="41" name="Text 39"/>
          <p:cNvSpPr/>
          <p:nvPr/>
        </p:nvSpPr>
        <p:spPr>
          <a:xfrm>
            <a:off x="566928" y="6382512"/>
            <a:ext cx="9692640" cy="274320"/>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All ten papers are from 2024-2025. Full list on slide 15.</a:t>
            </a:r>
            <a:endParaRPr lang="en-US" sz="950" dirty="0"/>
          </a:p>
        </p:txBody>
      </p:sp>
      <p:sp>
        <p:nvSpPr>
          <p:cNvPr id="42" name="Text 40"/>
          <p:cNvSpPr/>
          <p:nvPr/>
        </p:nvSpPr>
        <p:spPr>
          <a:xfrm>
            <a:off x="11073384" y="6382512"/>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50" b="1" spc="220" kern="0" dirty="0">
                <a:solidFill>
                  <a:srgbClr val="E07B39"/>
                </a:solidFill>
                <a:latin typeface="Calibri" pitchFamily="34" charset="0"/>
                <a:ea typeface="Calibri" pitchFamily="34" charset="-122"/>
                <a:cs typeface="Calibri" pitchFamily="34" charset="-120"/>
              </a:rPr>
              <a:t>LITERATURE REVIEW (2 OF 2)</a:t>
            </a:r>
            <a:endParaRPr lang="en-US" sz="1150" dirty="0"/>
          </a:p>
        </p:txBody>
      </p:sp>
      <p:sp>
        <p:nvSpPr>
          <p:cNvPr id="3" name="Text 1"/>
          <p:cNvSpPr/>
          <p:nvPr/>
        </p:nvSpPr>
        <p:spPr>
          <a:xfrm>
            <a:off x="566928" y="566928"/>
            <a:ext cx="11055096" cy="658368"/>
          </a:xfrm>
          <a:prstGeom prst="rect">
            <a:avLst/>
          </a:prstGeom>
          <a:noFill/>
          <a:ln/>
        </p:spPr>
        <p:txBody>
          <a:bodyPr wrap="square" lIns="0" tIns="0" rIns="0" bIns="0" rtlCol="0" anchor="ctr"/>
          <a:lstStyle/>
          <a:p>
            <a:pPr indent="0" marL="0">
              <a:buNone/>
            </a:pPr>
            <a:r>
              <a:rPr lang="en-US" sz="3200" b="1" dirty="0">
                <a:solidFill>
                  <a:srgbClr val="141821"/>
                </a:solidFill>
                <a:latin typeface="Cambria" pitchFamily="34" charset="0"/>
                <a:ea typeface="Cambria" pitchFamily="34" charset="-122"/>
                <a:cs typeface="Cambria" pitchFamily="34" charset="-120"/>
              </a:rPr>
              <a:t>Adapting, sharing out, and eBPF as a control tool</a:t>
            </a:r>
            <a:endParaRPr lang="en-US" sz="3200" dirty="0"/>
          </a:p>
        </p:txBody>
      </p:sp>
      <p:sp>
        <p:nvSpPr>
          <p:cNvPr id="4" name="Shape 2"/>
          <p:cNvSpPr/>
          <p:nvPr/>
        </p:nvSpPr>
        <p:spPr>
          <a:xfrm>
            <a:off x="566928" y="1444752"/>
            <a:ext cx="11055096" cy="877824"/>
          </a:xfrm>
          <a:prstGeom prst="roundRect">
            <a:avLst>
              <a:gd name="adj" fmla="val 7292"/>
            </a:avLst>
          </a:prstGeom>
          <a:solidFill>
            <a:srgbClr val="F1F3F7"/>
          </a:solidFill>
          <a:ln w="12700">
            <a:solidFill>
              <a:srgbClr val="FFFFFF"/>
            </a:solidFill>
            <a:prstDash val="solid"/>
          </a:ln>
          <a:effectLst>
            <a:outerShdw sx="100000" sy="100000" kx="0" ky="0" algn="bl" rotWithShape="0" blurRad="127000" dist="25400" dir="5400000">
              <a:srgbClr val="9AA3B2">
                <a:alpha val="28000"/>
              </a:srgbClr>
            </a:outerShdw>
          </a:effectLst>
        </p:spPr>
      </p:sp>
      <p:sp>
        <p:nvSpPr>
          <p:cNvPr id="5" name="Text 3"/>
          <p:cNvSpPr/>
          <p:nvPr/>
        </p:nvSpPr>
        <p:spPr>
          <a:xfrm>
            <a:off x="804672" y="1572768"/>
            <a:ext cx="2286000" cy="274320"/>
          </a:xfrm>
          <a:prstGeom prst="rect">
            <a:avLst/>
          </a:prstGeom>
          <a:noFill/>
          <a:ln/>
        </p:spPr>
        <p:txBody>
          <a:bodyPr wrap="square" lIns="0" tIns="0" rIns="0" bIns="0" rtlCol="0" anchor="ctr"/>
          <a:lstStyle/>
          <a:p>
            <a:pPr indent="0" marL="0">
              <a:buNone/>
            </a:pPr>
            <a:r>
              <a:rPr lang="en-US" sz="1300" b="1" dirty="0">
                <a:solidFill>
                  <a:srgbClr val="141821"/>
                </a:solidFill>
                <a:latin typeface="Calibri" pitchFamily="34" charset="0"/>
                <a:ea typeface="Calibri" pitchFamily="34" charset="-122"/>
                <a:cs typeface="Calibri" pitchFamily="34" charset="-120"/>
              </a:rPr>
              <a:t>LLM Partitioning at the Edge</a:t>
            </a:r>
            <a:endParaRPr lang="en-US" sz="1300" dirty="0"/>
          </a:p>
        </p:txBody>
      </p:sp>
      <p:sp>
        <p:nvSpPr>
          <p:cNvPr id="6" name="Text 4"/>
          <p:cNvSpPr/>
          <p:nvPr/>
        </p:nvSpPr>
        <p:spPr>
          <a:xfrm>
            <a:off x="804672" y="1856232"/>
            <a:ext cx="2286000" cy="219456"/>
          </a:xfrm>
          <a:prstGeom prst="rect">
            <a:avLst/>
          </a:prstGeom>
          <a:noFill/>
          <a:ln/>
        </p:spPr>
        <p:txBody>
          <a:bodyPr wrap="square" lIns="0" tIns="0" rIns="0" bIns="0" rtlCol="0" anchor="ctr"/>
          <a:lstStyle/>
          <a:p>
            <a:pPr indent="0" marL="0">
              <a:buNone/>
            </a:pPr>
            <a:r>
              <a:rPr lang="en-US" sz="950" b="1" dirty="0">
                <a:solidFill>
                  <a:srgbClr val="1F8A80"/>
                </a:solidFill>
                <a:latin typeface="Calibri" pitchFamily="34" charset="0"/>
                <a:ea typeface="Calibri" pitchFamily="34" charset="-122"/>
                <a:cs typeface="Calibri" pitchFamily="34" charset="-120"/>
              </a:rPr>
              <a:t>arXiv, 2025</a:t>
            </a:r>
            <a:endParaRPr lang="en-US" sz="950" dirty="0"/>
          </a:p>
        </p:txBody>
      </p:sp>
      <p:sp>
        <p:nvSpPr>
          <p:cNvPr id="7" name="Text 5"/>
          <p:cNvSpPr/>
          <p:nvPr/>
        </p:nvSpPr>
        <p:spPr>
          <a:xfrm>
            <a:off x="804672" y="2048256"/>
            <a:ext cx="2286000" cy="219456"/>
          </a:xfrm>
          <a:prstGeom prst="rect">
            <a:avLst/>
          </a:prstGeom>
          <a:noFill/>
          <a:ln/>
        </p:spPr>
        <p:txBody>
          <a:bodyPr wrap="square" lIns="0" tIns="0" rIns="0" bIns="0" rtlCol="0" anchor="ctr"/>
          <a:lstStyle/>
          <a:p>
            <a:pPr indent="0" marL="0">
              <a:buNone/>
            </a:pPr>
            <a:r>
              <a:rPr lang="en-US" sz="800" dirty="0">
                <a:solidFill>
                  <a:srgbClr val="6B7280"/>
                </a:solidFill>
                <a:latin typeface="Courier New" pitchFamily="34" charset="0"/>
                <a:ea typeface="Courier New" pitchFamily="34" charset="-122"/>
                <a:cs typeface="Courier New" pitchFamily="34" charset="-120"/>
              </a:rPr>
              <a:t>arXiv:2505.02533</a:t>
            </a:r>
            <a:endParaRPr lang="en-US" sz="800" dirty="0"/>
          </a:p>
        </p:txBody>
      </p:sp>
      <p:sp>
        <p:nvSpPr>
          <p:cNvPr id="8" name="Text 6"/>
          <p:cNvSpPr/>
          <p:nvPr/>
        </p:nvSpPr>
        <p:spPr>
          <a:xfrm>
            <a:off x="3236976" y="1563624"/>
            <a:ext cx="4224528" cy="676656"/>
          </a:xfrm>
          <a:prstGeom prst="rect">
            <a:avLst/>
          </a:prstGeom>
          <a:noFill/>
          <a:ln/>
        </p:spPr>
        <p:txBody>
          <a:bodyPr wrap="square" lIns="0" tIns="0" rIns="0" bIns="0" rtlCol="0" anchor="ctr"/>
          <a:lstStyle/>
          <a:p>
            <a:pPr indent="0" marL="0">
              <a:lnSpc>
                <a:spcPts val="1300"/>
              </a:lnSpc>
              <a:buNone/>
            </a:pPr>
            <a:r>
              <a:rPr lang="en-US" sz="1000" dirty="0">
                <a:solidFill>
                  <a:srgbClr val="3E4658"/>
                </a:solidFill>
                <a:latin typeface="Calibri" pitchFamily="34" charset="0"/>
                <a:ea typeface="Calibri" pitchFamily="34" charset="-122"/>
                <a:cs typeface="Calibri" pitchFamily="34" charset="-120"/>
              </a:rPr>
              <a:t>Cuts the model into much smaller pieces (single attention heads) and moves them when memory runs low. Within 15-20% of the best possible answer.</a:t>
            </a:r>
            <a:endParaRPr lang="en-US" sz="1000" dirty="0"/>
          </a:p>
        </p:txBody>
      </p:sp>
      <p:sp>
        <p:nvSpPr>
          <p:cNvPr id="9" name="Shape 7"/>
          <p:cNvSpPr/>
          <p:nvPr/>
        </p:nvSpPr>
        <p:spPr>
          <a:xfrm>
            <a:off x="7626096" y="1828800"/>
            <a:ext cx="118872" cy="118872"/>
          </a:xfrm>
          <a:prstGeom prst="ellipse">
            <a:avLst/>
          </a:prstGeom>
          <a:solidFill>
            <a:srgbClr val="E07B39"/>
          </a:solidFill>
          <a:ln w="12700">
            <a:solidFill>
              <a:srgbClr val="333333"/>
            </a:solidFill>
            <a:prstDash val="solid"/>
          </a:ln>
        </p:spPr>
      </p:sp>
      <p:sp>
        <p:nvSpPr>
          <p:cNvPr id="10" name="Text 8"/>
          <p:cNvSpPr/>
          <p:nvPr/>
        </p:nvSpPr>
        <p:spPr>
          <a:xfrm>
            <a:off x="7845552" y="1563624"/>
            <a:ext cx="3200400" cy="676656"/>
          </a:xfrm>
          <a:prstGeom prst="rect">
            <a:avLst/>
          </a:prstGeom>
          <a:noFill/>
          <a:ln/>
        </p:spPr>
        <p:txBody>
          <a:bodyPr wrap="square" lIns="0" tIns="0" rIns="0" bIns="0" rtlCol="0" anchor="ctr"/>
          <a:lstStyle/>
          <a:p>
            <a:pPr indent="0" marL="0">
              <a:lnSpc>
                <a:spcPts val="1200"/>
              </a:lnSpc>
              <a:buNone/>
            </a:pPr>
            <a:r>
              <a:rPr lang="en-US" sz="950" i="1" dirty="0">
                <a:solidFill>
                  <a:srgbClr val="6B4A2E"/>
                </a:solidFill>
                <a:latin typeface="Calibri" pitchFamily="34" charset="0"/>
                <a:ea typeface="Calibri" pitchFamily="34" charset="-122"/>
                <a:cs typeface="Calibri" pitchFamily="34" charset="-120"/>
              </a:rPr>
              <a:t>Only reacts to memory running low - not to heat or to a slow network.</a:t>
            </a:r>
            <a:endParaRPr lang="en-US" sz="950" dirty="0"/>
          </a:p>
        </p:txBody>
      </p:sp>
      <p:sp>
        <p:nvSpPr>
          <p:cNvPr id="11" name="Shape 9"/>
          <p:cNvSpPr/>
          <p:nvPr/>
        </p:nvSpPr>
        <p:spPr>
          <a:xfrm>
            <a:off x="566928" y="2414016"/>
            <a:ext cx="11055096" cy="877824"/>
          </a:xfrm>
          <a:prstGeom prst="roundRect">
            <a:avLst>
              <a:gd name="adj" fmla="val 7292"/>
            </a:avLst>
          </a:prstGeom>
          <a:solidFill>
            <a:srgbClr val="F7F8FA"/>
          </a:solidFill>
          <a:ln w="12700">
            <a:solidFill>
              <a:srgbClr val="FFFFFF"/>
            </a:solidFill>
            <a:prstDash val="solid"/>
          </a:ln>
          <a:effectLst>
            <a:outerShdw sx="100000" sy="100000" kx="0" ky="0" algn="bl" rotWithShape="0" blurRad="127000" dist="25400" dir="5400000">
              <a:srgbClr val="9AA3B2">
                <a:alpha val="28000"/>
              </a:srgbClr>
            </a:outerShdw>
          </a:effectLst>
        </p:spPr>
      </p:sp>
      <p:sp>
        <p:nvSpPr>
          <p:cNvPr id="12" name="Text 10"/>
          <p:cNvSpPr/>
          <p:nvPr/>
        </p:nvSpPr>
        <p:spPr>
          <a:xfrm>
            <a:off x="804672" y="2542032"/>
            <a:ext cx="2286000" cy="274320"/>
          </a:xfrm>
          <a:prstGeom prst="rect">
            <a:avLst/>
          </a:prstGeom>
          <a:noFill/>
          <a:ln/>
        </p:spPr>
        <p:txBody>
          <a:bodyPr wrap="square" lIns="0" tIns="0" rIns="0" bIns="0" rtlCol="0" anchor="ctr"/>
          <a:lstStyle/>
          <a:p>
            <a:pPr indent="0" marL="0">
              <a:buNone/>
            </a:pPr>
            <a:r>
              <a:rPr lang="en-US" sz="1300" b="1" dirty="0">
                <a:solidFill>
                  <a:srgbClr val="141821"/>
                </a:solidFill>
                <a:latin typeface="Calibri" pitchFamily="34" charset="0"/>
                <a:ea typeface="Calibri" pitchFamily="34" charset="-122"/>
                <a:cs typeface="Calibri" pitchFamily="34" charset="-120"/>
              </a:rPr>
              <a:t>Parallax</a:t>
            </a:r>
            <a:endParaRPr lang="en-US" sz="1300" dirty="0"/>
          </a:p>
        </p:txBody>
      </p:sp>
      <p:sp>
        <p:nvSpPr>
          <p:cNvPr id="13" name="Text 11"/>
          <p:cNvSpPr/>
          <p:nvPr/>
        </p:nvSpPr>
        <p:spPr>
          <a:xfrm>
            <a:off x="804672" y="2825496"/>
            <a:ext cx="2286000" cy="219456"/>
          </a:xfrm>
          <a:prstGeom prst="rect">
            <a:avLst/>
          </a:prstGeom>
          <a:noFill/>
          <a:ln/>
        </p:spPr>
        <p:txBody>
          <a:bodyPr wrap="square" lIns="0" tIns="0" rIns="0" bIns="0" rtlCol="0" anchor="ctr"/>
          <a:lstStyle/>
          <a:p>
            <a:pPr indent="0" marL="0">
              <a:buNone/>
            </a:pPr>
            <a:r>
              <a:rPr lang="en-US" sz="950" b="1" dirty="0">
                <a:solidFill>
                  <a:srgbClr val="1F8A80"/>
                </a:solidFill>
                <a:latin typeface="Calibri" pitchFamily="34" charset="0"/>
                <a:ea typeface="Calibri" pitchFamily="34" charset="-122"/>
                <a:cs typeface="Calibri" pitchFamily="34" charset="-120"/>
              </a:rPr>
              <a:t>arXiv, 2025</a:t>
            </a:r>
            <a:endParaRPr lang="en-US" sz="950" dirty="0"/>
          </a:p>
        </p:txBody>
      </p:sp>
      <p:sp>
        <p:nvSpPr>
          <p:cNvPr id="14" name="Text 12"/>
          <p:cNvSpPr/>
          <p:nvPr/>
        </p:nvSpPr>
        <p:spPr>
          <a:xfrm>
            <a:off x="804672" y="3017520"/>
            <a:ext cx="2286000" cy="219456"/>
          </a:xfrm>
          <a:prstGeom prst="rect">
            <a:avLst/>
          </a:prstGeom>
          <a:noFill/>
          <a:ln/>
        </p:spPr>
        <p:txBody>
          <a:bodyPr wrap="square" lIns="0" tIns="0" rIns="0" bIns="0" rtlCol="0" anchor="ctr"/>
          <a:lstStyle/>
          <a:p>
            <a:pPr indent="0" marL="0">
              <a:buNone/>
            </a:pPr>
            <a:r>
              <a:rPr lang="en-US" sz="800" dirty="0">
                <a:solidFill>
                  <a:srgbClr val="6B7280"/>
                </a:solidFill>
                <a:latin typeface="Courier New" pitchFamily="34" charset="0"/>
                <a:ea typeface="Courier New" pitchFamily="34" charset="-122"/>
                <a:cs typeface="Courier New" pitchFamily="34" charset="-120"/>
              </a:rPr>
              <a:t>arXiv:2509.26182</a:t>
            </a:r>
            <a:endParaRPr lang="en-US" sz="800" dirty="0"/>
          </a:p>
        </p:txBody>
      </p:sp>
      <p:sp>
        <p:nvSpPr>
          <p:cNvPr id="15" name="Text 13"/>
          <p:cNvSpPr/>
          <p:nvPr/>
        </p:nvSpPr>
        <p:spPr>
          <a:xfrm>
            <a:off x="3236976" y="2532888"/>
            <a:ext cx="4224528" cy="676656"/>
          </a:xfrm>
          <a:prstGeom prst="rect">
            <a:avLst/>
          </a:prstGeom>
          <a:noFill/>
          <a:ln/>
        </p:spPr>
        <p:txBody>
          <a:bodyPr wrap="square" lIns="0" tIns="0" rIns="0" bIns="0" rtlCol="0" anchor="ctr"/>
          <a:lstStyle/>
          <a:p>
            <a:pPr indent="0" marL="0">
              <a:lnSpc>
                <a:spcPts val="1300"/>
              </a:lnSpc>
              <a:buNone/>
            </a:pPr>
            <a:r>
              <a:rPr lang="en-US" sz="1000" dirty="0">
                <a:solidFill>
                  <a:srgbClr val="3E4658"/>
                </a:solidFill>
                <a:latin typeface="Calibri" pitchFamily="34" charset="0"/>
                <a:ea typeface="Calibri" pitchFamily="34" charset="-122"/>
                <a:cs typeface="Calibri" pitchFamily="34" charset="-120"/>
              </a:rPr>
              <a:t>Serves a model across a pool of volunteer machines of all shapes, with no central cluster in charge.</a:t>
            </a:r>
            <a:endParaRPr lang="en-US" sz="1000" dirty="0"/>
          </a:p>
        </p:txBody>
      </p:sp>
      <p:sp>
        <p:nvSpPr>
          <p:cNvPr id="16" name="Shape 14"/>
          <p:cNvSpPr/>
          <p:nvPr/>
        </p:nvSpPr>
        <p:spPr>
          <a:xfrm>
            <a:off x="7626096" y="2798064"/>
            <a:ext cx="118872" cy="118872"/>
          </a:xfrm>
          <a:prstGeom prst="ellipse">
            <a:avLst/>
          </a:prstGeom>
          <a:solidFill>
            <a:srgbClr val="E07B39"/>
          </a:solidFill>
          <a:ln w="12700">
            <a:solidFill>
              <a:srgbClr val="333333"/>
            </a:solidFill>
            <a:prstDash val="solid"/>
          </a:ln>
        </p:spPr>
      </p:sp>
      <p:sp>
        <p:nvSpPr>
          <p:cNvPr id="17" name="Text 15"/>
          <p:cNvSpPr/>
          <p:nvPr/>
        </p:nvSpPr>
        <p:spPr>
          <a:xfrm>
            <a:off x="7845552" y="2532888"/>
            <a:ext cx="3200400" cy="676656"/>
          </a:xfrm>
          <a:prstGeom prst="rect">
            <a:avLst/>
          </a:prstGeom>
          <a:noFill/>
          <a:ln/>
        </p:spPr>
        <p:txBody>
          <a:bodyPr wrap="square" lIns="0" tIns="0" rIns="0" bIns="0" rtlCol="0" anchor="ctr"/>
          <a:lstStyle/>
          <a:p>
            <a:pPr indent="0" marL="0">
              <a:lnSpc>
                <a:spcPts val="1200"/>
              </a:lnSpc>
              <a:buNone/>
            </a:pPr>
            <a:r>
              <a:rPr lang="en-US" sz="950" i="1" dirty="0">
                <a:solidFill>
                  <a:srgbClr val="6B4A2E"/>
                </a:solidFill>
                <a:latin typeface="Calibri" pitchFamily="34" charset="0"/>
                <a:ea typeface="Calibri" pitchFamily="34" charset="-122"/>
                <a:cs typeface="Calibri" pitchFamily="34" charset="-120"/>
              </a:rPr>
              <a:t>Spreads the work out well, but measures nothing inside the kernel.</a:t>
            </a:r>
            <a:endParaRPr lang="en-US" sz="950" dirty="0"/>
          </a:p>
        </p:txBody>
      </p:sp>
      <p:sp>
        <p:nvSpPr>
          <p:cNvPr id="18" name="Shape 16"/>
          <p:cNvSpPr/>
          <p:nvPr/>
        </p:nvSpPr>
        <p:spPr>
          <a:xfrm>
            <a:off x="566928" y="3383280"/>
            <a:ext cx="11055096" cy="877824"/>
          </a:xfrm>
          <a:prstGeom prst="roundRect">
            <a:avLst>
              <a:gd name="adj" fmla="val 7292"/>
            </a:avLst>
          </a:prstGeom>
          <a:solidFill>
            <a:srgbClr val="F1F3F7"/>
          </a:solidFill>
          <a:ln w="12700">
            <a:solidFill>
              <a:srgbClr val="FFFFFF"/>
            </a:solidFill>
            <a:prstDash val="solid"/>
          </a:ln>
          <a:effectLst>
            <a:outerShdw sx="100000" sy="100000" kx="0" ky="0" algn="bl" rotWithShape="0" blurRad="127000" dist="25400" dir="5400000">
              <a:srgbClr val="9AA3B2">
                <a:alpha val="28000"/>
              </a:srgbClr>
            </a:outerShdw>
          </a:effectLst>
        </p:spPr>
      </p:sp>
      <p:sp>
        <p:nvSpPr>
          <p:cNvPr id="19" name="Text 17"/>
          <p:cNvSpPr/>
          <p:nvPr/>
        </p:nvSpPr>
        <p:spPr>
          <a:xfrm>
            <a:off x="804672" y="3511296"/>
            <a:ext cx="2286000" cy="274320"/>
          </a:xfrm>
          <a:prstGeom prst="rect">
            <a:avLst/>
          </a:prstGeom>
          <a:noFill/>
          <a:ln/>
        </p:spPr>
        <p:txBody>
          <a:bodyPr wrap="square" lIns="0" tIns="0" rIns="0" bIns="0" rtlCol="0" anchor="ctr"/>
          <a:lstStyle/>
          <a:p>
            <a:pPr indent="0" marL="0">
              <a:buNone/>
            </a:pPr>
            <a:r>
              <a:rPr lang="en-US" sz="1300" b="1" dirty="0">
                <a:solidFill>
                  <a:srgbClr val="141821"/>
                </a:solidFill>
                <a:latin typeface="Calibri" pitchFamily="34" charset="0"/>
                <a:ea typeface="Calibri" pitchFamily="34" charset="-122"/>
                <a:cs typeface="Calibri" pitchFamily="34" charset="-120"/>
              </a:rPr>
              <a:t>Adaptive Layer Splitting (MBRL)</a:t>
            </a:r>
            <a:endParaRPr lang="en-US" sz="1300" dirty="0"/>
          </a:p>
        </p:txBody>
      </p:sp>
      <p:sp>
        <p:nvSpPr>
          <p:cNvPr id="20" name="Text 18"/>
          <p:cNvSpPr/>
          <p:nvPr/>
        </p:nvSpPr>
        <p:spPr>
          <a:xfrm>
            <a:off x="804672" y="3794760"/>
            <a:ext cx="2286000" cy="219456"/>
          </a:xfrm>
          <a:prstGeom prst="rect">
            <a:avLst/>
          </a:prstGeom>
          <a:noFill/>
          <a:ln/>
        </p:spPr>
        <p:txBody>
          <a:bodyPr wrap="square" lIns="0" tIns="0" rIns="0" bIns="0" rtlCol="0" anchor="ctr"/>
          <a:lstStyle/>
          <a:p>
            <a:pPr indent="0" marL="0">
              <a:buNone/>
            </a:pPr>
            <a:r>
              <a:rPr lang="en-US" sz="950" b="1" dirty="0">
                <a:solidFill>
                  <a:srgbClr val="1F8A80"/>
                </a:solidFill>
                <a:latin typeface="Calibri" pitchFamily="34" charset="0"/>
                <a:ea typeface="Calibri" pitchFamily="34" charset="-122"/>
                <a:cs typeface="Calibri" pitchFamily="34" charset="-120"/>
              </a:rPr>
              <a:t>FITEE, Springer, 2025</a:t>
            </a:r>
            <a:endParaRPr lang="en-US" sz="950" dirty="0"/>
          </a:p>
        </p:txBody>
      </p:sp>
      <p:sp>
        <p:nvSpPr>
          <p:cNvPr id="21" name="Text 19"/>
          <p:cNvSpPr/>
          <p:nvPr/>
        </p:nvSpPr>
        <p:spPr>
          <a:xfrm>
            <a:off x="804672" y="3986784"/>
            <a:ext cx="2286000" cy="219456"/>
          </a:xfrm>
          <a:prstGeom prst="rect">
            <a:avLst/>
          </a:prstGeom>
          <a:noFill/>
          <a:ln/>
        </p:spPr>
        <p:txBody>
          <a:bodyPr wrap="square" lIns="0" tIns="0" rIns="0" bIns="0" rtlCol="0" anchor="ctr"/>
          <a:lstStyle/>
          <a:p>
            <a:pPr indent="0" marL="0">
              <a:buNone/>
            </a:pPr>
            <a:r>
              <a:rPr lang="en-US" sz="800" dirty="0">
                <a:solidFill>
                  <a:srgbClr val="6B7280"/>
                </a:solidFill>
                <a:latin typeface="Courier New" pitchFamily="34" charset="0"/>
                <a:ea typeface="Courier New" pitchFamily="34" charset="-122"/>
                <a:cs typeface="Courier New" pitchFamily="34" charset="-120"/>
              </a:rPr>
              <a:t>doi:10.1631/FITEE.2400468</a:t>
            </a:r>
            <a:endParaRPr lang="en-US" sz="800" dirty="0"/>
          </a:p>
        </p:txBody>
      </p:sp>
      <p:sp>
        <p:nvSpPr>
          <p:cNvPr id="22" name="Text 20"/>
          <p:cNvSpPr/>
          <p:nvPr/>
        </p:nvSpPr>
        <p:spPr>
          <a:xfrm>
            <a:off x="3236976" y="3502152"/>
            <a:ext cx="4224528" cy="676656"/>
          </a:xfrm>
          <a:prstGeom prst="rect">
            <a:avLst/>
          </a:prstGeom>
          <a:noFill/>
          <a:ln/>
        </p:spPr>
        <p:txBody>
          <a:bodyPr wrap="square" lIns="0" tIns="0" rIns="0" bIns="0" rtlCol="0" anchor="ctr"/>
          <a:lstStyle/>
          <a:p>
            <a:pPr indent="0" marL="0">
              <a:lnSpc>
                <a:spcPts val="1300"/>
              </a:lnSpc>
              <a:buNone/>
            </a:pPr>
            <a:r>
              <a:rPr lang="en-US" sz="1000" dirty="0">
                <a:solidFill>
                  <a:srgbClr val="3E4658"/>
                </a:solidFill>
                <a:latin typeface="Calibri" pitchFamily="34" charset="0"/>
                <a:ea typeface="Calibri" pitchFamily="34" charset="-122"/>
                <a:cs typeface="Calibri" pitchFamily="34" charset="-120"/>
              </a:rPr>
              <a:t>Learns where to cut, and moves the cut as the wireless signal changes. It does keep adapting, which is rare.</a:t>
            </a:r>
            <a:endParaRPr lang="en-US" sz="1000" dirty="0"/>
          </a:p>
        </p:txBody>
      </p:sp>
      <p:sp>
        <p:nvSpPr>
          <p:cNvPr id="23" name="Shape 21"/>
          <p:cNvSpPr/>
          <p:nvPr/>
        </p:nvSpPr>
        <p:spPr>
          <a:xfrm>
            <a:off x="7626096" y="3767328"/>
            <a:ext cx="118872" cy="118872"/>
          </a:xfrm>
          <a:prstGeom prst="ellipse">
            <a:avLst/>
          </a:prstGeom>
          <a:solidFill>
            <a:srgbClr val="E07B39"/>
          </a:solidFill>
          <a:ln w="12700">
            <a:solidFill>
              <a:srgbClr val="333333"/>
            </a:solidFill>
            <a:prstDash val="solid"/>
          </a:ln>
        </p:spPr>
      </p:sp>
      <p:sp>
        <p:nvSpPr>
          <p:cNvPr id="24" name="Text 22"/>
          <p:cNvSpPr/>
          <p:nvPr/>
        </p:nvSpPr>
        <p:spPr>
          <a:xfrm>
            <a:off x="7845552" y="3502152"/>
            <a:ext cx="3200400" cy="676656"/>
          </a:xfrm>
          <a:prstGeom prst="rect">
            <a:avLst/>
          </a:prstGeom>
          <a:noFill/>
          <a:ln/>
        </p:spPr>
        <p:txBody>
          <a:bodyPr wrap="square" lIns="0" tIns="0" rIns="0" bIns="0" rtlCol="0" anchor="ctr"/>
          <a:lstStyle/>
          <a:p>
            <a:pPr indent="0" marL="0">
              <a:lnSpc>
                <a:spcPts val="1200"/>
              </a:lnSpc>
              <a:buNone/>
            </a:pPr>
            <a:r>
              <a:rPr lang="en-US" sz="950" i="1" dirty="0">
                <a:solidFill>
                  <a:srgbClr val="6B4A2E"/>
                </a:solidFill>
                <a:latin typeface="Calibri" pitchFamily="34" charset="0"/>
                <a:ea typeface="Calibri" pitchFamily="34" charset="-122"/>
                <a:cs typeface="Calibri" pitchFamily="34" charset="-120"/>
              </a:rPr>
              <a:t>The policy must be trained first, and cannot promise the best answer. Only one cut point.</a:t>
            </a:r>
            <a:endParaRPr lang="en-US" sz="950" dirty="0"/>
          </a:p>
        </p:txBody>
      </p:sp>
      <p:sp>
        <p:nvSpPr>
          <p:cNvPr id="25" name="Shape 23"/>
          <p:cNvSpPr/>
          <p:nvPr/>
        </p:nvSpPr>
        <p:spPr>
          <a:xfrm>
            <a:off x="566928" y="4352544"/>
            <a:ext cx="11055096" cy="877824"/>
          </a:xfrm>
          <a:prstGeom prst="roundRect">
            <a:avLst>
              <a:gd name="adj" fmla="val 7292"/>
            </a:avLst>
          </a:prstGeom>
          <a:solidFill>
            <a:srgbClr val="F7F8FA"/>
          </a:solidFill>
          <a:ln w="12700">
            <a:solidFill>
              <a:srgbClr val="FFFFFF"/>
            </a:solidFill>
            <a:prstDash val="solid"/>
          </a:ln>
          <a:effectLst>
            <a:outerShdw sx="100000" sy="100000" kx="0" ky="0" algn="bl" rotWithShape="0" blurRad="127000" dist="25400" dir="5400000">
              <a:srgbClr val="9AA3B2">
                <a:alpha val="28000"/>
              </a:srgbClr>
            </a:outerShdw>
          </a:effectLst>
        </p:spPr>
      </p:sp>
      <p:sp>
        <p:nvSpPr>
          <p:cNvPr id="26" name="Text 24"/>
          <p:cNvSpPr/>
          <p:nvPr/>
        </p:nvSpPr>
        <p:spPr>
          <a:xfrm>
            <a:off x="804672" y="4480560"/>
            <a:ext cx="2286000" cy="274320"/>
          </a:xfrm>
          <a:prstGeom prst="rect">
            <a:avLst/>
          </a:prstGeom>
          <a:noFill/>
          <a:ln/>
        </p:spPr>
        <p:txBody>
          <a:bodyPr wrap="square" lIns="0" tIns="0" rIns="0" bIns="0" rtlCol="0" anchor="ctr"/>
          <a:lstStyle/>
          <a:p>
            <a:pPr indent="0" marL="0">
              <a:buNone/>
            </a:pPr>
            <a:r>
              <a:rPr lang="en-US" sz="1300" b="1" dirty="0">
                <a:solidFill>
                  <a:srgbClr val="141821"/>
                </a:solidFill>
                <a:latin typeface="Calibri" pitchFamily="34" charset="0"/>
                <a:ea typeface="Calibri" pitchFamily="34" charset="-122"/>
                <a:cs typeface="Calibri" pitchFamily="34" charset="-120"/>
              </a:rPr>
              <a:t>Distributed LLMs &amp; MLLMs Survey</a:t>
            </a:r>
            <a:endParaRPr lang="en-US" sz="1300" dirty="0"/>
          </a:p>
        </p:txBody>
      </p:sp>
      <p:sp>
        <p:nvSpPr>
          <p:cNvPr id="27" name="Text 25"/>
          <p:cNvSpPr/>
          <p:nvPr/>
        </p:nvSpPr>
        <p:spPr>
          <a:xfrm>
            <a:off x="804672" y="4764024"/>
            <a:ext cx="2286000" cy="219456"/>
          </a:xfrm>
          <a:prstGeom prst="rect">
            <a:avLst/>
          </a:prstGeom>
          <a:noFill/>
          <a:ln/>
        </p:spPr>
        <p:txBody>
          <a:bodyPr wrap="square" lIns="0" tIns="0" rIns="0" bIns="0" rtlCol="0" anchor="ctr"/>
          <a:lstStyle/>
          <a:p>
            <a:pPr indent="0" marL="0">
              <a:buNone/>
            </a:pPr>
            <a:r>
              <a:rPr lang="en-US" sz="950" b="1" dirty="0">
                <a:solidFill>
                  <a:srgbClr val="1F8A80"/>
                </a:solidFill>
                <a:latin typeface="Calibri" pitchFamily="34" charset="0"/>
                <a:ea typeface="Calibri" pitchFamily="34" charset="-122"/>
                <a:cs typeface="Calibri" pitchFamily="34" charset="-120"/>
              </a:rPr>
              <a:t>arXiv, 2025</a:t>
            </a:r>
            <a:endParaRPr lang="en-US" sz="950" dirty="0"/>
          </a:p>
        </p:txBody>
      </p:sp>
      <p:sp>
        <p:nvSpPr>
          <p:cNvPr id="28" name="Text 26"/>
          <p:cNvSpPr/>
          <p:nvPr/>
        </p:nvSpPr>
        <p:spPr>
          <a:xfrm>
            <a:off x="804672" y="4956048"/>
            <a:ext cx="2286000" cy="219456"/>
          </a:xfrm>
          <a:prstGeom prst="rect">
            <a:avLst/>
          </a:prstGeom>
          <a:noFill/>
          <a:ln/>
        </p:spPr>
        <p:txBody>
          <a:bodyPr wrap="square" lIns="0" tIns="0" rIns="0" bIns="0" rtlCol="0" anchor="ctr"/>
          <a:lstStyle/>
          <a:p>
            <a:pPr indent="0" marL="0">
              <a:buNone/>
            </a:pPr>
            <a:r>
              <a:rPr lang="en-US" sz="800" dirty="0">
                <a:solidFill>
                  <a:srgbClr val="6B7280"/>
                </a:solidFill>
                <a:latin typeface="Courier New" pitchFamily="34" charset="0"/>
                <a:ea typeface="Courier New" pitchFamily="34" charset="-122"/>
                <a:cs typeface="Courier New" pitchFamily="34" charset="-120"/>
              </a:rPr>
              <a:t>arXiv:2503.16585</a:t>
            </a:r>
            <a:endParaRPr lang="en-US" sz="800" dirty="0"/>
          </a:p>
        </p:txBody>
      </p:sp>
      <p:sp>
        <p:nvSpPr>
          <p:cNvPr id="29" name="Text 27"/>
          <p:cNvSpPr/>
          <p:nvPr/>
        </p:nvSpPr>
        <p:spPr>
          <a:xfrm>
            <a:off x="3236976" y="4471416"/>
            <a:ext cx="4224528" cy="676656"/>
          </a:xfrm>
          <a:prstGeom prst="rect">
            <a:avLst/>
          </a:prstGeom>
          <a:noFill/>
          <a:ln/>
        </p:spPr>
        <p:txBody>
          <a:bodyPr wrap="square" lIns="0" tIns="0" rIns="0" bIns="0" rtlCol="0" anchor="ctr"/>
          <a:lstStyle/>
          <a:p>
            <a:pPr indent="0" marL="0">
              <a:lnSpc>
                <a:spcPts val="1300"/>
              </a:lnSpc>
              <a:buNone/>
            </a:pPr>
            <a:r>
              <a:rPr lang="en-US" sz="1000" dirty="0">
                <a:solidFill>
                  <a:srgbClr val="3E4658"/>
                </a:solidFill>
                <a:latin typeface="Calibri" pitchFamily="34" charset="0"/>
                <a:ea typeface="Calibri" pitchFamily="34" charset="-122"/>
                <a:cs typeface="Calibri" pitchFamily="34" charset="-120"/>
              </a:rPr>
              <a:t>Reviews the whole field, and lists 'adapting to machines that keep changing' as an open problem.</a:t>
            </a:r>
            <a:endParaRPr lang="en-US" sz="1000" dirty="0"/>
          </a:p>
        </p:txBody>
      </p:sp>
      <p:sp>
        <p:nvSpPr>
          <p:cNvPr id="30" name="Shape 28"/>
          <p:cNvSpPr/>
          <p:nvPr/>
        </p:nvSpPr>
        <p:spPr>
          <a:xfrm>
            <a:off x="7626096" y="4736592"/>
            <a:ext cx="118872" cy="118872"/>
          </a:xfrm>
          <a:prstGeom prst="ellipse">
            <a:avLst/>
          </a:prstGeom>
          <a:solidFill>
            <a:srgbClr val="E07B39"/>
          </a:solidFill>
          <a:ln w="12700">
            <a:solidFill>
              <a:srgbClr val="333333"/>
            </a:solidFill>
            <a:prstDash val="solid"/>
          </a:ln>
        </p:spPr>
      </p:sp>
      <p:sp>
        <p:nvSpPr>
          <p:cNvPr id="31" name="Text 29"/>
          <p:cNvSpPr/>
          <p:nvPr/>
        </p:nvSpPr>
        <p:spPr>
          <a:xfrm>
            <a:off x="7845552" y="4471416"/>
            <a:ext cx="3200400" cy="676656"/>
          </a:xfrm>
          <a:prstGeom prst="rect">
            <a:avLst/>
          </a:prstGeom>
          <a:noFill/>
          <a:ln/>
        </p:spPr>
        <p:txBody>
          <a:bodyPr wrap="square" lIns="0" tIns="0" rIns="0" bIns="0" rtlCol="0" anchor="ctr"/>
          <a:lstStyle/>
          <a:p>
            <a:pPr indent="0" marL="0">
              <a:lnSpc>
                <a:spcPts val="1200"/>
              </a:lnSpc>
              <a:buNone/>
            </a:pPr>
            <a:r>
              <a:rPr lang="en-US" sz="950" i="1" dirty="0">
                <a:solidFill>
                  <a:srgbClr val="6B4A2E"/>
                </a:solidFill>
                <a:latin typeface="Calibri" pitchFamily="34" charset="0"/>
                <a:ea typeface="Calibri" pitchFamily="34" charset="-122"/>
                <a:cs typeface="Calibri" pitchFamily="34" charset="-120"/>
              </a:rPr>
              <a:t>Confirms the gap we are filling. It does not fill it.</a:t>
            </a:r>
            <a:endParaRPr lang="en-US" sz="950" dirty="0"/>
          </a:p>
        </p:txBody>
      </p:sp>
      <p:sp>
        <p:nvSpPr>
          <p:cNvPr id="32" name="Shape 30"/>
          <p:cNvSpPr/>
          <p:nvPr/>
        </p:nvSpPr>
        <p:spPr>
          <a:xfrm>
            <a:off x="566928" y="5321808"/>
            <a:ext cx="11055096" cy="877824"/>
          </a:xfrm>
          <a:prstGeom prst="roundRect">
            <a:avLst>
              <a:gd name="adj" fmla="val 7292"/>
            </a:avLst>
          </a:prstGeom>
          <a:solidFill>
            <a:srgbClr val="F1F3F7"/>
          </a:solidFill>
          <a:ln w="12700">
            <a:solidFill>
              <a:srgbClr val="FFFFFF"/>
            </a:solidFill>
            <a:prstDash val="solid"/>
          </a:ln>
          <a:effectLst>
            <a:outerShdw sx="100000" sy="100000" kx="0" ky="0" algn="bl" rotWithShape="0" blurRad="127000" dist="25400" dir="5400000">
              <a:srgbClr val="9AA3B2">
                <a:alpha val="28000"/>
              </a:srgbClr>
            </a:outerShdw>
          </a:effectLst>
        </p:spPr>
      </p:sp>
      <p:sp>
        <p:nvSpPr>
          <p:cNvPr id="33" name="Text 31"/>
          <p:cNvSpPr/>
          <p:nvPr/>
        </p:nvSpPr>
        <p:spPr>
          <a:xfrm>
            <a:off x="804672" y="5449824"/>
            <a:ext cx="2286000" cy="274320"/>
          </a:xfrm>
          <a:prstGeom prst="rect">
            <a:avLst/>
          </a:prstGeom>
          <a:noFill/>
          <a:ln/>
        </p:spPr>
        <p:txBody>
          <a:bodyPr wrap="square" lIns="0" tIns="0" rIns="0" bIns="0" rtlCol="0" anchor="ctr"/>
          <a:lstStyle/>
          <a:p>
            <a:pPr indent="0" marL="0">
              <a:buNone/>
            </a:pPr>
            <a:r>
              <a:rPr lang="en-US" sz="1300" b="1" dirty="0">
                <a:solidFill>
                  <a:srgbClr val="141821"/>
                </a:solidFill>
                <a:latin typeface="Calibri" pitchFamily="34" charset="0"/>
                <a:ea typeface="Calibri" pitchFamily="34" charset="-122"/>
                <a:cs typeface="Calibri" pitchFamily="34" charset="-120"/>
              </a:rPr>
              <a:t>Agentic OS / sched_ext</a:t>
            </a:r>
            <a:endParaRPr lang="en-US" sz="1300" dirty="0"/>
          </a:p>
        </p:txBody>
      </p:sp>
      <p:sp>
        <p:nvSpPr>
          <p:cNvPr id="34" name="Text 32"/>
          <p:cNvSpPr/>
          <p:nvPr/>
        </p:nvSpPr>
        <p:spPr>
          <a:xfrm>
            <a:off x="804672" y="5733288"/>
            <a:ext cx="2286000" cy="219456"/>
          </a:xfrm>
          <a:prstGeom prst="rect">
            <a:avLst/>
          </a:prstGeom>
          <a:noFill/>
          <a:ln/>
        </p:spPr>
        <p:txBody>
          <a:bodyPr wrap="square" lIns="0" tIns="0" rIns="0" bIns="0" rtlCol="0" anchor="ctr"/>
          <a:lstStyle/>
          <a:p>
            <a:pPr indent="0" marL="0">
              <a:buNone/>
            </a:pPr>
            <a:r>
              <a:rPr lang="en-US" sz="950" b="1" dirty="0">
                <a:solidFill>
                  <a:srgbClr val="1F8A80"/>
                </a:solidFill>
                <a:latin typeface="Calibri" pitchFamily="34" charset="0"/>
                <a:ea typeface="Calibri" pitchFamily="34" charset="-122"/>
                <a:cs typeface="Calibri" pitchFamily="34" charset="-120"/>
              </a:rPr>
              <a:t>arXiv, 2025</a:t>
            </a:r>
            <a:endParaRPr lang="en-US" sz="950" dirty="0"/>
          </a:p>
        </p:txBody>
      </p:sp>
      <p:sp>
        <p:nvSpPr>
          <p:cNvPr id="35" name="Text 33"/>
          <p:cNvSpPr/>
          <p:nvPr/>
        </p:nvSpPr>
        <p:spPr>
          <a:xfrm>
            <a:off x="804672" y="5925312"/>
            <a:ext cx="2286000" cy="219456"/>
          </a:xfrm>
          <a:prstGeom prst="rect">
            <a:avLst/>
          </a:prstGeom>
          <a:noFill/>
          <a:ln/>
        </p:spPr>
        <p:txBody>
          <a:bodyPr wrap="square" lIns="0" tIns="0" rIns="0" bIns="0" rtlCol="0" anchor="ctr"/>
          <a:lstStyle/>
          <a:p>
            <a:pPr indent="0" marL="0">
              <a:buNone/>
            </a:pPr>
            <a:r>
              <a:rPr lang="en-US" sz="800" dirty="0">
                <a:solidFill>
                  <a:srgbClr val="6B7280"/>
                </a:solidFill>
                <a:latin typeface="Courier New" pitchFamily="34" charset="0"/>
                <a:ea typeface="Courier New" pitchFamily="34" charset="-122"/>
                <a:cs typeface="Courier New" pitchFamily="34" charset="-120"/>
              </a:rPr>
              <a:t>arXiv:2509.01245</a:t>
            </a:r>
            <a:endParaRPr lang="en-US" sz="800" dirty="0"/>
          </a:p>
        </p:txBody>
      </p:sp>
      <p:sp>
        <p:nvSpPr>
          <p:cNvPr id="36" name="Text 34"/>
          <p:cNvSpPr/>
          <p:nvPr/>
        </p:nvSpPr>
        <p:spPr>
          <a:xfrm>
            <a:off x="3236976" y="5440680"/>
            <a:ext cx="4224528" cy="676656"/>
          </a:xfrm>
          <a:prstGeom prst="rect">
            <a:avLst/>
          </a:prstGeom>
          <a:noFill/>
          <a:ln/>
        </p:spPr>
        <p:txBody>
          <a:bodyPr wrap="square" lIns="0" tIns="0" rIns="0" bIns="0" rtlCol="0" anchor="ctr"/>
          <a:lstStyle/>
          <a:p>
            <a:pPr indent="0" marL="0">
              <a:lnSpc>
                <a:spcPts val="1300"/>
              </a:lnSpc>
              <a:buNone/>
            </a:pPr>
            <a:r>
              <a:rPr lang="en-US" sz="1000" dirty="0">
                <a:solidFill>
                  <a:srgbClr val="3E4658"/>
                </a:solidFill>
                <a:latin typeface="Calibri" pitchFamily="34" charset="0"/>
                <a:ea typeface="Calibri" pitchFamily="34" charset="-122"/>
                <a:cs typeface="Calibri" pitchFamily="34" charset="-120"/>
              </a:rPr>
              <a:t>Loads custom Linux schedulers as eBPF programs while the system runs. Shows eBPF is now used to control things, not only to watch them.</a:t>
            </a:r>
            <a:endParaRPr lang="en-US" sz="1000" dirty="0"/>
          </a:p>
        </p:txBody>
      </p:sp>
      <p:sp>
        <p:nvSpPr>
          <p:cNvPr id="37" name="Shape 35"/>
          <p:cNvSpPr/>
          <p:nvPr/>
        </p:nvSpPr>
        <p:spPr>
          <a:xfrm>
            <a:off x="7626096" y="5705856"/>
            <a:ext cx="118872" cy="118872"/>
          </a:xfrm>
          <a:prstGeom prst="ellipse">
            <a:avLst/>
          </a:prstGeom>
          <a:solidFill>
            <a:srgbClr val="E07B39"/>
          </a:solidFill>
          <a:ln w="12700">
            <a:solidFill>
              <a:srgbClr val="333333"/>
            </a:solidFill>
            <a:prstDash val="solid"/>
          </a:ln>
        </p:spPr>
      </p:sp>
      <p:sp>
        <p:nvSpPr>
          <p:cNvPr id="38" name="Text 36"/>
          <p:cNvSpPr/>
          <p:nvPr/>
        </p:nvSpPr>
        <p:spPr>
          <a:xfrm>
            <a:off x="7845552" y="5440680"/>
            <a:ext cx="3200400" cy="676656"/>
          </a:xfrm>
          <a:prstGeom prst="rect">
            <a:avLst/>
          </a:prstGeom>
          <a:noFill/>
          <a:ln/>
        </p:spPr>
        <p:txBody>
          <a:bodyPr wrap="square" lIns="0" tIns="0" rIns="0" bIns="0" rtlCol="0" anchor="ctr"/>
          <a:lstStyle/>
          <a:p>
            <a:pPr indent="0" marL="0">
              <a:lnSpc>
                <a:spcPts val="1200"/>
              </a:lnSpc>
              <a:buNone/>
            </a:pPr>
            <a:r>
              <a:rPr lang="en-US" sz="950" i="1" dirty="0">
                <a:solidFill>
                  <a:srgbClr val="6B4A2E"/>
                </a:solidFill>
                <a:latin typeface="Calibri" pitchFamily="34" charset="0"/>
                <a:ea typeface="Calibri" pitchFamily="34" charset="-122"/>
                <a:cs typeface="Calibri" pitchFamily="34" charset="-120"/>
              </a:rPr>
              <a:t>Works on one machine's CPU tasks. Nothing about splitting a model across machines.</a:t>
            </a:r>
            <a:endParaRPr lang="en-US" sz="950" dirty="0"/>
          </a:p>
        </p:txBody>
      </p:sp>
      <p:sp>
        <p:nvSpPr>
          <p:cNvPr id="39" name="Text 37"/>
          <p:cNvSpPr/>
          <p:nvPr/>
        </p:nvSpPr>
        <p:spPr>
          <a:xfrm>
            <a:off x="7845552" y="1197864"/>
            <a:ext cx="3200400" cy="219456"/>
          </a:xfrm>
          <a:prstGeom prst="rect">
            <a:avLst/>
          </a:prstGeom>
          <a:noFill/>
          <a:ln/>
        </p:spPr>
        <p:txBody>
          <a:bodyPr wrap="square" lIns="0" tIns="0" rIns="0" bIns="0" rtlCol="0" anchor="ctr"/>
          <a:lstStyle/>
          <a:p>
            <a:pPr indent="0" marL="0">
              <a:buNone/>
            </a:pPr>
            <a:r>
              <a:rPr lang="en-US" sz="900" b="1" spc="120" kern="0" dirty="0">
                <a:solidFill>
                  <a:srgbClr val="E07B39"/>
                </a:solidFill>
                <a:latin typeface="Calibri" pitchFamily="34" charset="0"/>
                <a:ea typeface="Calibri" pitchFamily="34" charset="-122"/>
                <a:cs typeface="Calibri" pitchFamily="34" charset="-120"/>
              </a:rPr>
              <a:t>What it does not do</a:t>
            </a:r>
            <a:endParaRPr lang="en-US" sz="900" dirty="0"/>
          </a:p>
        </p:txBody>
      </p:sp>
      <p:sp>
        <p:nvSpPr>
          <p:cNvPr id="40" name="Text 38"/>
          <p:cNvSpPr/>
          <p:nvPr/>
        </p:nvSpPr>
        <p:spPr>
          <a:xfrm>
            <a:off x="3236976" y="1197864"/>
            <a:ext cx="2743200" cy="219456"/>
          </a:xfrm>
          <a:prstGeom prst="rect">
            <a:avLst/>
          </a:prstGeom>
          <a:noFill/>
          <a:ln/>
        </p:spPr>
        <p:txBody>
          <a:bodyPr wrap="square" lIns="0" tIns="0" rIns="0" bIns="0" rtlCol="0" anchor="ctr"/>
          <a:lstStyle/>
          <a:p>
            <a:pPr indent="0" marL="0">
              <a:buNone/>
            </a:pPr>
            <a:r>
              <a:rPr lang="en-US" sz="900" b="1" spc="120" kern="0" dirty="0">
                <a:solidFill>
                  <a:srgbClr val="6B7280"/>
                </a:solidFill>
                <a:latin typeface="Calibri" pitchFamily="34" charset="0"/>
                <a:ea typeface="Calibri" pitchFamily="34" charset="-122"/>
                <a:cs typeface="Calibri" pitchFamily="34" charset="-120"/>
              </a:rPr>
              <a:t>Contribution</a:t>
            </a:r>
            <a:endParaRPr lang="en-US" sz="900" dirty="0"/>
          </a:p>
        </p:txBody>
      </p:sp>
      <p:sp>
        <p:nvSpPr>
          <p:cNvPr id="41" name="Text 39"/>
          <p:cNvSpPr/>
          <p:nvPr/>
        </p:nvSpPr>
        <p:spPr>
          <a:xfrm>
            <a:off x="566928" y="6382512"/>
            <a:ext cx="9692640" cy="274320"/>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All ten papers are from 2024-2025. Full list on slide 15.</a:t>
            </a:r>
            <a:endParaRPr lang="en-US" sz="950" dirty="0"/>
          </a:p>
        </p:txBody>
      </p:sp>
      <p:sp>
        <p:nvSpPr>
          <p:cNvPr id="42" name="Text 40"/>
          <p:cNvSpPr/>
          <p:nvPr/>
        </p:nvSpPr>
        <p:spPr>
          <a:xfrm>
            <a:off x="11073384" y="6382512"/>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50" b="1" spc="220" kern="0" dirty="0">
                <a:solidFill>
                  <a:srgbClr val="E07B39"/>
                </a:solidFill>
                <a:latin typeface="Calibri" pitchFamily="34" charset="0"/>
                <a:ea typeface="Calibri" pitchFamily="34" charset="-122"/>
                <a:cs typeface="Calibri" pitchFamily="34" charset="-120"/>
              </a:rPr>
              <a:t>WHAT IS MISSING</a:t>
            </a:r>
            <a:endParaRPr lang="en-US" sz="1150" dirty="0"/>
          </a:p>
        </p:txBody>
      </p:sp>
      <p:sp>
        <p:nvSpPr>
          <p:cNvPr id="3" name="Text 1"/>
          <p:cNvSpPr/>
          <p:nvPr/>
        </p:nvSpPr>
        <p:spPr>
          <a:xfrm>
            <a:off x="566928" y="566928"/>
            <a:ext cx="11055096" cy="658368"/>
          </a:xfrm>
          <a:prstGeom prst="rect">
            <a:avLst/>
          </a:prstGeom>
          <a:noFill/>
          <a:ln/>
        </p:spPr>
        <p:txBody>
          <a:bodyPr wrap="square" lIns="0" tIns="0" rIns="0" bIns="0" rtlCol="0" anchor="ctr"/>
          <a:lstStyle/>
          <a:p>
            <a:pPr indent="0" marL="0">
              <a:buNone/>
            </a:pPr>
            <a:r>
              <a:rPr lang="en-US" sz="3200" b="1" dirty="0">
                <a:solidFill>
                  <a:srgbClr val="141821"/>
                </a:solidFill>
                <a:latin typeface="Cambria" pitchFamily="34" charset="0"/>
                <a:ea typeface="Cambria" pitchFamily="34" charset="-122"/>
                <a:cs typeface="Cambria" pitchFamily="34" charset="-120"/>
              </a:rPr>
              <a:t>What past work is missing</a:t>
            </a:r>
            <a:endParaRPr lang="en-US" sz="3200" dirty="0"/>
          </a:p>
        </p:txBody>
      </p:sp>
      <p:sp>
        <p:nvSpPr>
          <p:cNvPr id="4" name="Shape 2"/>
          <p:cNvSpPr/>
          <p:nvPr/>
        </p:nvSpPr>
        <p:spPr>
          <a:xfrm>
            <a:off x="566928" y="1463040"/>
            <a:ext cx="11055096" cy="621792"/>
          </a:xfrm>
          <a:prstGeom prst="roundRect">
            <a:avLst>
              <a:gd name="adj" fmla="val 7353"/>
            </a:avLst>
          </a:prstGeom>
          <a:solidFill>
            <a:srgbClr val="141821"/>
          </a:solidFill>
          <a:ln w="12700">
            <a:solidFill>
              <a:srgbClr val="333333"/>
            </a:solidFill>
            <a:prstDash val="solid"/>
          </a:ln>
        </p:spPr>
      </p:sp>
      <p:sp>
        <p:nvSpPr>
          <p:cNvPr id="5" name="Text 3"/>
          <p:cNvSpPr/>
          <p:nvPr/>
        </p:nvSpPr>
        <p:spPr>
          <a:xfrm>
            <a:off x="566928" y="1463040"/>
            <a:ext cx="3063240" cy="621792"/>
          </a:xfrm>
          <a:prstGeom prst="rect">
            <a:avLst/>
          </a:prstGeom>
          <a:noFill/>
          <a:ln/>
        </p:spPr>
        <p:txBody>
          <a:bodyPr wrap="square" lIns="0" tIns="0" rIns="0" bIns="0" rtlCol="0" anchor="ctr"/>
          <a:lstStyle/>
          <a:p>
            <a:pPr algn="l" indent="0" marL="0">
              <a:lnSpc>
                <a:spcPts val="1100"/>
              </a:lnSpc>
              <a:buNone/>
            </a:pPr>
            <a:r>
              <a:rPr lang="en-US" sz="950" b="1" dirty="0">
                <a:solidFill>
                  <a:srgbClr val="FFFFFF"/>
                </a:solidFill>
                <a:latin typeface="Calibri" pitchFamily="34" charset="0"/>
                <a:ea typeface="Calibri" pitchFamily="34" charset="-122"/>
                <a:cs typeface="Calibri" pitchFamily="34" charset="-120"/>
              </a:rPr>
              <a:t>Capability</a:t>
            </a:r>
            <a:endParaRPr lang="en-US" sz="950" dirty="0"/>
          </a:p>
        </p:txBody>
      </p:sp>
      <p:sp>
        <p:nvSpPr>
          <p:cNvPr id="6" name="Text 4"/>
          <p:cNvSpPr/>
          <p:nvPr/>
        </p:nvSpPr>
        <p:spPr>
          <a:xfrm>
            <a:off x="3703320" y="1463040"/>
            <a:ext cx="1481328" cy="621792"/>
          </a:xfrm>
          <a:prstGeom prst="rect">
            <a:avLst/>
          </a:prstGeom>
          <a:noFill/>
          <a:ln/>
        </p:spPr>
        <p:txBody>
          <a:bodyPr wrap="square" lIns="0" tIns="0" rIns="0" bIns="0" rtlCol="0" anchor="ctr"/>
          <a:lstStyle/>
          <a:p>
            <a:pPr algn="l" indent="0" marL="0">
              <a:lnSpc>
                <a:spcPts val="1100"/>
              </a:lnSpc>
              <a:buNone/>
            </a:pPr>
            <a:r>
              <a:rPr lang="en-US" sz="950" b="1" dirty="0">
                <a:solidFill>
                  <a:srgbClr val="FFFFFF"/>
                </a:solidFill>
                <a:latin typeface="Calibri" pitchFamily="34" charset="0"/>
                <a:ea typeface="Calibri" pitchFamily="34" charset="-122"/>
                <a:cs typeface="Calibri" pitchFamily="34" charset="-120"/>
              </a:rPr>
              <a:t>Data centre serving</a:t>
            </a:r>
            <a:endParaRPr lang="en-US" sz="950" dirty="0"/>
          </a:p>
          <a:p>
            <a:pPr algn="l" indent="0" marL="0">
              <a:lnSpc>
                <a:spcPts val="1100"/>
              </a:lnSpc>
              <a:buNone/>
            </a:pPr>
            <a:r>
              <a:rPr lang="en-US" sz="950" b="1" dirty="0">
                <a:solidFill>
                  <a:srgbClr val="FFFFFF"/>
                </a:solidFill>
                <a:latin typeface="Calibri" pitchFamily="34" charset="0"/>
                <a:ea typeface="Calibri" pitchFamily="34" charset="-122"/>
                <a:cs typeface="Calibri" pitchFamily="34" charset="-120"/>
              </a:rPr>
              <a:t>(Helix)</a:t>
            </a:r>
            <a:endParaRPr lang="en-US" sz="950" dirty="0"/>
          </a:p>
        </p:txBody>
      </p:sp>
      <p:sp>
        <p:nvSpPr>
          <p:cNvPr id="7" name="Text 5"/>
          <p:cNvSpPr/>
          <p:nvPr/>
        </p:nvSpPr>
        <p:spPr>
          <a:xfrm>
            <a:off x="5257800" y="1463040"/>
            <a:ext cx="2377440" cy="621792"/>
          </a:xfrm>
          <a:prstGeom prst="rect">
            <a:avLst/>
          </a:prstGeom>
          <a:noFill/>
          <a:ln/>
        </p:spPr>
        <p:txBody>
          <a:bodyPr wrap="square" lIns="0" tIns="0" rIns="0" bIns="0" rtlCol="0" anchor="ctr"/>
          <a:lstStyle/>
          <a:p>
            <a:pPr algn="l" indent="0" marL="0">
              <a:lnSpc>
                <a:spcPts val="1100"/>
              </a:lnSpc>
              <a:buNone/>
            </a:pPr>
            <a:r>
              <a:rPr lang="en-US" sz="950" b="1" dirty="0">
                <a:solidFill>
                  <a:srgbClr val="FFFFFF"/>
                </a:solidFill>
                <a:latin typeface="Calibri" pitchFamily="34" charset="0"/>
                <a:ea typeface="Calibri" pitchFamily="34" charset="-122"/>
                <a:cs typeface="Calibri" pitchFamily="34" charset="-120"/>
              </a:rPr>
              <a:t>Splitting on small devices</a:t>
            </a:r>
            <a:endParaRPr lang="en-US" sz="950" dirty="0"/>
          </a:p>
          <a:p>
            <a:pPr algn="l" indent="0" marL="0">
              <a:lnSpc>
                <a:spcPts val="1100"/>
              </a:lnSpc>
              <a:buNone/>
            </a:pPr>
            <a:r>
              <a:rPr lang="en-US" sz="950" b="1" dirty="0">
                <a:solidFill>
                  <a:srgbClr val="FFFFFF"/>
                </a:solidFill>
                <a:latin typeface="Calibri" pitchFamily="34" charset="0"/>
                <a:ea typeface="Calibri" pitchFamily="34" charset="-122"/>
                <a:cs typeface="Calibri" pitchFamily="34" charset="-120"/>
              </a:rPr>
              <a:t>(EdgeShard, Galaxy, prima.cpp)</a:t>
            </a:r>
            <a:endParaRPr lang="en-US" sz="950" dirty="0"/>
          </a:p>
        </p:txBody>
      </p:sp>
      <p:sp>
        <p:nvSpPr>
          <p:cNvPr id="8" name="Text 6"/>
          <p:cNvSpPr/>
          <p:nvPr/>
        </p:nvSpPr>
        <p:spPr>
          <a:xfrm>
            <a:off x="7726680" y="1463040"/>
            <a:ext cx="1810512" cy="621792"/>
          </a:xfrm>
          <a:prstGeom prst="rect">
            <a:avLst/>
          </a:prstGeom>
          <a:noFill/>
          <a:ln/>
        </p:spPr>
        <p:txBody>
          <a:bodyPr wrap="square" lIns="0" tIns="0" rIns="0" bIns="0" rtlCol="0" anchor="ctr"/>
          <a:lstStyle/>
          <a:p>
            <a:pPr algn="l" indent="0" marL="0">
              <a:lnSpc>
                <a:spcPts val="1100"/>
              </a:lnSpc>
              <a:buNone/>
            </a:pPr>
            <a:r>
              <a:rPr lang="en-US" sz="950" b="1" dirty="0">
                <a:solidFill>
                  <a:srgbClr val="FFFFFF"/>
                </a:solidFill>
                <a:latin typeface="Calibri" pitchFamily="34" charset="0"/>
                <a:ea typeface="Calibri" pitchFamily="34" charset="-122"/>
                <a:cs typeface="Calibri" pitchFamily="34" charset="-120"/>
              </a:rPr>
              <a:t>Learned splitting</a:t>
            </a:r>
            <a:endParaRPr lang="en-US" sz="950" dirty="0"/>
          </a:p>
          <a:p>
            <a:pPr algn="l" indent="0" marL="0">
              <a:lnSpc>
                <a:spcPts val="1100"/>
              </a:lnSpc>
              <a:buNone/>
            </a:pPr>
            <a:r>
              <a:rPr lang="en-US" sz="950" b="1" dirty="0">
                <a:solidFill>
                  <a:srgbClr val="FFFFFF"/>
                </a:solidFill>
                <a:latin typeface="Calibri" pitchFamily="34" charset="0"/>
                <a:ea typeface="Calibri" pitchFamily="34" charset="-122"/>
                <a:cs typeface="Calibri" pitchFamily="34" charset="-120"/>
              </a:rPr>
              <a:t>(MBRL, head-level)</a:t>
            </a:r>
            <a:endParaRPr lang="en-US" sz="950" dirty="0"/>
          </a:p>
        </p:txBody>
      </p:sp>
      <p:sp>
        <p:nvSpPr>
          <p:cNvPr id="9" name="Text 7"/>
          <p:cNvSpPr/>
          <p:nvPr/>
        </p:nvSpPr>
        <p:spPr>
          <a:xfrm>
            <a:off x="9601200" y="1463040"/>
            <a:ext cx="2011680" cy="621792"/>
          </a:xfrm>
          <a:prstGeom prst="rect">
            <a:avLst/>
          </a:prstGeom>
          <a:noFill/>
          <a:ln/>
        </p:spPr>
        <p:txBody>
          <a:bodyPr wrap="square" lIns="0" tIns="0" rIns="0" bIns="0" rtlCol="0" anchor="ctr"/>
          <a:lstStyle/>
          <a:p>
            <a:pPr algn="l" indent="0" marL="0">
              <a:lnSpc>
                <a:spcPts val="1100"/>
              </a:lnSpc>
              <a:buNone/>
            </a:pPr>
            <a:r>
              <a:rPr lang="en-US" sz="950" b="1" dirty="0">
                <a:solidFill>
                  <a:srgbClr val="FFFFFF"/>
                </a:solidFill>
                <a:latin typeface="Calibri" pitchFamily="34" charset="0"/>
                <a:ea typeface="Calibri" pitchFamily="34" charset="-122"/>
                <a:cs typeface="Calibri" pitchFamily="34" charset="-120"/>
              </a:rPr>
              <a:t>KubeEdgeInfer</a:t>
            </a:r>
            <a:endParaRPr lang="en-US" sz="950" dirty="0"/>
          </a:p>
        </p:txBody>
      </p:sp>
      <p:sp>
        <p:nvSpPr>
          <p:cNvPr id="10" name="Shape 8"/>
          <p:cNvSpPr/>
          <p:nvPr/>
        </p:nvSpPr>
        <p:spPr>
          <a:xfrm>
            <a:off x="566928" y="2103120"/>
            <a:ext cx="11055096" cy="530352"/>
          </a:xfrm>
          <a:prstGeom prst="rect">
            <a:avLst/>
          </a:prstGeom>
          <a:solidFill>
            <a:srgbClr val="F7F8FA"/>
          </a:solidFill>
          <a:ln w="12700">
            <a:solidFill>
              <a:srgbClr val="333333"/>
            </a:solidFill>
            <a:prstDash val="solid"/>
          </a:ln>
        </p:spPr>
      </p:sp>
      <p:sp>
        <p:nvSpPr>
          <p:cNvPr id="11" name="Text 9"/>
          <p:cNvSpPr/>
          <p:nvPr/>
        </p:nvSpPr>
        <p:spPr>
          <a:xfrm>
            <a:off x="566928" y="2103120"/>
            <a:ext cx="3063240" cy="530352"/>
          </a:xfrm>
          <a:prstGeom prst="rect">
            <a:avLst/>
          </a:prstGeom>
          <a:noFill/>
          <a:ln/>
        </p:spPr>
        <p:txBody>
          <a:bodyPr wrap="square" lIns="0" tIns="0" rIns="0" bIns="0" rtlCol="0" anchor="ctr"/>
          <a:lstStyle/>
          <a:p>
            <a:pPr algn="l" indent="0" marL="0">
              <a:lnSpc>
                <a:spcPts val="1100"/>
              </a:lnSpc>
              <a:buNone/>
            </a:pPr>
            <a:r>
              <a:rPr lang="en-US" sz="1000" b="1" dirty="0">
                <a:solidFill>
                  <a:srgbClr val="141821"/>
                </a:solidFill>
                <a:latin typeface="Calibri" pitchFamily="34" charset="0"/>
                <a:ea typeface="Calibri" pitchFamily="34" charset="-122"/>
                <a:cs typeface="Calibri" pitchFamily="34" charset="-120"/>
              </a:rPr>
              <a:t>Handles machines of different speed</a:t>
            </a:r>
            <a:endParaRPr lang="en-US" sz="1000" dirty="0"/>
          </a:p>
        </p:txBody>
      </p:sp>
      <p:sp>
        <p:nvSpPr>
          <p:cNvPr id="12" name="Text 10"/>
          <p:cNvSpPr/>
          <p:nvPr/>
        </p:nvSpPr>
        <p:spPr>
          <a:xfrm>
            <a:off x="3703320" y="2103120"/>
            <a:ext cx="1481328" cy="530352"/>
          </a:xfrm>
          <a:prstGeom prst="rect">
            <a:avLst/>
          </a:prstGeom>
          <a:noFill/>
          <a:ln/>
        </p:spPr>
        <p:txBody>
          <a:bodyPr wrap="square" lIns="0" tIns="0" rIns="0" bIns="0" rtlCol="0" anchor="ctr"/>
          <a:lstStyle/>
          <a:p>
            <a:pPr algn="l" indent="0" marL="0">
              <a:lnSpc>
                <a:spcPts val="1100"/>
              </a:lnSpc>
              <a:buNone/>
            </a:pPr>
            <a:r>
              <a:rPr lang="en-US" sz="1000" dirty="0">
                <a:solidFill>
                  <a:srgbClr val="4A5264"/>
                </a:solidFill>
                <a:latin typeface="Calibri" pitchFamily="34" charset="0"/>
                <a:ea typeface="Calibri" pitchFamily="34" charset="-122"/>
                <a:cs typeface="Calibri" pitchFamily="34" charset="-120"/>
              </a:rPr>
              <a:t>yes</a:t>
            </a:r>
            <a:endParaRPr lang="en-US" sz="1000" dirty="0"/>
          </a:p>
        </p:txBody>
      </p:sp>
      <p:sp>
        <p:nvSpPr>
          <p:cNvPr id="13" name="Text 11"/>
          <p:cNvSpPr/>
          <p:nvPr/>
        </p:nvSpPr>
        <p:spPr>
          <a:xfrm>
            <a:off x="5257800" y="2103120"/>
            <a:ext cx="2377440" cy="530352"/>
          </a:xfrm>
          <a:prstGeom prst="rect">
            <a:avLst/>
          </a:prstGeom>
          <a:noFill/>
          <a:ln/>
        </p:spPr>
        <p:txBody>
          <a:bodyPr wrap="square" lIns="0" tIns="0" rIns="0" bIns="0" rtlCol="0" anchor="ctr"/>
          <a:lstStyle/>
          <a:p>
            <a:pPr algn="l" indent="0" marL="0">
              <a:lnSpc>
                <a:spcPts val="1100"/>
              </a:lnSpc>
              <a:buNone/>
            </a:pPr>
            <a:r>
              <a:rPr lang="en-US" sz="1000" dirty="0">
                <a:solidFill>
                  <a:srgbClr val="4A5264"/>
                </a:solidFill>
                <a:latin typeface="Calibri" pitchFamily="34" charset="0"/>
                <a:ea typeface="Calibri" pitchFamily="34" charset="-122"/>
                <a:cs typeface="Calibri" pitchFamily="34" charset="-120"/>
              </a:rPr>
              <a:t>yes</a:t>
            </a:r>
            <a:endParaRPr lang="en-US" sz="1000" dirty="0"/>
          </a:p>
        </p:txBody>
      </p:sp>
      <p:sp>
        <p:nvSpPr>
          <p:cNvPr id="14" name="Text 12"/>
          <p:cNvSpPr/>
          <p:nvPr/>
        </p:nvSpPr>
        <p:spPr>
          <a:xfrm>
            <a:off x="7726680" y="2103120"/>
            <a:ext cx="1810512" cy="530352"/>
          </a:xfrm>
          <a:prstGeom prst="rect">
            <a:avLst/>
          </a:prstGeom>
          <a:noFill/>
          <a:ln/>
        </p:spPr>
        <p:txBody>
          <a:bodyPr wrap="square" lIns="0" tIns="0" rIns="0" bIns="0" rtlCol="0" anchor="ctr"/>
          <a:lstStyle/>
          <a:p>
            <a:pPr algn="l" indent="0" marL="0">
              <a:lnSpc>
                <a:spcPts val="1100"/>
              </a:lnSpc>
              <a:buNone/>
            </a:pPr>
            <a:r>
              <a:rPr lang="en-US" sz="1000" dirty="0">
                <a:solidFill>
                  <a:srgbClr val="4A5264"/>
                </a:solidFill>
                <a:latin typeface="Calibri" pitchFamily="34" charset="0"/>
                <a:ea typeface="Calibri" pitchFamily="34" charset="-122"/>
                <a:cs typeface="Calibri" pitchFamily="34" charset="-120"/>
              </a:rPr>
              <a:t>yes</a:t>
            </a:r>
            <a:endParaRPr lang="en-US" sz="1000" dirty="0"/>
          </a:p>
        </p:txBody>
      </p:sp>
      <p:sp>
        <p:nvSpPr>
          <p:cNvPr id="15" name="Text 13"/>
          <p:cNvSpPr/>
          <p:nvPr/>
        </p:nvSpPr>
        <p:spPr>
          <a:xfrm>
            <a:off x="9601200" y="2103120"/>
            <a:ext cx="2011680" cy="530352"/>
          </a:xfrm>
          <a:prstGeom prst="rect">
            <a:avLst/>
          </a:prstGeom>
          <a:noFill/>
          <a:ln/>
        </p:spPr>
        <p:txBody>
          <a:bodyPr wrap="square" lIns="0" tIns="0" rIns="0" bIns="0" rtlCol="0" anchor="ctr"/>
          <a:lstStyle/>
          <a:p>
            <a:pPr algn="l" indent="0" marL="0">
              <a:lnSpc>
                <a:spcPts val="1100"/>
              </a:lnSpc>
              <a:buNone/>
            </a:pPr>
            <a:r>
              <a:rPr lang="en-US" sz="1000" b="1" dirty="0">
                <a:solidFill>
                  <a:srgbClr val="1F8A80"/>
                </a:solidFill>
                <a:latin typeface="Calibri" pitchFamily="34" charset="0"/>
                <a:ea typeface="Calibri" pitchFamily="34" charset="-122"/>
                <a:cs typeface="Calibri" pitchFamily="34" charset="-120"/>
              </a:rPr>
              <a:t>yes</a:t>
            </a:r>
            <a:endParaRPr lang="en-US" sz="1000" dirty="0"/>
          </a:p>
        </p:txBody>
      </p:sp>
      <p:sp>
        <p:nvSpPr>
          <p:cNvPr id="16" name="Text 14"/>
          <p:cNvSpPr/>
          <p:nvPr/>
        </p:nvSpPr>
        <p:spPr>
          <a:xfrm>
            <a:off x="566928" y="2670048"/>
            <a:ext cx="3063240" cy="530352"/>
          </a:xfrm>
          <a:prstGeom prst="rect">
            <a:avLst/>
          </a:prstGeom>
          <a:noFill/>
          <a:ln/>
        </p:spPr>
        <p:txBody>
          <a:bodyPr wrap="square" lIns="0" tIns="0" rIns="0" bIns="0" rtlCol="0" anchor="ctr"/>
          <a:lstStyle/>
          <a:p>
            <a:pPr algn="l" indent="0" marL="0">
              <a:lnSpc>
                <a:spcPts val="1100"/>
              </a:lnSpc>
              <a:buNone/>
            </a:pPr>
            <a:r>
              <a:rPr lang="en-US" sz="1000" b="1" dirty="0">
                <a:solidFill>
                  <a:srgbClr val="141821"/>
                </a:solidFill>
                <a:latin typeface="Calibri" pitchFamily="34" charset="0"/>
                <a:ea typeface="Calibri" pitchFamily="34" charset="-122"/>
                <a:cs typeface="Calibri" pitchFamily="34" charset="-120"/>
              </a:rPr>
              <a:t>Finds the best cut for the moment</a:t>
            </a:r>
            <a:endParaRPr lang="en-US" sz="1000" dirty="0"/>
          </a:p>
        </p:txBody>
      </p:sp>
      <p:sp>
        <p:nvSpPr>
          <p:cNvPr id="17" name="Text 15"/>
          <p:cNvSpPr/>
          <p:nvPr/>
        </p:nvSpPr>
        <p:spPr>
          <a:xfrm>
            <a:off x="3703320" y="2670048"/>
            <a:ext cx="1481328" cy="530352"/>
          </a:xfrm>
          <a:prstGeom prst="rect">
            <a:avLst/>
          </a:prstGeom>
          <a:noFill/>
          <a:ln/>
        </p:spPr>
        <p:txBody>
          <a:bodyPr wrap="square" lIns="0" tIns="0" rIns="0" bIns="0" rtlCol="0" anchor="ctr"/>
          <a:lstStyle/>
          <a:p>
            <a:pPr algn="l" indent="0" marL="0">
              <a:lnSpc>
                <a:spcPts val="1100"/>
              </a:lnSpc>
              <a:buNone/>
            </a:pPr>
            <a:r>
              <a:rPr lang="en-US" sz="1000" dirty="0">
                <a:solidFill>
                  <a:srgbClr val="4A5264"/>
                </a:solidFill>
                <a:latin typeface="Calibri" pitchFamily="34" charset="0"/>
                <a:ea typeface="Calibri" pitchFamily="34" charset="-122"/>
                <a:cs typeface="Calibri" pitchFamily="34" charset="-120"/>
              </a:rPr>
              <a:t>yes, heavy solver</a:t>
            </a:r>
            <a:endParaRPr lang="en-US" sz="1000" dirty="0"/>
          </a:p>
        </p:txBody>
      </p:sp>
      <p:sp>
        <p:nvSpPr>
          <p:cNvPr id="18" name="Text 16"/>
          <p:cNvSpPr/>
          <p:nvPr/>
        </p:nvSpPr>
        <p:spPr>
          <a:xfrm>
            <a:off x="5257800" y="2670048"/>
            <a:ext cx="2377440" cy="530352"/>
          </a:xfrm>
          <a:prstGeom prst="rect">
            <a:avLst/>
          </a:prstGeom>
          <a:noFill/>
          <a:ln/>
        </p:spPr>
        <p:txBody>
          <a:bodyPr wrap="square" lIns="0" tIns="0" rIns="0" bIns="0" rtlCol="0" anchor="ctr"/>
          <a:lstStyle/>
          <a:p>
            <a:pPr algn="l" indent="0" marL="0">
              <a:lnSpc>
                <a:spcPts val="1100"/>
              </a:lnSpc>
              <a:buNone/>
            </a:pPr>
            <a:r>
              <a:rPr lang="en-US" sz="1000" dirty="0">
                <a:solidFill>
                  <a:srgbClr val="4A5264"/>
                </a:solidFill>
                <a:latin typeface="Calibri" pitchFamily="34" charset="0"/>
                <a:ea typeface="Calibri" pitchFamily="34" charset="-122"/>
                <a:cs typeface="Calibri" pitchFamily="34" charset="-120"/>
              </a:rPr>
              <a:t>yes</a:t>
            </a:r>
            <a:endParaRPr lang="en-US" sz="1000" dirty="0"/>
          </a:p>
        </p:txBody>
      </p:sp>
      <p:sp>
        <p:nvSpPr>
          <p:cNvPr id="19" name="Text 17"/>
          <p:cNvSpPr/>
          <p:nvPr/>
        </p:nvSpPr>
        <p:spPr>
          <a:xfrm>
            <a:off x="7726680" y="2670048"/>
            <a:ext cx="1810512" cy="530352"/>
          </a:xfrm>
          <a:prstGeom prst="rect">
            <a:avLst/>
          </a:prstGeom>
          <a:noFill/>
          <a:ln/>
        </p:spPr>
        <p:txBody>
          <a:bodyPr wrap="square" lIns="0" tIns="0" rIns="0" bIns="0" rtlCol="0" anchor="ctr"/>
          <a:lstStyle/>
          <a:p>
            <a:pPr algn="l" indent="0" marL="0">
              <a:lnSpc>
                <a:spcPts val="1100"/>
              </a:lnSpc>
              <a:buNone/>
            </a:pPr>
            <a:r>
              <a:rPr lang="en-US" sz="1000" dirty="0">
                <a:solidFill>
                  <a:srgbClr val="4A5264"/>
                </a:solidFill>
                <a:latin typeface="Calibri" pitchFamily="34" charset="0"/>
                <a:ea typeface="Calibri" pitchFamily="34" charset="-122"/>
                <a:cs typeface="Calibri" pitchFamily="34" charset="-120"/>
              </a:rPr>
              <a:t>no (learned or rule of thumb)</a:t>
            </a:r>
            <a:endParaRPr lang="en-US" sz="1000" dirty="0"/>
          </a:p>
        </p:txBody>
      </p:sp>
      <p:sp>
        <p:nvSpPr>
          <p:cNvPr id="20" name="Text 18"/>
          <p:cNvSpPr/>
          <p:nvPr/>
        </p:nvSpPr>
        <p:spPr>
          <a:xfrm>
            <a:off x="9601200" y="2670048"/>
            <a:ext cx="2011680" cy="530352"/>
          </a:xfrm>
          <a:prstGeom prst="rect">
            <a:avLst/>
          </a:prstGeom>
          <a:noFill/>
          <a:ln/>
        </p:spPr>
        <p:txBody>
          <a:bodyPr wrap="square" lIns="0" tIns="0" rIns="0" bIns="0" rtlCol="0" anchor="ctr"/>
          <a:lstStyle/>
          <a:p>
            <a:pPr algn="l" indent="0" marL="0">
              <a:lnSpc>
                <a:spcPts val="1100"/>
              </a:lnSpc>
              <a:buNone/>
            </a:pPr>
            <a:r>
              <a:rPr lang="en-US" sz="1000" b="1" dirty="0">
                <a:solidFill>
                  <a:srgbClr val="1F8A80"/>
                </a:solidFill>
                <a:latin typeface="Calibri" pitchFamily="34" charset="0"/>
                <a:ea typeface="Calibri" pitchFamily="34" charset="-122"/>
                <a:cs typeface="Calibri" pitchFamily="34" charset="-120"/>
              </a:rPr>
              <a:t>yes, checked against brute force</a:t>
            </a:r>
            <a:endParaRPr lang="en-US" sz="1000" dirty="0"/>
          </a:p>
        </p:txBody>
      </p:sp>
      <p:sp>
        <p:nvSpPr>
          <p:cNvPr id="21" name="Shape 19"/>
          <p:cNvSpPr/>
          <p:nvPr/>
        </p:nvSpPr>
        <p:spPr>
          <a:xfrm>
            <a:off x="566928" y="3236976"/>
            <a:ext cx="11055096" cy="530352"/>
          </a:xfrm>
          <a:prstGeom prst="rect">
            <a:avLst/>
          </a:prstGeom>
          <a:solidFill>
            <a:srgbClr val="F7F8FA"/>
          </a:solidFill>
          <a:ln w="12700">
            <a:solidFill>
              <a:srgbClr val="333333"/>
            </a:solidFill>
            <a:prstDash val="solid"/>
          </a:ln>
        </p:spPr>
      </p:sp>
      <p:sp>
        <p:nvSpPr>
          <p:cNvPr id="22" name="Text 20"/>
          <p:cNvSpPr/>
          <p:nvPr/>
        </p:nvSpPr>
        <p:spPr>
          <a:xfrm>
            <a:off x="566928" y="3236976"/>
            <a:ext cx="3063240" cy="530352"/>
          </a:xfrm>
          <a:prstGeom prst="rect">
            <a:avLst/>
          </a:prstGeom>
          <a:noFill/>
          <a:ln/>
        </p:spPr>
        <p:txBody>
          <a:bodyPr wrap="square" lIns="0" tIns="0" rIns="0" bIns="0" rtlCol="0" anchor="ctr"/>
          <a:lstStyle/>
          <a:p>
            <a:pPr algn="l" indent="0" marL="0">
              <a:lnSpc>
                <a:spcPts val="1100"/>
              </a:lnSpc>
              <a:buNone/>
            </a:pPr>
            <a:r>
              <a:rPr lang="en-US" sz="1000" b="1" dirty="0">
                <a:solidFill>
                  <a:srgbClr val="141821"/>
                </a:solidFill>
                <a:latin typeface="Calibri" pitchFamily="34" charset="0"/>
                <a:ea typeface="Calibri" pitchFamily="34" charset="-122"/>
                <a:cs typeface="Calibri" pitchFamily="34" charset="-120"/>
              </a:rPr>
              <a:t>Changes the cut while running</a:t>
            </a:r>
            <a:endParaRPr lang="en-US" sz="1000" dirty="0"/>
          </a:p>
        </p:txBody>
      </p:sp>
      <p:sp>
        <p:nvSpPr>
          <p:cNvPr id="23" name="Text 21"/>
          <p:cNvSpPr/>
          <p:nvPr/>
        </p:nvSpPr>
        <p:spPr>
          <a:xfrm>
            <a:off x="3703320" y="3236976"/>
            <a:ext cx="1481328" cy="530352"/>
          </a:xfrm>
          <a:prstGeom prst="rect">
            <a:avLst/>
          </a:prstGeom>
          <a:noFill/>
          <a:ln/>
        </p:spPr>
        <p:txBody>
          <a:bodyPr wrap="square" lIns="0" tIns="0" rIns="0" bIns="0" rtlCol="0" anchor="ctr"/>
          <a:lstStyle/>
          <a:p>
            <a:pPr algn="l" indent="0" marL="0">
              <a:lnSpc>
                <a:spcPts val="1100"/>
              </a:lnSpc>
              <a:buNone/>
            </a:pPr>
            <a:r>
              <a:rPr lang="en-US" sz="1000" dirty="0">
                <a:solidFill>
                  <a:srgbClr val="4A5264"/>
                </a:solidFill>
                <a:latin typeface="Calibri" pitchFamily="34" charset="0"/>
                <a:ea typeface="Calibri" pitchFamily="34" charset="-122"/>
                <a:cs typeface="Calibri" pitchFamily="34" charset="-120"/>
              </a:rPr>
              <a:t>only where requests go</a:t>
            </a:r>
            <a:endParaRPr lang="en-US" sz="1000" dirty="0"/>
          </a:p>
        </p:txBody>
      </p:sp>
      <p:sp>
        <p:nvSpPr>
          <p:cNvPr id="24" name="Text 22"/>
          <p:cNvSpPr/>
          <p:nvPr/>
        </p:nvSpPr>
        <p:spPr>
          <a:xfrm>
            <a:off x="5257800" y="3236976"/>
            <a:ext cx="2377440" cy="530352"/>
          </a:xfrm>
          <a:prstGeom prst="rect">
            <a:avLst/>
          </a:prstGeom>
          <a:noFill/>
          <a:ln/>
        </p:spPr>
        <p:txBody>
          <a:bodyPr wrap="square" lIns="0" tIns="0" rIns="0" bIns="0" rtlCol="0" anchor="ctr"/>
          <a:lstStyle/>
          <a:p>
            <a:pPr algn="l" indent="0" marL="0">
              <a:lnSpc>
                <a:spcPts val="1100"/>
              </a:lnSpc>
              <a:buNone/>
            </a:pPr>
            <a:r>
              <a:rPr lang="en-US" sz="1000" dirty="0">
                <a:solidFill>
                  <a:srgbClr val="4A5264"/>
                </a:solidFill>
                <a:latin typeface="Calibri" pitchFamily="34" charset="0"/>
                <a:ea typeface="Calibri" pitchFamily="34" charset="-122"/>
                <a:cs typeface="Calibri" pitchFamily="34" charset="-120"/>
              </a:rPr>
              <a:t>no</a:t>
            </a:r>
            <a:endParaRPr lang="en-US" sz="1000" dirty="0"/>
          </a:p>
        </p:txBody>
      </p:sp>
      <p:sp>
        <p:nvSpPr>
          <p:cNvPr id="25" name="Text 23"/>
          <p:cNvSpPr/>
          <p:nvPr/>
        </p:nvSpPr>
        <p:spPr>
          <a:xfrm>
            <a:off x="7726680" y="3236976"/>
            <a:ext cx="1810512" cy="530352"/>
          </a:xfrm>
          <a:prstGeom prst="rect">
            <a:avLst/>
          </a:prstGeom>
          <a:noFill/>
          <a:ln/>
        </p:spPr>
        <p:txBody>
          <a:bodyPr wrap="square" lIns="0" tIns="0" rIns="0" bIns="0" rtlCol="0" anchor="ctr"/>
          <a:lstStyle/>
          <a:p>
            <a:pPr algn="l" indent="0" marL="0">
              <a:lnSpc>
                <a:spcPts val="1100"/>
              </a:lnSpc>
              <a:buNone/>
            </a:pPr>
            <a:r>
              <a:rPr lang="en-US" sz="1000" dirty="0">
                <a:solidFill>
                  <a:srgbClr val="4A5264"/>
                </a:solidFill>
                <a:latin typeface="Calibri" pitchFamily="34" charset="0"/>
                <a:ea typeface="Calibri" pitchFamily="34" charset="-122"/>
                <a:cs typeface="Calibri" pitchFamily="34" charset="-120"/>
              </a:rPr>
              <a:t>yes</a:t>
            </a:r>
            <a:endParaRPr lang="en-US" sz="1000" dirty="0"/>
          </a:p>
        </p:txBody>
      </p:sp>
      <p:sp>
        <p:nvSpPr>
          <p:cNvPr id="26" name="Text 24"/>
          <p:cNvSpPr/>
          <p:nvPr/>
        </p:nvSpPr>
        <p:spPr>
          <a:xfrm>
            <a:off x="9601200" y="3236976"/>
            <a:ext cx="2011680" cy="530352"/>
          </a:xfrm>
          <a:prstGeom prst="rect">
            <a:avLst/>
          </a:prstGeom>
          <a:noFill/>
          <a:ln/>
        </p:spPr>
        <p:txBody>
          <a:bodyPr wrap="square" lIns="0" tIns="0" rIns="0" bIns="0" rtlCol="0" anchor="ctr"/>
          <a:lstStyle/>
          <a:p>
            <a:pPr algn="l" indent="0" marL="0">
              <a:lnSpc>
                <a:spcPts val="1100"/>
              </a:lnSpc>
              <a:buNone/>
            </a:pPr>
            <a:r>
              <a:rPr lang="en-US" sz="1000" b="1" dirty="0">
                <a:solidFill>
                  <a:srgbClr val="1F8A80"/>
                </a:solidFill>
                <a:latin typeface="Calibri" pitchFamily="34" charset="0"/>
                <a:ea typeface="Calibri" pitchFamily="34" charset="-122"/>
                <a:cs typeface="Calibri" pitchFamily="34" charset="-120"/>
              </a:rPr>
              <a:t>yes, every 2 seconds</a:t>
            </a:r>
            <a:endParaRPr lang="en-US" sz="1000" dirty="0"/>
          </a:p>
        </p:txBody>
      </p:sp>
      <p:sp>
        <p:nvSpPr>
          <p:cNvPr id="27" name="Text 25"/>
          <p:cNvSpPr/>
          <p:nvPr/>
        </p:nvSpPr>
        <p:spPr>
          <a:xfrm>
            <a:off x="566928" y="3803904"/>
            <a:ext cx="3063240" cy="530352"/>
          </a:xfrm>
          <a:prstGeom prst="rect">
            <a:avLst/>
          </a:prstGeom>
          <a:noFill/>
          <a:ln/>
        </p:spPr>
        <p:txBody>
          <a:bodyPr wrap="square" lIns="0" tIns="0" rIns="0" bIns="0" rtlCol="0" anchor="ctr"/>
          <a:lstStyle/>
          <a:p>
            <a:pPr algn="l" indent="0" marL="0">
              <a:lnSpc>
                <a:spcPts val="1100"/>
              </a:lnSpc>
              <a:buNone/>
            </a:pPr>
            <a:r>
              <a:rPr lang="en-US" sz="1000" b="1" dirty="0">
                <a:solidFill>
                  <a:srgbClr val="141821"/>
                </a:solidFill>
                <a:latin typeface="Calibri" pitchFamily="34" charset="0"/>
                <a:ea typeface="Calibri" pitchFamily="34" charset="-122"/>
                <a:cs typeface="Calibri" pitchFamily="34" charset="-120"/>
              </a:rPr>
              <a:t>Measures the network in the kernel</a:t>
            </a:r>
            <a:endParaRPr lang="en-US" sz="1000" dirty="0"/>
          </a:p>
        </p:txBody>
      </p:sp>
      <p:sp>
        <p:nvSpPr>
          <p:cNvPr id="28" name="Text 26"/>
          <p:cNvSpPr/>
          <p:nvPr/>
        </p:nvSpPr>
        <p:spPr>
          <a:xfrm>
            <a:off x="3703320" y="3803904"/>
            <a:ext cx="1481328" cy="530352"/>
          </a:xfrm>
          <a:prstGeom prst="rect">
            <a:avLst/>
          </a:prstGeom>
          <a:noFill/>
          <a:ln/>
        </p:spPr>
        <p:txBody>
          <a:bodyPr wrap="square" lIns="0" tIns="0" rIns="0" bIns="0" rtlCol="0" anchor="ctr"/>
          <a:lstStyle/>
          <a:p>
            <a:pPr algn="l" indent="0" marL="0">
              <a:lnSpc>
                <a:spcPts val="1100"/>
              </a:lnSpc>
              <a:buNone/>
            </a:pPr>
            <a:r>
              <a:rPr lang="en-US" sz="1000" dirty="0">
                <a:solidFill>
                  <a:srgbClr val="4A5264"/>
                </a:solidFill>
                <a:latin typeface="Calibri" pitchFamily="34" charset="0"/>
                <a:ea typeface="Calibri" pitchFamily="34" charset="-122"/>
                <a:cs typeface="Calibri" pitchFamily="34" charset="-120"/>
              </a:rPr>
              <a:t>no</a:t>
            </a:r>
            <a:endParaRPr lang="en-US" sz="1000" dirty="0"/>
          </a:p>
        </p:txBody>
      </p:sp>
      <p:sp>
        <p:nvSpPr>
          <p:cNvPr id="29" name="Text 27"/>
          <p:cNvSpPr/>
          <p:nvPr/>
        </p:nvSpPr>
        <p:spPr>
          <a:xfrm>
            <a:off x="5257800" y="3803904"/>
            <a:ext cx="2377440" cy="530352"/>
          </a:xfrm>
          <a:prstGeom prst="rect">
            <a:avLst/>
          </a:prstGeom>
          <a:noFill/>
          <a:ln/>
        </p:spPr>
        <p:txBody>
          <a:bodyPr wrap="square" lIns="0" tIns="0" rIns="0" bIns="0" rtlCol="0" anchor="ctr"/>
          <a:lstStyle/>
          <a:p>
            <a:pPr algn="l" indent="0" marL="0">
              <a:lnSpc>
                <a:spcPts val="1100"/>
              </a:lnSpc>
              <a:buNone/>
            </a:pPr>
            <a:r>
              <a:rPr lang="en-US" sz="1000" dirty="0">
                <a:solidFill>
                  <a:srgbClr val="4A5264"/>
                </a:solidFill>
                <a:latin typeface="Calibri" pitchFamily="34" charset="0"/>
                <a:ea typeface="Calibri" pitchFamily="34" charset="-122"/>
                <a:cs typeface="Calibri" pitchFamily="34" charset="-120"/>
              </a:rPr>
              <a:t>app-level timers</a:t>
            </a:r>
            <a:endParaRPr lang="en-US" sz="1000" dirty="0"/>
          </a:p>
        </p:txBody>
      </p:sp>
      <p:sp>
        <p:nvSpPr>
          <p:cNvPr id="30" name="Text 28"/>
          <p:cNvSpPr/>
          <p:nvPr/>
        </p:nvSpPr>
        <p:spPr>
          <a:xfrm>
            <a:off x="7726680" y="3803904"/>
            <a:ext cx="1810512" cy="530352"/>
          </a:xfrm>
          <a:prstGeom prst="rect">
            <a:avLst/>
          </a:prstGeom>
          <a:noFill/>
          <a:ln/>
        </p:spPr>
        <p:txBody>
          <a:bodyPr wrap="square" lIns="0" tIns="0" rIns="0" bIns="0" rtlCol="0" anchor="ctr"/>
          <a:lstStyle/>
          <a:p>
            <a:pPr algn="l" indent="0" marL="0">
              <a:lnSpc>
                <a:spcPts val="1100"/>
              </a:lnSpc>
              <a:buNone/>
            </a:pPr>
            <a:r>
              <a:rPr lang="en-US" sz="1000" dirty="0">
                <a:solidFill>
                  <a:srgbClr val="4A5264"/>
                </a:solidFill>
                <a:latin typeface="Calibri" pitchFamily="34" charset="0"/>
                <a:ea typeface="Calibri" pitchFamily="34" charset="-122"/>
                <a:cs typeface="Calibri" pitchFamily="34" charset="-120"/>
              </a:rPr>
              <a:t>signal estimate</a:t>
            </a:r>
            <a:endParaRPr lang="en-US" sz="1000" dirty="0"/>
          </a:p>
        </p:txBody>
      </p:sp>
      <p:sp>
        <p:nvSpPr>
          <p:cNvPr id="31" name="Text 29"/>
          <p:cNvSpPr/>
          <p:nvPr/>
        </p:nvSpPr>
        <p:spPr>
          <a:xfrm>
            <a:off x="9601200" y="3803904"/>
            <a:ext cx="2011680" cy="530352"/>
          </a:xfrm>
          <a:prstGeom prst="rect">
            <a:avLst/>
          </a:prstGeom>
          <a:noFill/>
          <a:ln/>
        </p:spPr>
        <p:txBody>
          <a:bodyPr wrap="square" lIns="0" tIns="0" rIns="0" bIns="0" rtlCol="0" anchor="ctr"/>
          <a:lstStyle/>
          <a:p>
            <a:pPr algn="l" indent="0" marL="0">
              <a:lnSpc>
                <a:spcPts val="1100"/>
              </a:lnSpc>
              <a:buNone/>
            </a:pPr>
            <a:r>
              <a:rPr lang="en-US" sz="1000" b="1" dirty="0">
                <a:solidFill>
                  <a:srgbClr val="1F8A80"/>
                </a:solidFill>
                <a:latin typeface="Calibri" pitchFamily="34" charset="0"/>
                <a:ea typeface="Calibri" pitchFamily="34" charset="-122"/>
                <a:cs typeface="Calibri" pitchFamily="34" charset="-120"/>
              </a:rPr>
              <a:t>yes, reads TCP directly</a:t>
            </a:r>
            <a:endParaRPr lang="en-US" sz="1000" dirty="0"/>
          </a:p>
        </p:txBody>
      </p:sp>
      <p:sp>
        <p:nvSpPr>
          <p:cNvPr id="32" name="Shape 30"/>
          <p:cNvSpPr/>
          <p:nvPr/>
        </p:nvSpPr>
        <p:spPr>
          <a:xfrm>
            <a:off x="566928" y="4370832"/>
            <a:ext cx="11055096" cy="530352"/>
          </a:xfrm>
          <a:prstGeom prst="rect">
            <a:avLst/>
          </a:prstGeom>
          <a:solidFill>
            <a:srgbClr val="F7F8FA"/>
          </a:solidFill>
          <a:ln w="12700">
            <a:solidFill>
              <a:srgbClr val="333333"/>
            </a:solidFill>
            <a:prstDash val="solid"/>
          </a:ln>
        </p:spPr>
      </p:sp>
      <p:sp>
        <p:nvSpPr>
          <p:cNvPr id="33" name="Text 31"/>
          <p:cNvSpPr/>
          <p:nvPr/>
        </p:nvSpPr>
        <p:spPr>
          <a:xfrm>
            <a:off x="566928" y="4370832"/>
            <a:ext cx="3063240" cy="530352"/>
          </a:xfrm>
          <a:prstGeom prst="rect">
            <a:avLst/>
          </a:prstGeom>
          <a:noFill/>
          <a:ln/>
        </p:spPr>
        <p:txBody>
          <a:bodyPr wrap="square" lIns="0" tIns="0" rIns="0" bIns="0" rtlCol="0" anchor="ctr"/>
          <a:lstStyle/>
          <a:p>
            <a:pPr algn="l" indent="0" marL="0">
              <a:lnSpc>
                <a:spcPts val="1100"/>
              </a:lnSpc>
              <a:buNone/>
            </a:pPr>
            <a:r>
              <a:rPr lang="en-US" sz="1000" b="1" dirty="0">
                <a:solidFill>
                  <a:srgbClr val="141821"/>
                </a:solidFill>
                <a:latin typeface="Calibri" pitchFamily="34" charset="0"/>
                <a:ea typeface="Calibri" pitchFamily="34" charset="-122"/>
                <a:cs typeface="Calibri" pitchFamily="34" charset="-120"/>
              </a:rPr>
              <a:t>Knows when a machine gets hot</a:t>
            </a:r>
            <a:endParaRPr lang="en-US" sz="1000" dirty="0"/>
          </a:p>
        </p:txBody>
      </p:sp>
      <p:sp>
        <p:nvSpPr>
          <p:cNvPr id="34" name="Text 32"/>
          <p:cNvSpPr/>
          <p:nvPr/>
        </p:nvSpPr>
        <p:spPr>
          <a:xfrm>
            <a:off x="3703320" y="4370832"/>
            <a:ext cx="1481328" cy="530352"/>
          </a:xfrm>
          <a:prstGeom prst="rect">
            <a:avLst/>
          </a:prstGeom>
          <a:noFill/>
          <a:ln/>
        </p:spPr>
        <p:txBody>
          <a:bodyPr wrap="square" lIns="0" tIns="0" rIns="0" bIns="0" rtlCol="0" anchor="ctr"/>
          <a:lstStyle/>
          <a:p>
            <a:pPr algn="l" indent="0" marL="0">
              <a:lnSpc>
                <a:spcPts val="1100"/>
              </a:lnSpc>
              <a:buNone/>
            </a:pPr>
            <a:r>
              <a:rPr lang="en-US" sz="1000" dirty="0">
                <a:solidFill>
                  <a:srgbClr val="4A5264"/>
                </a:solidFill>
                <a:latin typeface="Calibri" pitchFamily="34" charset="0"/>
                <a:ea typeface="Calibri" pitchFamily="34" charset="-122"/>
                <a:cs typeface="Calibri" pitchFamily="34" charset="-120"/>
              </a:rPr>
              <a:t>no</a:t>
            </a:r>
            <a:endParaRPr lang="en-US" sz="1000" dirty="0"/>
          </a:p>
        </p:txBody>
      </p:sp>
      <p:sp>
        <p:nvSpPr>
          <p:cNvPr id="35" name="Text 33"/>
          <p:cNvSpPr/>
          <p:nvPr/>
        </p:nvSpPr>
        <p:spPr>
          <a:xfrm>
            <a:off x="5257800" y="4370832"/>
            <a:ext cx="2377440" cy="530352"/>
          </a:xfrm>
          <a:prstGeom prst="rect">
            <a:avLst/>
          </a:prstGeom>
          <a:noFill/>
          <a:ln/>
        </p:spPr>
        <p:txBody>
          <a:bodyPr wrap="square" lIns="0" tIns="0" rIns="0" bIns="0" rtlCol="0" anchor="ctr"/>
          <a:lstStyle/>
          <a:p>
            <a:pPr algn="l" indent="0" marL="0">
              <a:lnSpc>
                <a:spcPts val="1100"/>
              </a:lnSpc>
              <a:buNone/>
            </a:pPr>
            <a:r>
              <a:rPr lang="en-US" sz="1000" dirty="0">
                <a:solidFill>
                  <a:srgbClr val="4A5264"/>
                </a:solidFill>
                <a:latin typeface="Calibri" pitchFamily="34" charset="0"/>
                <a:ea typeface="Calibri" pitchFamily="34" charset="-122"/>
                <a:cs typeface="Calibri" pitchFamily="34" charset="-120"/>
              </a:rPr>
              <a:t>no</a:t>
            </a:r>
            <a:endParaRPr lang="en-US" sz="1000" dirty="0"/>
          </a:p>
        </p:txBody>
      </p:sp>
      <p:sp>
        <p:nvSpPr>
          <p:cNvPr id="36" name="Text 34"/>
          <p:cNvSpPr/>
          <p:nvPr/>
        </p:nvSpPr>
        <p:spPr>
          <a:xfrm>
            <a:off x="7726680" y="4370832"/>
            <a:ext cx="1810512" cy="530352"/>
          </a:xfrm>
          <a:prstGeom prst="rect">
            <a:avLst/>
          </a:prstGeom>
          <a:noFill/>
          <a:ln/>
        </p:spPr>
        <p:txBody>
          <a:bodyPr wrap="square" lIns="0" tIns="0" rIns="0" bIns="0" rtlCol="0" anchor="ctr"/>
          <a:lstStyle/>
          <a:p>
            <a:pPr algn="l" indent="0" marL="0">
              <a:lnSpc>
                <a:spcPts val="1100"/>
              </a:lnSpc>
              <a:buNone/>
            </a:pPr>
            <a:r>
              <a:rPr lang="en-US" sz="1000" dirty="0">
                <a:solidFill>
                  <a:srgbClr val="4A5264"/>
                </a:solidFill>
                <a:latin typeface="Calibri" pitchFamily="34" charset="0"/>
                <a:ea typeface="Calibri" pitchFamily="34" charset="-122"/>
                <a:cs typeface="Calibri" pitchFamily="34" charset="-120"/>
              </a:rPr>
              <a:t>no</a:t>
            </a:r>
            <a:endParaRPr lang="en-US" sz="1000" dirty="0"/>
          </a:p>
        </p:txBody>
      </p:sp>
      <p:sp>
        <p:nvSpPr>
          <p:cNvPr id="37" name="Text 35"/>
          <p:cNvSpPr/>
          <p:nvPr/>
        </p:nvSpPr>
        <p:spPr>
          <a:xfrm>
            <a:off x="9601200" y="4370832"/>
            <a:ext cx="2011680" cy="530352"/>
          </a:xfrm>
          <a:prstGeom prst="rect">
            <a:avLst/>
          </a:prstGeom>
          <a:noFill/>
          <a:ln/>
        </p:spPr>
        <p:txBody>
          <a:bodyPr wrap="square" lIns="0" tIns="0" rIns="0" bIns="0" rtlCol="0" anchor="ctr"/>
          <a:lstStyle/>
          <a:p>
            <a:pPr algn="l" indent="0" marL="0">
              <a:lnSpc>
                <a:spcPts val="1100"/>
              </a:lnSpc>
              <a:buNone/>
            </a:pPr>
            <a:r>
              <a:rPr lang="en-US" sz="1000" b="1" dirty="0">
                <a:solidFill>
                  <a:srgbClr val="1F8A80"/>
                </a:solidFill>
                <a:latin typeface="Calibri" pitchFamily="34" charset="0"/>
                <a:ea typeface="Calibri" pitchFamily="34" charset="-122"/>
                <a:cs typeface="Calibri" pitchFamily="34" charset="-120"/>
              </a:rPr>
              <a:t>yes, reads GPU and CPU heat</a:t>
            </a:r>
            <a:endParaRPr lang="en-US" sz="1000" dirty="0"/>
          </a:p>
        </p:txBody>
      </p:sp>
      <p:sp>
        <p:nvSpPr>
          <p:cNvPr id="38" name="Text 36"/>
          <p:cNvSpPr/>
          <p:nvPr/>
        </p:nvSpPr>
        <p:spPr>
          <a:xfrm>
            <a:off x="566928" y="4937760"/>
            <a:ext cx="3063240" cy="530352"/>
          </a:xfrm>
          <a:prstGeom prst="rect">
            <a:avLst/>
          </a:prstGeom>
          <a:noFill/>
          <a:ln/>
        </p:spPr>
        <p:txBody>
          <a:bodyPr wrap="square" lIns="0" tIns="0" rIns="0" bIns="0" rtlCol="0" anchor="ctr"/>
          <a:lstStyle/>
          <a:p>
            <a:pPr algn="l" indent="0" marL="0">
              <a:lnSpc>
                <a:spcPts val="1100"/>
              </a:lnSpc>
              <a:buNone/>
            </a:pPr>
            <a:r>
              <a:rPr lang="en-US" sz="1000" b="1" dirty="0">
                <a:solidFill>
                  <a:srgbClr val="141821"/>
                </a:solidFill>
                <a:latin typeface="Calibri" pitchFamily="34" charset="0"/>
                <a:ea typeface="Calibri" pitchFamily="34" charset="-122"/>
                <a:cs typeface="Calibri" pitchFamily="34" charset="-120"/>
              </a:rPr>
              <a:t>Survives a machine dying</a:t>
            </a:r>
            <a:endParaRPr lang="en-US" sz="1000" dirty="0"/>
          </a:p>
        </p:txBody>
      </p:sp>
      <p:sp>
        <p:nvSpPr>
          <p:cNvPr id="39" name="Text 37"/>
          <p:cNvSpPr/>
          <p:nvPr/>
        </p:nvSpPr>
        <p:spPr>
          <a:xfrm>
            <a:off x="3703320" y="4937760"/>
            <a:ext cx="1481328" cy="530352"/>
          </a:xfrm>
          <a:prstGeom prst="rect">
            <a:avLst/>
          </a:prstGeom>
          <a:noFill/>
          <a:ln/>
        </p:spPr>
        <p:txBody>
          <a:bodyPr wrap="square" lIns="0" tIns="0" rIns="0" bIns="0" rtlCol="0" anchor="ctr"/>
          <a:lstStyle/>
          <a:p>
            <a:pPr algn="l" indent="0" marL="0">
              <a:lnSpc>
                <a:spcPts val="1100"/>
              </a:lnSpc>
              <a:buNone/>
            </a:pPr>
            <a:r>
              <a:rPr lang="en-US" sz="1000" dirty="0">
                <a:solidFill>
                  <a:srgbClr val="4A5264"/>
                </a:solidFill>
                <a:latin typeface="Calibri" pitchFamily="34" charset="0"/>
                <a:ea typeface="Calibri" pitchFamily="34" charset="-122"/>
                <a:cs typeface="Calibri" pitchFamily="34" charset="-120"/>
              </a:rPr>
              <a:t>by keeping copies</a:t>
            </a:r>
            <a:endParaRPr lang="en-US" sz="1000" dirty="0"/>
          </a:p>
        </p:txBody>
      </p:sp>
      <p:sp>
        <p:nvSpPr>
          <p:cNvPr id="40" name="Text 38"/>
          <p:cNvSpPr/>
          <p:nvPr/>
        </p:nvSpPr>
        <p:spPr>
          <a:xfrm>
            <a:off x="5257800" y="4937760"/>
            <a:ext cx="2377440" cy="530352"/>
          </a:xfrm>
          <a:prstGeom prst="rect">
            <a:avLst/>
          </a:prstGeom>
          <a:noFill/>
          <a:ln/>
        </p:spPr>
        <p:txBody>
          <a:bodyPr wrap="square" lIns="0" tIns="0" rIns="0" bIns="0" rtlCol="0" anchor="ctr"/>
          <a:lstStyle/>
          <a:p>
            <a:pPr algn="l" indent="0" marL="0">
              <a:lnSpc>
                <a:spcPts val="1100"/>
              </a:lnSpc>
              <a:buNone/>
            </a:pPr>
            <a:r>
              <a:rPr lang="en-US" sz="1000" dirty="0">
                <a:solidFill>
                  <a:srgbClr val="4A5264"/>
                </a:solidFill>
                <a:latin typeface="Calibri" pitchFamily="34" charset="0"/>
                <a:ea typeface="Calibri" pitchFamily="34" charset="-122"/>
                <a:cs typeface="Calibri" pitchFamily="34" charset="-120"/>
              </a:rPr>
              <a:t>no</a:t>
            </a:r>
            <a:endParaRPr lang="en-US" sz="1000" dirty="0"/>
          </a:p>
        </p:txBody>
      </p:sp>
      <p:sp>
        <p:nvSpPr>
          <p:cNvPr id="41" name="Text 39"/>
          <p:cNvSpPr/>
          <p:nvPr/>
        </p:nvSpPr>
        <p:spPr>
          <a:xfrm>
            <a:off x="7726680" y="4937760"/>
            <a:ext cx="1810512" cy="530352"/>
          </a:xfrm>
          <a:prstGeom prst="rect">
            <a:avLst/>
          </a:prstGeom>
          <a:noFill/>
          <a:ln/>
        </p:spPr>
        <p:txBody>
          <a:bodyPr wrap="square" lIns="0" tIns="0" rIns="0" bIns="0" rtlCol="0" anchor="ctr"/>
          <a:lstStyle/>
          <a:p>
            <a:pPr algn="l" indent="0" marL="0">
              <a:lnSpc>
                <a:spcPts val="1100"/>
              </a:lnSpc>
              <a:buNone/>
            </a:pPr>
            <a:r>
              <a:rPr lang="en-US" sz="1000" dirty="0">
                <a:solidFill>
                  <a:srgbClr val="4A5264"/>
                </a:solidFill>
                <a:latin typeface="Calibri" pitchFamily="34" charset="0"/>
                <a:ea typeface="Calibri" pitchFamily="34" charset="-122"/>
                <a:cs typeface="Calibri" pitchFamily="34" charset="-120"/>
              </a:rPr>
              <a:t>no</a:t>
            </a:r>
            <a:endParaRPr lang="en-US" sz="1000" dirty="0"/>
          </a:p>
        </p:txBody>
      </p:sp>
      <p:sp>
        <p:nvSpPr>
          <p:cNvPr id="42" name="Text 40"/>
          <p:cNvSpPr/>
          <p:nvPr/>
        </p:nvSpPr>
        <p:spPr>
          <a:xfrm>
            <a:off x="9601200" y="4937760"/>
            <a:ext cx="2011680" cy="530352"/>
          </a:xfrm>
          <a:prstGeom prst="rect">
            <a:avLst/>
          </a:prstGeom>
          <a:noFill/>
          <a:ln/>
        </p:spPr>
        <p:txBody>
          <a:bodyPr wrap="square" lIns="0" tIns="0" rIns="0" bIns="0" rtlCol="0" anchor="ctr"/>
          <a:lstStyle/>
          <a:p>
            <a:pPr algn="l" indent="0" marL="0">
              <a:lnSpc>
                <a:spcPts val="1100"/>
              </a:lnSpc>
              <a:buNone/>
            </a:pPr>
            <a:r>
              <a:rPr lang="en-US" sz="1000" b="1" dirty="0">
                <a:solidFill>
                  <a:srgbClr val="1F8A80"/>
                </a:solidFill>
                <a:latin typeface="Calibri" pitchFamily="34" charset="0"/>
                <a:ea typeface="Calibri" pitchFamily="34" charset="-122"/>
                <a:cs typeface="Calibri" pitchFamily="34" charset="-120"/>
              </a:rPr>
              <a:t>yes, re-cuts in 3 seconds</a:t>
            </a:r>
            <a:endParaRPr lang="en-US" sz="1000" dirty="0"/>
          </a:p>
        </p:txBody>
      </p:sp>
      <p:sp>
        <p:nvSpPr>
          <p:cNvPr id="43" name="Shape 41"/>
          <p:cNvSpPr/>
          <p:nvPr/>
        </p:nvSpPr>
        <p:spPr>
          <a:xfrm>
            <a:off x="566928" y="5504688"/>
            <a:ext cx="11055096" cy="530352"/>
          </a:xfrm>
          <a:prstGeom prst="rect">
            <a:avLst/>
          </a:prstGeom>
          <a:solidFill>
            <a:srgbClr val="F7F8FA"/>
          </a:solidFill>
          <a:ln w="12700">
            <a:solidFill>
              <a:srgbClr val="333333"/>
            </a:solidFill>
            <a:prstDash val="solid"/>
          </a:ln>
        </p:spPr>
      </p:sp>
      <p:sp>
        <p:nvSpPr>
          <p:cNvPr id="44" name="Text 42"/>
          <p:cNvSpPr/>
          <p:nvPr/>
        </p:nvSpPr>
        <p:spPr>
          <a:xfrm>
            <a:off x="566928" y="5504688"/>
            <a:ext cx="3063240" cy="530352"/>
          </a:xfrm>
          <a:prstGeom prst="rect">
            <a:avLst/>
          </a:prstGeom>
          <a:noFill/>
          <a:ln/>
        </p:spPr>
        <p:txBody>
          <a:bodyPr wrap="square" lIns="0" tIns="0" rIns="0" bIns="0" rtlCol="0" anchor="ctr"/>
          <a:lstStyle/>
          <a:p>
            <a:pPr algn="l" indent="0" marL="0">
              <a:lnSpc>
                <a:spcPts val="1100"/>
              </a:lnSpc>
              <a:buNone/>
            </a:pPr>
            <a:r>
              <a:rPr lang="en-US" sz="1000" b="1" dirty="0">
                <a:solidFill>
                  <a:srgbClr val="141821"/>
                </a:solidFill>
                <a:latin typeface="Calibri" pitchFamily="34" charset="0"/>
                <a:ea typeface="Calibri" pitchFamily="34" charset="-122"/>
                <a:cs typeface="Calibri" pitchFamily="34" charset="-120"/>
              </a:rPr>
              <a:t>Changes without restarting</a:t>
            </a:r>
            <a:endParaRPr lang="en-US" sz="1000" dirty="0"/>
          </a:p>
        </p:txBody>
      </p:sp>
      <p:sp>
        <p:nvSpPr>
          <p:cNvPr id="45" name="Text 43"/>
          <p:cNvSpPr/>
          <p:nvPr/>
        </p:nvSpPr>
        <p:spPr>
          <a:xfrm>
            <a:off x="3703320" y="5504688"/>
            <a:ext cx="1481328" cy="530352"/>
          </a:xfrm>
          <a:prstGeom prst="rect">
            <a:avLst/>
          </a:prstGeom>
          <a:noFill/>
          <a:ln/>
        </p:spPr>
        <p:txBody>
          <a:bodyPr wrap="square" lIns="0" tIns="0" rIns="0" bIns="0" rtlCol="0" anchor="ctr"/>
          <a:lstStyle/>
          <a:p>
            <a:pPr algn="l" indent="0" marL="0">
              <a:lnSpc>
                <a:spcPts val="1100"/>
              </a:lnSpc>
              <a:buNone/>
            </a:pPr>
            <a:r>
              <a:rPr lang="en-US" sz="1000" dirty="0">
                <a:solidFill>
                  <a:srgbClr val="4A5264"/>
                </a:solidFill>
                <a:latin typeface="Calibri" pitchFamily="34" charset="0"/>
                <a:ea typeface="Calibri" pitchFamily="34" charset="-122"/>
                <a:cs typeface="Calibri" pitchFamily="34" charset="-120"/>
              </a:rPr>
              <a:t>not applicable</a:t>
            </a:r>
            <a:endParaRPr lang="en-US" sz="1000" dirty="0"/>
          </a:p>
        </p:txBody>
      </p:sp>
      <p:sp>
        <p:nvSpPr>
          <p:cNvPr id="46" name="Text 44"/>
          <p:cNvSpPr/>
          <p:nvPr/>
        </p:nvSpPr>
        <p:spPr>
          <a:xfrm>
            <a:off x="5257800" y="5504688"/>
            <a:ext cx="2377440" cy="530352"/>
          </a:xfrm>
          <a:prstGeom prst="rect">
            <a:avLst/>
          </a:prstGeom>
          <a:noFill/>
          <a:ln/>
        </p:spPr>
        <p:txBody>
          <a:bodyPr wrap="square" lIns="0" tIns="0" rIns="0" bIns="0" rtlCol="0" anchor="ctr"/>
          <a:lstStyle/>
          <a:p>
            <a:pPr algn="l" indent="0" marL="0">
              <a:lnSpc>
                <a:spcPts val="1100"/>
              </a:lnSpc>
              <a:buNone/>
            </a:pPr>
            <a:r>
              <a:rPr lang="en-US" sz="1000" dirty="0">
                <a:solidFill>
                  <a:srgbClr val="4A5264"/>
                </a:solidFill>
                <a:latin typeface="Calibri" pitchFamily="34" charset="0"/>
                <a:ea typeface="Calibri" pitchFamily="34" charset="-122"/>
                <a:cs typeface="Calibri" pitchFamily="34" charset="-120"/>
              </a:rPr>
              <a:t>no</a:t>
            </a:r>
            <a:endParaRPr lang="en-US" sz="1000" dirty="0"/>
          </a:p>
        </p:txBody>
      </p:sp>
      <p:sp>
        <p:nvSpPr>
          <p:cNvPr id="47" name="Text 45"/>
          <p:cNvSpPr/>
          <p:nvPr/>
        </p:nvSpPr>
        <p:spPr>
          <a:xfrm>
            <a:off x="7726680" y="5504688"/>
            <a:ext cx="1810512" cy="530352"/>
          </a:xfrm>
          <a:prstGeom prst="rect">
            <a:avLst/>
          </a:prstGeom>
          <a:noFill/>
          <a:ln/>
        </p:spPr>
        <p:txBody>
          <a:bodyPr wrap="square" lIns="0" tIns="0" rIns="0" bIns="0" rtlCol="0" anchor="ctr"/>
          <a:lstStyle/>
          <a:p>
            <a:pPr algn="l" indent="0" marL="0">
              <a:lnSpc>
                <a:spcPts val="1100"/>
              </a:lnSpc>
              <a:buNone/>
            </a:pPr>
            <a:r>
              <a:rPr lang="en-US" sz="1000" dirty="0">
                <a:solidFill>
                  <a:srgbClr val="4A5264"/>
                </a:solidFill>
                <a:latin typeface="Calibri" pitchFamily="34" charset="0"/>
                <a:ea typeface="Calibri" pitchFamily="34" charset="-122"/>
                <a:cs typeface="Calibri" pitchFamily="34" charset="-120"/>
              </a:rPr>
              <a:t>no</a:t>
            </a:r>
            <a:endParaRPr lang="en-US" sz="1000" dirty="0"/>
          </a:p>
        </p:txBody>
      </p:sp>
      <p:sp>
        <p:nvSpPr>
          <p:cNvPr id="48" name="Text 46"/>
          <p:cNvSpPr/>
          <p:nvPr/>
        </p:nvSpPr>
        <p:spPr>
          <a:xfrm>
            <a:off x="9601200" y="5504688"/>
            <a:ext cx="2011680" cy="530352"/>
          </a:xfrm>
          <a:prstGeom prst="rect">
            <a:avLst/>
          </a:prstGeom>
          <a:noFill/>
          <a:ln/>
        </p:spPr>
        <p:txBody>
          <a:bodyPr wrap="square" lIns="0" tIns="0" rIns="0" bIns="0" rtlCol="0" anchor="ctr"/>
          <a:lstStyle/>
          <a:p>
            <a:pPr algn="l" indent="0" marL="0">
              <a:lnSpc>
                <a:spcPts val="1100"/>
              </a:lnSpc>
              <a:buNone/>
            </a:pPr>
            <a:r>
              <a:rPr lang="en-US" sz="1000" b="1" dirty="0">
                <a:solidFill>
                  <a:srgbClr val="1F8A80"/>
                </a:solidFill>
                <a:latin typeface="Calibri" pitchFamily="34" charset="0"/>
                <a:ea typeface="Calibri" pitchFamily="34" charset="-122"/>
                <a:cs typeface="Calibri" pitchFamily="34" charset="-120"/>
              </a:rPr>
              <a:t>yes, moves layers live</a:t>
            </a:r>
            <a:endParaRPr lang="en-US" sz="1000" dirty="0"/>
          </a:p>
        </p:txBody>
      </p:sp>
      <p:sp>
        <p:nvSpPr>
          <p:cNvPr id="49" name="Shape 47"/>
          <p:cNvSpPr/>
          <p:nvPr/>
        </p:nvSpPr>
        <p:spPr>
          <a:xfrm>
            <a:off x="9509760" y="1463040"/>
            <a:ext cx="2112264" cy="4553712"/>
          </a:xfrm>
          <a:prstGeom prst="roundRect">
            <a:avLst>
              <a:gd name="adj" fmla="val 2165"/>
            </a:avLst>
          </a:prstGeom>
          <a:solidFill>
            <a:srgbClr val="1F8A80">
              <a:alpha val="8000"/>
            </a:srgbClr>
          </a:solidFill>
          <a:ln w="15875">
            <a:solidFill>
              <a:srgbClr val="1F8A80"/>
            </a:solidFill>
            <a:prstDash val="solid"/>
          </a:ln>
        </p:spPr>
      </p:sp>
      <p:sp>
        <p:nvSpPr>
          <p:cNvPr id="50" name="Text 48"/>
          <p:cNvSpPr/>
          <p:nvPr/>
        </p:nvSpPr>
        <p:spPr>
          <a:xfrm>
            <a:off x="566928" y="6382512"/>
            <a:ext cx="9692640" cy="274320"/>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No earlier system measures the machines in the kernel and feeds that straight back into the cut, while the model is still answering.</a:t>
            </a:r>
            <a:endParaRPr lang="en-US" sz="950" dirty="0"/>
          </a:p>
        </p:txBody>
      </p:sp>
      <p:sp>
        <p:nvSpPr>
          <p:cNvPr id="51" name="Text 49"/>
          <p:cNvSpPr/>
          <p:nvPr/>
        </p:nvSpPr>
        <p:spPr>
          <a:xfrm>
            <a:off x="11073384" y="6382512"/>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821"/>
        </a:solidFill>
      </p:bgPr>
    </p:bg>
    <p:spTree>
      <p:nvGrpSpPr>
        <p:cNvPr id="1" name=""/>
        <p:cNvGrpSpPr/>
        <p:nvPr/>
      </p:nvGrpSpPr>
      <p:grpSpPr>
        <a:xfrm>
          <a:off x="0" y="0"/>
          <a:ext cx="0" cy="0"/>
          <a:chOff x="0" y="0"/>
          <a:chExt cx="0" cy="0"/>
        </a:xfrm>
      </p:grpSpPr>
      <p:sp>
        <p:nvSpPr>
          <p:cNvPr id="2" name="Shape 0"/>
          <p:cNvSpPr/>
          <p:nvPr/>
        </p:nvSpPr>
        <p:spPr>
          <a:xfrm>
            <a:off x="9509760" y="-1097280"/>
            <a:ext cx="4206240" cy="4206240"/>
          </a:xfrm>
          <a:prstGeom prst="ellipse">
            <a:avLst/>
          </a:prstGeom>
          <a:solidFill>
            <a:srgbClr val="232A38"/>
          </a:solidFill>
          <a:ln w="12700">
            <a:solidFill>
              <a:srgbClr val="333333"/>
            </a:solidFill>
            <a:prstDash val="solid"/>
          </a:ln>
        </p:spPr>
      </p:sp>
      <p:sp>
        <p:nvSpPr>
          <p:cNvPr id="3" name="Text 1"/>
          <p:cNvSpPr/>
          <p:nvPr/>
        </p:nvSpPr>
        <p:spPr>
          <a:xfrm>
            <a:off x="566928" y="685800"/>
            <a:ext cx="7315200" cy="274320"/>
          </a:xfrm>
          <a:prstGeom prst="rect">
            <a:avLst/>
          </a:prstGeom>
          <a:noFill/>
          <a:ln/>
        </p:spPr>
        <p:txBody>
          <a:bodyPr wrap="square" lIns="0" tIns="0" rIns="0" bIns="0" rtlCol="0" anchor="ctr"/>
          <a:lstStyle/>
          <a:p>
            <a:pPr indent="0" marL="0">
              <a:buNone/>
            </a:pPr>
            <a:r>
              <a:rPr lang="en-US" sz="1150" b="1" spc="260" kern="0" dirty="0">
                <a:solidFill>
                  <a:srgbClr val="E07B39"/>
                </a:solidFill>
                <a:latin typeface="Calibri" pitchFamily="34" charset="0"/>
                <a:ea typeface="Calibri" pitchFamily="34" charset="-122"/>
                <a:cs typeface="Calibri" pitchFamily="34" charset="-120"/>
              </a:rPr>
              <a:t>THE PROBLEM</a:t>
            </a:r>
            <a:endParaRPr lang="en-US" sz="1150" dirty="0"/>
          </a:p>
        </p:txBody>
      </p:sp>
      <p:sp>
        <p:nvSpPr>
          <p:cNvPr id="4" name="Text 2"/>
          <p:cNvSpPr/>
          <p:nvPr/>
        </p:nvSpPr>
        <p:spPr>
          <a:xfrm>
            <a:off x="566928" y="1143000"/>
            <a:ext cx="7772400" cy="1828800"/>
          </a:xfrm>
          <a:prstGeom prst="rect">
            <a:avLst/>
          </a:prstGeom>
          <a:noFill/>
          <a:ln/>
        </p:spPr>
        <p:txBody>
          <a:bodyPr wrap="square" lIns="0" tIns="0" rIns="0" bIns="0" rtlCol="0" anchor="ctr"/>
          <a:lstStyle/>
          <a:p>
            <a:pPr indent="0" marL="0">
              <a:lnSpc>
                <a:spcPts val="3000"/>
              </a:lnSpc>
              <a:buNone/>
            </a:pPr>
            <a:r>
              <a:rPr lang="en-US" sz="2100" dirty="0">
                <a:solidFill>
                  <a:srgbClr val="FFFFFF"/>
                </a:solidFill>
                <a:latin typeface="Cambria" pitchFamily="34" charset="0"/>
                <a:ea typeface="Cambria" pitchFamily="34" charset="-122"/>
                <a:cs typeface="Cambria" pitchFamily="34" charset="-120"/>
              </a:rPr>
              <a:t>We have N model layers and K machines of different speeds. While the model is answering, their speed, their network delay, and whether they are even alive all keep changing. Keep choosing a cut that makes the slowest machine as fast as possible - and never restart anything to do it.</a:t>
            </a:r>
            <a:endParaRPr lang="en-US" sz="2100" dirty="0"/>
          </a:p>
        </p:txBody>
      </p:sp>
      <p:sp>
        <p:nvSpPr>
          <p:cNvPr id="5" name="Shape 3"/>
          <p:cNvSpPr/>
          <p:nvPr/>
        </p:nvSpPr>
        <p:spPr>
          <a:xfrm>
            <a:off x="566928" y="3246120"/>
            <a:ext cx="310896" cy="310896"/>
          </a:xfrm>
          <a:prstGeom prst="ellipse">
            <a:avLst/>
          </a:prstGeom>
          <a:solidFill>
            <a:srgbClr val="E07B39"/>
          </a:solidFill>
          <a:ln w="12700">
            <a:solidFill>
              <a:srgbClr val="E07B39"/>
            </a:solidFill>
            <a:prstDash val="solid"/>
          </a:ln>
        </p:spPr>
      </p:sp>
      <p:sp>
        <p:nvSpPr>
          <p:cNvPr id="6" name="Text 4"/>
          <p:cNvSpPr/>
          <p:nvPr/>
        </p:nvSpPr>
        <p:spPr>
          <a:xfrm>
            <a:off x="566928" y="3246120"/>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p:nvPr/>
        </p:nvSpPr>
        <p:spPr>
          <a:xfrm>
            <a:off x="1005840" y="3227832"/>
            <a:ext cx="320040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Measure</a:t>
            </a:r>
            <a:endParaRPr lang="en-US" sz="1400" dirty="0"/>
          </a:p>
        </p:txBody>
      </p:sp>
      <p:sp>
        <p:nvSpPr>
          <p:cNvPr id="8" name="Text 6"/>
          <p:cNvSpPr/>
          <p:nvPr/>
        </p:nvSpPr>
        <p:spPr>
          <a:xfrm>
            <a:off x="1005840" y="3547872"/>
            <a:ext cx="3291840" cy="822960"/>
          </a:xfrm>
          <a:prstGeom prst="rect">
            <a:avLst/>
          </a:prstGeom>
          <a:noFill/>
          <a:ln/>
        </p:spPr>
        <p:txBody>
          <a:bodyPr wrap="square" lIns="0" tIns="0" rIns="0" bIns="0" rtlCol="0" anchor="ctr"/>
          <a:lstStyle/>
          <a:p>
            <a:pPr indent="0" marL="0">
              <a:lnSpc>
                <a:spcPts val="1400"/>
              </a:lnSpc>
              <a:buNone/>
            </a:pPr>
            <a:r>
              <a:rPr lang="en-US" sz="1050" dirty="0">
                <a:solidFill>
                  <a:srgbClr val="9AA3B4"/>
                </a:solidFill>
                <a:latin typeface="Calibri" pitchFamily="34" charset="0"/>
                <a:ea typeface="Calibri" pitchFamily="34" charset="-122"/>
                <a:cs typeface="Calibri" pitchFamily="34" charset="-120"/>
              </a:rPr>
              <a:t>Measure network delay and machine heat cheaply, without changing the model code.</a:t>
            </a:r>
            <a:endParaRPr lang="en-US" sz="1050" dirty="0"/>
          </a:p>
        </p:txBody>
      </p:sp>
      <p:sp>
        <p:nvSpPr>
          <p:cNvPr id="9" name="Shape 7"/>
          <p:cNvSpPr/>
          <p:nvPr/>
        </p:nvSpPr>
        <p:spPr>
          <a:xfrm>
            <a:off x="4498848" y="3246120"/>
            <a:ext cx="310896" cy="310896"/>
          </a:xfrm>
          <a:prstGeom prst="ellipse">
            <a:avLst/>
          </a:prstGeom>
          <a:solidFill>
            <a:srgbClr val="1F8A80"/>
          </a:solidFill>
          <a:ln w="12700">
            <a:solidFill>
              <a:srgbClr val="1F8A80"/>
            </a:solidFill>
            <a:prstDash val="solid"/>
          </a:ln>
        </p:spPr>
      </p:sp>
      <p:sp>
        <p:nvSpPr>
          <p:cNvPr id="10" name="Text 8"/>
          <p:cNvSpPr/>
          <p:nvPr/>
        </p:nvSpPr>
        <p:spPr>
          <a:xfrm>
            <a:off x="4498848" y="3246120"/>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1" name="Text 9"/>
          <p:cNvSpPr/>
          <p:nvPr/>
        </p:nvSpPr>
        <p:spPr>
          <a:xfrm>
            <a:off x="4937760" y="3227832"/>
            <a:ext cx="320040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Decide</a:t>
            </a:r>
            <a:endParaRPr lang="en-US" sz="1400" dirty="0"/>
          </a:p>
        </p:txBody>
      </p:sp>
      <p:sp>
        <p:nvSpPr>
          <p:cNvPr id="12" name="Text 10"/>
          <p:cNvSpPr/>
          <p:nvPr/>
        </p:nvSpPr>
        <p:spPr>
          <a:xfrm>
            <a:off x="4937760" y="3547872"/>
            <a:ext cx="3291840" cy="822960"/>
          </a:xfrm>
          <a:prstGeom prst="rect">
            <a:avLst/>
          </a:prstGeom>
          <a:noFill/>
          <a:ln/>
        </p:spPr>
        <p:txBody>
          <a:bodyPr wrap="square" lIns="0" tIns="0" rIns="0" bIns="0" rtlCol="0" anchor="ctr"/>
          <a:lstStyle/>
          <a:p>
            <a:pPr indent="0" marL="0">
              <a:lnSpc>
                <a:spcPts val="1400"/>
              </a:lnSpc>
              <a:buNone/>
            </a:pPr>
            <a:r>
              <a:rPr lang="en-US" sz="1050" dirty="0">
                <a:solidFill>
                  <a:srgbClr val="9AA3B4"/>
                </a:solidFill>
                <a:latin typeface="Calibri" pitchFamily="34" charset="0"/>
                <a:ea typeface="Calibri" pitchFamily="34" charset="-122"/>
                <a:cs typeface="Calibri" pitchFamily="34" charset="-120"/>
              </a:rPr>
              <a:t>Work out the best cut fast enough to redo it often, without flip-flopping when a reading is just noisy.</a:t>
            </a:r>
            <a:endParaRPr lang="en-US" sz="1050" dirty="0"/>
          </a:p>
        </p:txBody>
      </p:sp>
      <p:sp>
        <p:nvSpPr>
          <p:cNvPr id="13" name="Shape 11"/>
          <p:cNvSpPr/>
          <p:nvPr/>
        </p:nvSpPr>
        <p:spPr>
          <a:xfrm>
            <a:off x="566928" y="4617720"/>
            <a:ext cx="310896" cy="310896"/>
          </a:xfrm>
          <a:prstGeom prst="ellipse">
            <a:avLst/>
          </a:prstGeom>
          <a:solidFill>
            <a:srgbClr val="E07B39"/>
          </a:solidFill>
          <a:ln w="12700">
            <a:solidFill>
              <a:srgbClr val="E07B39"/>
            </a:solidFill>
            <a:prstDash val="solid"/>
          </a:ln>
        </p:spPr>
      </p:sp>
      <p:sp>
        <p:nvSpPr>
          <p:cNvPr id="14" name="Text 12"/>
          <p:cNvSpPr/>
          <p:nvPr/>
        </p:nvSpPr>
        <p:spPr>
          <a:xfrm>
            <a:off x="566928" y="4617720"/>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5" name="Text 13"/>
          <p:cNvSpPr/>
          <p:nvPr/>
        </p:nvSpPr>
        <p:spPr>
          <a:xfrm>
            <a:off x="1005840" y="4599432"/>
            <a:ext cx="320040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Act</a:t>
            </a:r>
            <a:endParaRPr lang="en-US" sz="1400" dirty="0"/>
          </a:p>
        </p:txBody>
      </p:sp>
      <p:sp>
        <p:nvSpPr>
          <p:cNvPr id="16" name="Text 14"/>
          <p:cNvSpPr/>
          <p:nvPr/>
        </p:nvSpPr>
        <p:spPr>
          <a:xfrm>
            <a:off x="1005840" y="4919472"/>
            <a:ext cx="3291840" cy="822960"/>
          </a:xfrm>
          <a:prstGeom prst="rect">
            <a:avLst/>
          </a:prstGeom>
          <a:noFill/>
          <a:ln/>
        </p:spPr>
        <p:txBody>
          <a:bodyPr wrap="square" lIns="0" tIns="0" rIns="0" bIns="0" rtlCol="0" anchor="ctr"/>
          <a:lstStyle/>
          <a:p>
            <a:pPr indent="0" marL="0">
              <a:lnSpc>
                <a:spcPts val="1400"/>
              </a:lnSpc>
              <a:buNone/>
            </a:pPr>
            <a:r>
              <a:rPr lang="en-US" sz="1050" dirty="0">
                <a:solidFill>
                  <a:srgbClr val="9AA3B4"/>
                </a:solidFill>
                <a:latin typeface="Calibri" pitchFamily="34" charset="0"/>
                <a:ea typeface="Calibri" pitchFamily="34" charset="-122"/>
                <a:cs typeface="Calibri" pitchFamily="34" charset="-120"/>
              </a:rPr>
              <a:t>Move layers between running machines without losing requests or restarting anything.</a:t>
            </a:r>
            <a:endParaRPr lang="en-US" sz="1050" dirty="0"/>
          </a:p>
        </p:txBody>
      </p:sp>
      <p:sp>
        <p:nvSpPr>
          <p:cNvPr id="17" name="Shape 15"/>
          <p:cNvSpPr/>
          <p:nvPr/>
        </p:nvSpPr>
        <p:spPr>
          <a:xfrm>
            <a:off x="4498848" y="4617720"/>
            <a:ext cx="310896" cy="310896"/>
          </a:xfrm>
          <a:prstGeom prst="ellipse">
            <a:avLst/>
          </a:prstGeom>
          <a:solidFill>
            <a:srgbClr val="1F8A80"/>
          </a:solidFill>
          <a:ln w="12700">
            <a:solidFill>
              <a:srgbClr val="1F8A80"/>
            </a:solidFill>
            <a:prstDash val="solid"/>
          </a:ln>
        </p:spPr>
      </p:sp>
      <p:sp>
        <p:nvSpPr>
          <p:cNvPr id="18" name="Text 16"/>
          <p:cNvSpPr/>
          <p:nvPr/>
        </p:nvSpPr>
        <p:spPr>
          <a:xfrm>
            <a:off x="4498848" y="4617720"/>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19" name="Text 17"/>
          <p:cNvSpPr/>
          <p:nvPr/>
        </p:nvSpPr>
        <p:spPr>
          <a:xfrm>
            <a:off x="4937760" y="4599432"/>
            <a:ext cx="320040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Heal</a:t>
            </a:r>
            <a:endParaRPr lang="en-US" sz="1400" dirty="0"/>
          </a:p>
        </p:txBody>
      </p:sp>
      <p:sp>
        <p:nvSpPr>
          <p:cNvPr id="20" name="Text 18"/>
          <p:cNvSpPr/>
          <p:nvPr/>
        </p:nvSpPr>
        <p:spPr>
          <a:xfrm>
            <a:off x="4937760" y="4919472"/>
            <a:ext cx="3291840" cy="822960"/>
          </a:xfrm>
          <a:prstGeom prst="rect">
            <a:avLst/>
          </a:prstGeom>
          <a:noFill/>
          <a:ln/>
        </p:spPr>
        <p:txBody>
          <a:bodyPr wrap="square" lIns="0" tIns="0" rIns="0" bIns="0" rtlCol="0" anchor="ctr"/>
          <a:lstStyle/>
          <a:p>
            <a:pPr indent="0" marL="0">
              <a:lnSpc>
                <a:spcPts val="1400"/>
              </a:lnSpc>
              <a:buNone/>
            </a:pPr>
            <a:r>
              <a:rPr lang="en-US" sz="1050" dirty="0">
                <a:solidFill>
                  <a:srgbClr val="9AA3B4"/>
                </a:solidFill>
                <a:latin typeface="Calibri" pitchFamily="34" charset="0"/>
                <a:ea typeface="Calibri" pitchFamily="34" charset="-122"/>
                <a:cs typeface="Calibri" pitchFamily="34" charset="-120"/>
              </a:rPr>
              <a:t>Notice when a machine dies and share its layers among the machines that are left.</a:t>
            </a:r>
            <a:endParaRPr lang="en-US" sz="1050" dirty="0"/>
          </a:p>
        </p:txBody>
      </p:sp>
      <p:sp>
        <p:nvSpPr>
          <p:cNvPr id="21" name="Shape 19"/>
          <p:cNvSpPr/>
          <p:nvPr/>
        </p:nvSpPr>
        <p:spPr>
          <a:xfrm>
            <a:off x="8686800" y="3063240"/>
            <a:ext cx="2926080" cy="2743200"/>
          </a:xfrm>
          <a:prstGeom prst="roundRect">
            <a:avLst>
              <a:gd name="adj" fmla="val 2667"/>
            </a:avLst>
          </a:prstGeom>
          <a:solidFill>
            <a:srgbClr val="232A38"/>
          </a:solidFill>
          <a:ln w="12700">
            <a:solidFill>
              <a:srgbClr val="3A4356"/>
            </a:solidFill>
            <a:prstDash val="solid"/>
          </a:ln>
        </p:spPr>
      </p:sp>
      <p:sp>
        <p:nvSpPr>
          <p:cNvPr id="22" name="Text 20"/>
          <p:cNvSpPr/>
          <p:nvPr/>
        </p:nvSpPr>
        <p:spPr>
          <a:xfrm>
            <a:off x="8961120" y="3291840"/>
            <a:ext cx="2377440" cy="256032"/>
          </a:xfrm>
          <a:prstGeom prst="rect">
            <a:avLst/>
          </a:prstGeom>
          <a:noFill/>
          <a:ln/>
        </p:spPr>
        <p:txBody>
          <a:bodyPr wrap="square" lIns="0" tIns="0" rIns="0" bIns="0" rtlCol="0" anchor="ctr"/>
          <a:lstStyle/>
          <a:p>
            <a:pPr indent="0" marL="0">
              <a:buNone/>
            </a:pPr>
            <a:r>
              <a:rPr lang="en-US" sz="1050" b="1" spc="140" kern="0" dirty="0">
                <a:solidFill>
                  <a:srgbClr val="E07B39"/>
                </a:solidFill>
                <a:latin typeface="Calibri" pitchFamily="34" charset="0"/>
                <a:ea typeface="Calibri" pitchFamily="34" charset="-122"/>
                <a:cs typeface="Calibri" pitchFamily="34" charset="-120"/>
              </a:rPr>
              <a:t>The rules we set ourselves</a:t>
            </a:r>
            <a:endParaRPr lang="en-US" sz="1050" dirty="0"/>
          </a:p>
        </p:txBody>
      </p:sp>
      <p:sp>
        <p:nvSpPr>
          <p:cNvPr id="23" name="Text 21"/>
          <p:cNvSpPr/>
          <p:nvPr/>
        </p:nvSpPr>
        <p:spPr>
          <a:xfrm>
            <a:off x="8961120" y="3611880"/>
            <a:ext cx="2377440" cy="2011680"/>
          </a:xfrm>
          <a:prstGeom prst="rect">
            <a:avLst/>
          </a:prstGeom>
          <a:noFill/>
          <a:ln/>
        </p:spPr>
        <p:txBody>
          <a:bodyPr wrap="square" lIns="0" tIns="0" rIns="0" bIns="0" rtlCol="0" anchor="ctr"/>
          <a:lstStyle/>
          <a:p>
            <a:pPr indent="0" marL="0">
              <a:lnSpc>
                <a:spcPts val="1600"/>
              </a:lnSpc>
              <a:buNone/>
            </a:pPr>
            <a:r>
              <a:rPr lang="en-US" sz="1100" dirty="0">
                <a:solidFill>
                  <a:srgbClr val="C2C9D6"/>
                </a:solidFill>
                <a:latin typeface="Calibri" pitchFamily="34" charset="0"/>
                <a:ea typeface="Calibri" pitchFamily="34" charset="-122"/>
                <a:cs typeface="Calibri" pitchFamily="34" charset="-120"/>
              </a:rPr>
              <a:t>Ordinary Linux only.</a:t>
            </a:r>
            <a:endParaRPr lang="en-US" sz="1100" dirty="0"/>
          </a:p>
          <a:p>
            <a:pPr indent="0" marL="0">
              <a:lnSpc>
                <a:spcPts val="1600"/>
              </a:lnSpc>
              <a:buNone/>
            </a:pPr>
            <a:endParaRPr lang="en-US" sz="1100" dirty="0"/>
          </a:p>
          <a:p>
            <a:pPr indent="0" marL="0">
              <a:lnSpc>
                <a:spcPts val="1600"/>
              </a:lnSpc>
              <a:buNone/>
            </a:pPr>
            <a:r>
              <a:rPr lang="en-US" sz="1100" dirty="0">
                <a:solidFill>
                  <a:srgbClr val="C2C9D6"/>
                </a:solidFill>
                <a:latin typeface="Calibri" pitchFamily="34" charset="0"/>
                <a:ea typeface="Calibri" pitchFamily="34" charset="-122"/>
                <a:cs typeface="Calibri" pitchFamily="34" charset="-120"/>
              </a:rPr>
              <a:t>No special data centre network, no vendor software, no changes to the model code, and no assuming a machine stays alive.</a:t>
            </a:r>
            <a:endParaRPr lang="en-US" sz="1100" dirty="0"/>
          </a:p>
        </p:txBody>
      </p:sp>
      <p:sp>
        <p:nvSpPr>
          <p:cNvPr id="24" name="Text 22"/>
          <p:cNvSpPr/>
          <p:nvPr/>
        </p:nvSpPr>
        <p:spPr>
          <a:xfrm>
            <a:off x="11073384" y="6382512"/>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50" b="1" spc="220" kern="0" dirty="0">
                <a:solidFill>
                  <a:srgbClr val="E07B39"/>
                </a:solidFill>
                <a:latin typeface="Calibri" pitchFamily="34" charset="0"/>
                <a:ea typeface="Calibri" pitchFamily="34" charset="-122"/>
                <a:cs typeface="Calibri" pitchFamily="34" charset="-120"/>
              </a:rPr>
              <a:t>WHAT IS NEW</a:t>
            </a:r>
            <a:endParaRPr lang="en-US" sz="1150" dirty="0"/>
          </a:p>
        </p:txBody>
      </p:sp>
      <p:sp>
        <p:nvSpPr>
          <p:cNvPr id="3" name="Text 1"/>
          <p:cNvSpPr/>
          <p:nvPr/>
        </p:nvSpPr>
        <p:spPr>
          <a:xfrm>
            <a:off x="566928" y="566928"/>
            <a:ext cx="11055096" cy="658368"/>
          </a:xfrm>
          <a:prstGeom prst="rect">
            <a:avLst/>
          </a:prstGeom>
          <a:noFill/>
          <a:ln/>
        </p:spPr>
        <p:txBody>
          <a:bodyPr wrap="square" lIns="0" tIns="0" rIns="0" bIns="0" rtlCol="0" anchor="ctr"/>
          <a:lstStyle/>
          <a:p>
            <a:pPr indent="0" marL="0">
              <a:buNone/>
            </a:pPr>
            <a:r>
              <a:rPr lang="en-US" sz="3200" b="1" dirty="0">
                <a:solidFill>
                  <a:srgbClr val="141821"/>
                </a:solidFill>
                <a:latin typeface="Cambria" pitchFamily="34" charset="0"/>
                <a:ea typeface="Cambria" pitchFamily="34" charset="-122"/>
                <a:cs typeface="Cambria" pitchFamily="34" charset="-120"/>
              </a:rPr>
              <a:t>What is new in our work</a:t>
            </a:r>
            <a:endParaRPr lang="en-US" sz="3200" dirty="0"/>
          </a:p>
        </p:txBody>
      </p:sp>
      <p:sp>
        <p:nvSpPr>
          <p:cNvPr id="4" name="Shape 2"/>
          <p:cNvSpPr/>
          <p:nvPr/>
        </p:nvSpPr>
        <p:spPr>
          <a:xfrm>
            <a:off x="566928" y="1444752"/>
            <a:ext cx="5577840" cy="1316736"/>
          </a:xfrm>
          <a:prstGeom prst="roundRect">
            <a:avLst>
              <a:gd name="adj" fmla="val 4861"/>
            </a:avLst>
          </a:prstGeom>
          <a:solidFill>
            <a:srgbClr val="F1F3F7"/>
          </a:solidFill>
          <a:ln w="12700">
            <a:solidFill>
              <a:srgbClr val="FFFFFF"/>
            </a:solidFill>
            <a:prstDash val="solid"/>
          </a:ln>
          <a:effectLst>
            <a:outerShdw sx="100000" sy="100000" kx="0" ky="0" algn="bl" rotWithShape="0" blurRad="127000" dist="25400" dir="5400000">
              <a:srgbClr val="9AA3B2">
                <a:alpha val="28000"/>
              </a:srgbClr>
            </a:outerShdw>
          </a:effectLst>
        </p:spPr>
      </p:sp>
      <p:sp>
        <p:nvSpPr>
          <p:cNvPr id="5" name="Shape 3"/>
          <p:cNvSpPr/>
          <p:nvPr/>
        </p:nvSpPr>
        <p:spPr>
          <a:xfrm>
            <a:off x="822960" y="1700784"/>
            <a:ext cx="310896" cy="310896"/>
          </a:xfrm>
          <a:prstGeom prst="ellipse">
            <a:avLst/>
          </a:prstGeom>
          <a:solidFill>
            <a:srgbClr val="E07B39"/>
          </a:solidFill>
          <a:ln w="12700">
            <a:solidFill>
              <a:srgbClr val="E07B39"/>
            </a:solidFill>
            <a:prstDash val="solid"/>
          </a:ln>
        </p:spPr>
      </p:sp>
      <p:sp>
        <p:nvSpPr>
          <p:cNvPr id="6" name="Text 4"/>
          <p:cNvSpPr/>
          <p:nvPr/>
        </p:nvSpPr>
        <p:spPr>
          <a:xfrm>
            <a:off x="822960" y="1700784"/>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p:nvPr/>
        </p:nvSpPr>
        <p:spPr>
          <a:xfrm>
            <a:off x="1261872" y="1627632"/>
            <a:ext cx="4663440" cy="310896"/>
          </a:xfrm>
          <a:prstGeom prst="rect">
            <a:avLst/>
          </a:prstGeom>
          <a:noFill/>
          <a:ln/>
        </p:spPr>
        <p:txBody>
          <a:bodyPr wrap="square" lIns="0" tIns="0" rIns="0" bIns="0" rtlCol="0" anchor="ctr"/>
          <a:lstStyle/>
          <a:p>
            <a:pPr indent="0" marL="0">
              <a:buNone/>
            </a:pPr>
            <a:r>
              <a:rPr lang="en-US" sz="1250" b="1" dirty="0">
                <a:solidFill>
                  <a:srgbClr val="141821"/>
                </a:solidFill>
                <a:latin typeface="Calibri" pitchFamily="34" charset="0"/>
                <a:ea typeface="Calibri" pitchFamily="34" charset="-122"/>
                <a:cs typeface="Calibri" pitchFamily="34" charset="-120"/>
              </a:rPr>
              <a:t>We measure the network inside the kernel</a:t>
            </a:r>
            <a:endParaRPr lang="en-US" sz="1250" dirty="0"/>
          </a:p>
        </p:txBody>
      </p:sp>
      <p:sp>
        <p:nvSpPr>
          <p:cNvPr id="8" name="Text 6"/>
          <p:cNvSpPr/>
          <p:nvPr/>
        </p:nvSpPr>
        <p:spPr>
          <a:xfrm>
            <a:off x="1261872" y="1947672"/>
            <a:ext cx="4709160" cy="749808"/>
          </a:xfrm>
          <a:prstGeom prst="rect">
            <a:avLst/>
          </a:prstGeom>
          <a:noFill/>
          <a:ln/>
        </p:spPr>
        <p:txBody>
          <a:bodyPr wrap="square" lIns="0" tIns="0" rIns="0" bIns="0" rtlCol="0" anchor="ctr"/>
          <a:lstStyle/>
          <a:p>
            <a:pPr indent="0" marL="0">
              <a:lnSpc>
                <a:spcPts val="1200"/>
              </a:lnSpc>
              <a:buNone/>
            </a:pPr>
            <a:r>
              <a:rPr lang="en-US" sz="950" dirty="0">
                <a:solidFill>
                  <a:srgbClr val="3E4658"/>
                </a:solidFill>
                <a:latin typeface="Calibri" pitchFamily="34" charset="0"/>
                <a:ea typeface="Calibri" pitchFamily="34" charset="-122"/>
                <a:cs typeface="Calibri" pitchFamily="34" charset="-120"/>
              </a:rPr>
              <a:t>Small eBPF programs read the round-trip time Linux already tracks for every connection, and we feed that straight into the cut decision. Other systems guess with app-level timers, or use readings taken before the run.</a:t>
            </a:r>
            <a:endParaRPr lang="en-US" sz="950" dirty="0"/>
          </a:p>
        </p:txBody>
      </p:sp>
      <p:sp>
        <p:nvSpPr>
          <p:cNvPr id="9" name="Shape 7"/>
          <p:cNvSpPr/>
          <p:nvPr/>
        </p:nvSpPr>
        <p:spPr>
          <a:xfrm>
            <a:off x="566928" y="2926080"/>
            <a:ext cx="5577840" cy="1316736"/>
          </a:xfrm>
          <a:prstGeom prst="roundRect">
            <a:avLst>
              <a:gd name="adj" fmla="val 4861"/>
            </a:avLst>
          </a:prstGeom>
          <a:solidFill>
            <a:srgbClr val="F1F3F7"/>
          </a:solidFill>
          <a:ln w="12700">
            <a:solidFill>
              <a:srgbClr val="FFFFFF"/>
            </a:solidFill>
            <a:prstDash val="solid"/>
          </a:ln>
          <a:effectLst>
            <a:outerShdw sx="100000" sy="100000" kx="0" ky="0" algn="bl" rotWithShape="0" blurRad="127000" dist="25400" dir="5400000">
              <a:srgbClr val="9AA3B2">
                <a:alpha val="28000"/>
              </a:srgbClr>
            </a:outerShdw>
          </a:effectLst>
        </p:spPr>
      </p:sp>
      <p:sp>
        <p:nvSpPr>
          <p:cNvPr id="10" name="Shape 8"/>
          <p:cNvSpPr/>
          <p:nvPr/>
        </p:nvSpPr>
        <p:spPr>
          <a:xfrm>
            <a:off x="822960" y="3182112"/>
            <a:ext cx="310896" cy="310896"/>
          </a:xfrm>
          <a:prstGeom prst="ellipse">
            <a:avLst/>
          </a:prstGeom>
          <a:solidFill>
            <a:srgbClr val="E07B39"/>
          </a:solidFill>
          <a:ln w="12700">
            <a:solidFill>
              <a:srgbClr val="E07B39"/>
            </a:solidFill>
            <a:prstDash val="solid"/>
          </a:ln>
        </p:spPr>
      </p:sp>
      <p:sp>
        <p:nvSpPr>
          <p:cNvPr id="11" name="Text 9"/>
          <p:cNvSpPr/>
          <p:nvPr/>
        </p:nvSpPr>
        <p:spPr>
          <a:xfrm>
            <a:off x="822960" y="3182112"/>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2" name="Text 10"/>
          <p:cNvSpPr/>
          <p:nvPr/>
        </p:nvSpPr>
        <p:spPr>
          <a:xfrm>
            <a:off x="1261872" y="3108960"/>
            <a:ext cx="4663440" cy="310896"/>
          </a:xfrm>
          <a:prstGeom prst="rect">
            <a:avLst/>
          </a:prstGeom>
          <a:noFill/>
          <a:ln/>
        </p:spPr>
        <p:txBody>
          <a:bodyPr wrap="square" lIns="0" tIns="0" rIns="0" bIns="0" rtlCol="0" anchor="ctr"/>
          <a:lstStyle/>
          <a:p>
            <a:pPr indent="0" marL="0">
              <a:buNone/>
            </a:pPr>
            <a:r>
              <a:rPr lang="en-US" sz="1250" b="1" dirty="0">
                <a:solidFill>
                  <a:srgbClr val="141821"/>
                </a:solidFill>
                <a:latin typeface="Calibri" pitchFamily="34" charset="0"/>
                <a:ea typeface="Calibri" pitchFamily="34" charset="-122"/>
                <a:cs typeface="Calibri" pitchFamily="34" charset="-120"/>
              </a:rPr>
              <a:t>We never stop deciding</a:t>
            </a:r>
            <a:endParaRPr lang="en-US" sz="1250" dirty="0"/>
          </a:p>
        </p:txBody>
      </p:sp>
      <p:sp>
        <p:nvSpPr>
          <p:cNvPr id="13" name="Text 11"/>
          <p:cNvSpPr/>
          <p:nvPr/>
        </p:nvSpPr>
        <p:spPr>
          <a:xfrm>
            <a:off x="1261872" y="3429000"/>
            <a:ext cx="4709160" cy="749808"/>
          </a:xfrm>
          <a:prstGeom prst="rect">
            <a:avLst/>
          </a:prstGeom>
          <a:noFill/>
          <a:ln/>
        </p:spPr>
        <p:txBody>
          <a:bodyPr wrap="square" lIns="0" tIns="0" rIns="0" bIns="0" rtlCol="0" anchor="ctr"/>
          <a:lstStyle/>
          <a:p>
            <a:pPr indent="0" marL="0">
              <a:lnSpc>
                <a:spcPts val="1200"/>
              </a:lnSpc>
              <a:buNone/>
            </a:pPr>
            <a:r>
              <a:rPr lang="en-US" sz="950" dirty="0">
                <a:solidFill>
                  <a:srgbClr val="3E4658"/>
                </a:solidFill>
                <a:latin typeface="Calibri" pitchFamily="34" charset="0"/>
                <a:ea typeface="Calibri" pitchFamily="34" charset="-122"/>
                <a:cs typeface="Calibri" pitchFamily="34" charset="-120"/>
              </a:rPr>
              <a:t>Watch, decide, act, heal - every 2 seconds, for as long as the system runs. The cut is something we keep adjusting, not a setting we pick once.</a:t>
            </a:r>
            <a:endParaRPr lang="en-US" sz="950" dirty="0"/>
          </a:p>
        </p:txBody>
      </p:sp>
      <p:sp>
        <p:nvSpPr>
          <p:cNvPr id="14" name="Shape 12"/>
          <p:cNvSpPr/>
          <p:nvPr/>
        </p:nvSpPr>
        <p:spPr>
          <a:xfrm>
            <a:off x="566928" y="4407408"/>
            <a:ext cx="5577840" cy="1316736"/>
          </a:xfrm>
          <a:prstGeom prst="roundRect">
            <a:avLst>
              <a:gd name="adj" fmla="val 4861"/>
            </a:avLst>
          </a:prstGeom>
          <a:solidFill>
            <a:srgbClr val="F1F3F7"/>
          </a:solidFill>
          <a:ln w="12700">
            <a:solidFill>
              <a:srgbClr val="FFFFFF"/>
            </a:solidFill>
            <a:prstDash val="solid"/>
          </a:ln>
          <a:effectLst>
            <a:outerShdw sx="100000" sy="100000" kx="0" ky="0" algn="bl" rotWithShape="0" blurRad="127000" dist="25400" dir="5400000">
              <a:srgbClr val="9AA3B2">
                <a:alpha val="28000"/>
              </a:srgbClr>
            </a:outerShdw>
          </a:effectLst>
        </p:spPr>
      </p:sp>
      <p:sp>
        <p:nvSpPr>
          <p:cNvPr id="15" name="Shape 13"/>
          <p:cNvSpPr/>
          <p:nvPr/>
        </p:nvSpPr>
        <p:spPr>
          <a:xfrm>
            <a:off x="822960" y="4663440"/>
            <a:ext cx="310896" cy="310896"/>
          </a:xfrm>
          <a:prstGeom prst="ellipse">
            <a:avLst/>
          </a:prstGeom>
          <a:solidFill>
            <a:srgbClr val="E07B39"/>
          </a:solidFill>
          <a:ln w="12700">
            <a:solidFill>
              <a:srgbClr val="E07B39"/>
            </a:solidFill>
            <a:prstDash val="solid"/>
          </a:ln>
        </p:spPr>
      </p:sp>
      <p:sp>
        <p:nvSpPr>
          <p:cNvPr id="16" name="Text 14"/>
          <p:cNvSpPr/>
          <p:nvPr/>
        </p:nvSpPr>
        <p:spPr>
          <a:xfrm>
            <a:off x="822960" y="4663440"/>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7" name="Text 15"/>
          <p:cNvSpPr/>
          <p:nvPr/>
        </p:nvSpPr>
        <p:spPr>
          <a:xfrm>
            <a:off x="1261872" y="4590288"/>
            <a:ext cx="4663440" cy="310896"/>
          </a:xfrm>
          <a:prstGeom prst="rect">
            <a:avLst/>
          </a:prstGeom>
          <a:noFill/>
          <a:ln/>
        </p:spPr>
        <p:txBody>
          <a:bodyPr wrap="square" lIns="0" tIns="0" rIns="0" bIns="0" rtlCol="0" anchor="ctr"/>
          <a:lstStyle/>
          <a:p>
            <a:pPr indent="0" marL="0">
              <a:buNone/>
            </a:pPr>
            <a:r>
              <a:rPr lang="en-US" sz="1250" b="1" dirty="0">
                <a:solidFill>
                  <a:srgbClr val="141821"/>
                </a:solidFill>
                <a:latin typeface="Calibri" pitchFamily="34" charset="0"/>
                <a:ea typeface="Calibri" pitchFamily="34" charset="-122"/>
                <a:cs typeface="Calibri" pitchFamily="34" charset="-120"/>
              </a:rPr>
              <a:t>We add brakes so it does not flip-flop</a:t>
            </a:r>
            <a:endParaRPr lang="en-US" sz="1250" dirty="0"/>
          </a:p>
        </p:txBody>
      </p:sp>
      <p:sp>
        <p:nvSpPr>
          <p:cNvPr id="18" name="Text 16"/>
          <p:cNvSpPr/>
          <p:nvPr/>
        </p:nvSpPr>
        <p:spPr>
          <a:xfrm>
            <a:off x="1261872" y="4910328"/>
            <a:ext cx="4709160" cy="749808"/>
          </a:xfrm>
          <a:prstGeom prst="rect">
            <a:avLst/>
          </a:prstGeom>
          <a:noFill/>
          <a:ln/>
        </p:spPr>
        <p:txBody>
          <a:bodyPr wrap="square" lIns="0" tIns="0" rIns="0" bIns="0" rtlCol="0" anchor="ctr"/>
          <a:lstStyle/>
          <a:p>
            <a:pPr indent="0" marL="0">
              <a:lnSpc>
                <a:spcPts val="1200"/>
              </a:lnSpc>
              <a:buNone/>
            </a:pPr>
            <a:r>
              <a:rPr lang="en-US" sz="950" dirty="0">
                <a:solidFill>
                  <a:srgbClr val="3E4658"/>
                </a:solidFill>
                <a:latin typeface="Calibri" pitchFamily="34" charset="0"/>
                <a:ea typeface="Calibri" pitchFamily="34" charset="-122"/>
                <a:cs typeface="Calibri" pitchFamily="34" charset="-120"/>
              </a:rPr>
              <a:t>The solver gives the exact best cut every time. We only apply a new one if it is at least 15% better and 30 seconds have passed. The same brake handles heat, network and machine failure.</a:t>
            </a:r>
            <a:endParaRPr lang="en-US" sz="950" dirty="0"/>
          </a:p>
        </p:txBody>
      </p:sp>
      <p:sp>
        <p:nvSpPr>
          <p:cNvPr id="19" name="Shape 17"/>
          <p:cNvSpPr/>
          <p:nvPr/>
        </p:nvSpPr>
        <p:spPr>
          <a:xfrm>
            <a:off x="6373368" y="1444752"/>
            <a:ext cx="5577840" cy="1316736"/>
          </a:xfrm>
          <a:prstGeom prst="roundRect">
            <a:avLst>
              <a:gd name="adj" fmla="val 4861"/>
            </a:avLst>
          </a:prstGeom>
          <a:solidFill>
            <a:srgbClr val="F7F8FA"/>
          </a:solidFill>
          <a:ln w="12700">
            <a:solidFill>
              <a:srgbClr val="FFFFFF"/>
            </a:solidFill>
            <a:prstDash val="solid"/>
          </a:ln>
          <a:effectLst>
            <a:outerShdw sx="100000" sy="100000" kx="0" ky="0" algn="bl" rotWithShape="0" blurRad="127000" dist="25400" dir="5400000">
              <a:srgbClr val="9AA3B2">
                <a:alpha val="28000"/>
              </a:srgbClr>
            </a:outerShdw>
          </a:effectLst>
        </p:spPr>
      </p:sp>
      <p:sp>
        <p:nvSpPr>
          <p:cNvPr id="20" name="Shape 18"/>
          <p:cNvSpPr/>
          <p:nvPr/>
        </p:nvSpPr>
        <p:spPr>
          <a:xfrm>
            <a:off x="6629400" y="1700784"/>
            <a:ext cx="310896" cy="310896"/>
          </a:xfrm>
          <a:prstGeom prst="ellipse">
            <a:avLst/>
          </a:prstGeom>
          <a:solidFill>
            <a:srgbClr val="1F8A80"/>
          </a:solidFill>
          <a:ln w="12700">
            <a:solidFill>
              <a:srgbClr val="1F8A80"/>
            </a:solidFill>
            <a:prstDash val="solid"/>
          </a:ln>
        </p:spPr>
      </p:sp>
      <p:sp>
        <p:nvSpPr>
          <p:cNvPr id="21" name="Text 19"/>
          <p:cNvSpPr/>
          <p:nvPr/>
        </p:nvSpPr>
        <p:spPr>
          <a:xfrm>
            <a:off x="6629400" y="1700784"/>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2" name="Text 20"/>
          <p:cNvSpPr/>
          <p:nvPr/>
        </p:nvSpPr>
        <p:spPr>
          <a:xfrm>
            <a:off x="7068312" y="1627632"/>
            <a:ext cx="4663440" cy="310896"/>
          </a:xfrm>
          <a:prstGeom prst="rect">
            <a:avLst/>
          </a:prstGeom>
          <a:noFill/>
          <a:ln/>
        </p:spPr>
        <p:txBody>
          <a:bodyPr wrap="square" lIns="0" tIns="0" rIns="0" bIns="0" rtlCol="0" anchor="ctr"/>
          <a:lstStyle/>
          <a:p>
            <a:pPr indent="0" marL="0">
              <a:buNone/>
            </a:pPr>
            <a:r>
              <a:rPr lang="en-US" sz="1250" b="1" dirty="0">
                <a:solidFill>
                  <a:srgbClr val="141821"/>
                </a:solidFill>
                <a:latin typeface="Calibri" pitchFamily="34" charset="0"/>
                <a:ea typeface="Calibri" pitchFamily="34" charset="-122"/>
                <a:cs typeface="Calibri" pitchFamily="34" charset="-120"/>
              </a:rPr>
              <a:t>We move layers without a restart</a:t>
            </a:r>
            <a:endParaRPr lang="en-US" sz="1250" dirty="0"/>
          </a:p>
        </p:txBody>
      </p:sp>
      <p:sp>
        <p:nvSpPr>
          <p:cNvPr id="23" name="Text 21"/>
          <p:cNvSpPr/>
          <p:nvPr/>
        </p:nvSpPr>
        <p:spPr>
          <a:xfrm>
            <a:off x="7068312" y="1947672"/>
            <a:ext cx="4709160" cy="749808"/>
          </a:xfrm>
          <a:prstGeom prst="rect">
            <a:avLst/>
          </a:prstGeom>
          <a:noFill/>
          <a:ln/>
        </p:spPr>
        <p:txBody>
          <a:bodyPr wrap="square" lIns="0" tIns="0" rIns="0" bIns="0" rtlCol="0" anchor="ctr"/>
          <a:lstStyle/>
          <a:p>
            <a:pPr indent="0" marL="0">
              <a:lnSpc>
                <a:spcPts val="1200"/>
              </a:lnSpc>
              <a:buNone/>
            </a:pPr>
            <a:r>
              <a:rPr lang="en-US" sz="950" dirty="0">
                <a:solidFill>
                  <a:srgbClr val="3E4658"/>
                </a:solidFill>
                <a:latin typeface="Calibri" pitchFamily="34" charset="0"/>
                <a:ea typeface="Calibri" pitchFamily="34" charset="-122"/>
                <a:cs typeface="Calibri" pitchFamily="34" charset="-120"/>
              </a:rPr>
              <a:t>Layers move between machines while requests are still in flight. Each plan carries a version number, machines refuse messages from an old plan, and because machines keep no state we can simply replay the request.</a:t>
            </a:r>
            <a:endParaRPr lang="en-US" sz="950" dirty="0"/>
          </a:p>
        </p:txBody>
      </p:sp>
      <p:sp>
        <p:nvSpPr>
          <p:cNvPr id="24" name="Shape 22"/>
          <p:cNvSpPr/>
          <p:nvPr/>
        </p:nvSpPr>
        <p:spPr>
          <a:xfrm>
            <a:off x="6373368" y="2926080"/>
            <a:ext cx="5577840" cy="1316736"/>
          </a:xfrm>
          <a:prstGeom prst="roundRect">
            <a:avLst>
              <a:gd name="adj" fmla="val 4861"/>
            </a:avLst>
          </a:prstGeom>
          <a:solidFill>
            <a:srgbClr val="F7F8FA"/>
          </a:solidFill>
          <a:ln w="12700">
            <a:solidFill>
              <a:srgbClr val="FFFFFF"/>
            </a:solidFill>
            <a:prstDash val="solid"/>
          </a:ln>
          <a:effectLst>
            <a:outerShdw sx="100000" sy="100000" kx="0" ky="0" algn="bl" rotWithShape="0" blurRad="127000" dist="25400" dir="5400000">
              <a:srgbClr val="9AA3B2">
                <a:alpha val="28000"/>
              </a:srgbClr>
            </a:outerShdw>
          </a:effectLst>
        </p:spPr>
      </p:sp>
      <p:sp>
        <p:nvSpPr>
          <p:cNvPr id="25" name="Shape 23"/>
          <p:cNvSpPr/>
          <p:nvPr/>
        </p:nvSpPr>
        <p:spPr>
          <a:xfrm>
            <a:off x="6629400" y="3182112"/>
            <a:ext cx="310896" cy="310896"/>
          </a:xfrm>
          <a:prstGeom prst="ellipse">
            <a:avLst/>
          </a:prstGeom>
          <a:solidFill>
            <a:srgbClr val="1F8A80"/>
          </a:solidFill>
          <a:ln w="12700">
            <a:solidFill>
              <a:srgbClr val="1F8A80"/>
            </a:solidFill>
            <a:prstDash val="solid"/>
          </a:ln>
        </p:spPr>
      </p:sp>
      <p:sp>
        <p:nvSpPr>
          <p:cNvPr id="26" name="Text 24"/>
          <p:cNvSpPr/>
          <p:nvPr/>
        </p:nvSpPr>
        <p:spPr>
          <a:xfrm>
            <a:off x="6629400" y="3182112"/>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7" name="Text 25"/>
          <p:cNvSpPr/>
          <p:nvPr/>
        </p:nvSpPr>
        <p:spPr>
          <a:xfrm>
            <a:off x="7068312" y="3108960"/>
            <a:ext cx="4663440" cy="310896"/>
          </a:xfrm>
          <a:prstGeom prst="rect">
            <a:avLst/>
          </a:prstGeom>
          <a:noFill/>
          <a:ln/>
        </p:spPr>
        <p:txBody>
          <a:bodyPr wrap="square" lIns="0" tIns="0" rIns="0" bIns="0" rtlCol="0" anchor="ctr"/>
          <a:lstStyle/>
          <a:p>
            <a:pPr indent="0" marL="0">
              <a:buNone/>
            </a:pPr>
            <a:r>
              <a:rPr lang="en-US" sz="1250" b="1" dirty="0">
                <a:solidFill>
                  <a:srgbClr val="141821"/>
                </a:solidFill>
                <a:latin typeface="Calibri" pitchFamily="34" charset="0"/>
                <a:ea typeface="Calibri" pitchFamily="34" charset="-122"/>
                <a:cs typeface="Calibri" pitchFamily="34" charset="-120"/>
              </a:rPr>
              <a:t>We show the gain comes from live measuring</a:t>
            </a:r>
            <a:endParaRPr lang="en-US" sz="1250" dirty="0"/>
          </a:p>
        </p:txBody>
      </p:sp>
      <p:sp>
        <p:nvSpPr>
          <p:cNvPr id="28" name="Text 26"/>
          <p:cNvSpPr/>
          <p:nvPr/>
        </p:nvSpPr>
        <p:spPr>
          <a:xfrm>
            <a:off x="7068312" y="3429000"/>
            <a:ext cx="4709160" cy="749808"/>
          </a:xfrm>
          <a:prstGeom prst="rect">
            <a:avLst/>
          </a:prstGeom>
          <a:noFill/>
          <a:ln/>
        </p:spPr>
        <p:txBody>
          <a:bodyPr wrap="square" lIns="0" tIns="0" rIns="0" bIns="0" rtlCol="0" anchor="ctr"/>
          <a:lstStyle/>
          <a:p>
            <a:pPr indent="0" marL="0">
              <a:lnSpc>
                <a:spcPts val="1200"/>
              </a:lnSpc>
              <a:buNone/>
            </a:pPr>
            <a:r>
              <a:rPr lang="en-US" sz="950" dirty="0">
                <a:solidFill>
                  <a:srgbClr val="3E4658"/>
                </a:solidFill>
                <a:latin typeface="Calibri" pitchFamily="34" charset="0"/>
                <a:ea typeface="Calibri" pitchFamily="34" charset="-122"/>
                <a:cs typeface="Calibri" pitchFamily="34" charset="-120"/>
              </a:rPr>
              <a:t>We built a 'measure once' mode that uses the same solver and the same code, but freezes what it measured. So the improvement we report comes from measuring all the time, not from a better solver.</a:t>
            </a:r>
            <a:endParaRPr lang="en-US" sz="950" dirty="0"/>
          </a:p>
        </p:txBody>
      </p:sp>
      <p:sp>
        <p:nvSpPr>
          <p:cNvPr id="29" name="Shape 27"/>
          <p:cNvSpPr/>
          <p:nvPr/>
        </p:nvSpPr>
        <p:spPr>
          <a:xfrm>
            <a:off x="6373368" y="4407408"/>
            <a:ext cx="5577840" cy="1316736"/>
          </a:xfrm>
          <a:prstGeom prst="roundRect">
            <a:avLst>
              <a:gd name="adj" fmla="val 4861"/>
            </a:avLst>
          </a:prstGeom>
          <a:solidFill>
            <a:srgbClr val="141821"/>
          </a:solidFill>
          <a:ln w="12700">
            <a:solidFill>
              <a:srgbClr val="333333"/>
            </a:solidFill>
            <a:prstDash val="solid"/>
          </a:ln>
          <a:effectLst>
            <a:outerShdw sx="100000" sy="100000" kx="0" ky="0" algn="bl" rotWithShape="0" blurRad="127000" dist="25400" dir="5400000">
              <a:srgbClr val="9AA3B2">
                <a:alpha val="28000"/>
              </a:srgbClr>
            </a:outerShdw>
          </a:effectLst>
        </p:spPr>
      </p:sp>
      <p:sp>
        <p:nvSpPr>
          <p:cNvPr id="30" name="Text 28"/>
          <p:cNvSpPr/>
          <p:nvPr/>
        </p:nvSpPr>
        <p:spPr>
          <a:xfrm>
            <a:off x="6629400" y="4572000"/>
            <a:ext cx="4937760" cy="274320"/>
          </a:xfrm>
          <a:prstGeom prst="rect">
            <a:avLst/>
          </a:prstGeom>
          <a:noFill/>
          <a:ln/>
        </p:spPr>
        <p:txBody>
          <a:bodyPr wrap="square" lIns="0" tIns="0" rIns="0" bIns="0" rtlCol="0" anchor="ctr"/>
          <a:lstStyle/>
          <a:p>
            <a:pPr indent="0" marL="0">
              <a:buNone/>
            </a:pPr>
            <a:r>
              <a:rPr lang="en-US" sz="1050" b="1" spc="140" kern="0" dirty="0">
                <a:solidFill>
                  <a:srgbClr val="E07B39"/>
                </a:solidFill>
                <a:latin typeface="Calibri" pitchFamily="34" charset="0"/>
                <a:ea typeface="Calibri" pitchFamily="34" charset="-122"/>
                <a:cs typeface="Calibri" pitchFamily="34" charset="-120"/>
              </a:rPr>
              <a:t>The main new idea</a:t>
            </a:r>
            <a:endParaRPr lang="en-US" sz="1050" dirty="0"/>
          </a:p>
        </p:txBody>
      </p:sp>
      <p:sp>
        <p:nvSpPr>
          <p:cNvPr id="31" name="Text 29"/>
          <p:cNvSpPr/>
          <p:nvPr/>
        </p:nvSpPr>
        <p:spPr>
          <a:xfrm>
            <a:off x="6629400" y="4882896"/>
            <a:ext cx="5029200" cy="777240"/>
          </a:xfrm>
          <a:prstGeom prst="rect">
            <a:avLst/>
          </a:prstGeom>
          <a:noFill/>
          <a:ln/>
        </p:spPr>
        <p:txBody>
          <a:bodyPr wrap="square" lIns="0" tIns="0" rIns="0" bIns="0" rtlCol="0" anchor="ctr"/>
          <a:lstStyle/>
          <a:p>
            <a:pPr indent="0" marL="0">
              <a:lnSpc>
                <a:spcPts val="1550"/>
              </a:lnSpc>
              <a:buNone/>
            </a:pPr>
            <a:r>
              <a:rPr lang="en-US" sz="1150" dirty="0">
                <a:solidFill>
                  <a:srgbClr val="D3D9E2"/>
                </a:solidFill>
                <a:latin typeface="Calibri" pitchFamily="34" charset="0"/>
                <a:ea typeface="Calibri" pitchFamily="34" charset="-122"/>
                <a:cs typeface="Calibri" pitchFamily="34" charset="-120"/>
              </a:rPr>
              <a:t>We did not invent a new splitting algorithm. We took the standard one and put it inside a loop that keeps measuring the real machines and never stops.</a:t>
            </a:r>
            <a:endParaRPr lang="en-US" sz="1150" dirty="0"/>
          </a:p>
        </p:txBody>
      </p:sp>
      <p:sp>
        <p:nvSpPr>
          <p:cNvPr id="32" name="Text 30"/>
          <p:cNvSpPr/>
          <p:nvPr/>
        </p:nvSpPr>
        <p:spPr>
          <a:xfrm>
            <a:off x="566928" y="6382512"/>
            <a:ext cx="9692640" cy="274320"/>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The orange-numbered items are the main new ideas.</a:t>
            </a:r>
            <a:endParaRPr lang="en-US" sz="950" dirty="0"/>
          </a:p>
        </p:txBody>
      </p:sp>
      <p:sp>
        <p:nvSpPr>
          <p:cNvPr id="33" name="Text 31"/>
          <p:cNvSpPr/>
          <p:nvPr/>
        </p:nvSpPr>
        <p:spPr>
          <a:xfrm>
            <a:off x="11073384" y="6382512"/>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50" b="1" spc="220" kern="0" dirty="0">
                <a:solidFill>
                  <a:srgbClr val="E07B39"/>
                </a:solidFill>
                <a:latin typeface="Calibri" pitchFamily="34" charset="0"/>
                <a:ea typeface="Calibri" pitchFamily="34" charset="-122"/>
                <a:cs typeface="Calibri" pitchFamily="34" charset="-120"/>
              </a:rPr>
              <a:t>OUR SYSTEM</a:t>
            </a:r>
            <a:endParaRPr lang="en-US" sz="1150" dirty="0"/>
          </a:p>
        </p:txBody>
      </p:sp>
      <p:sp>
        <p:nvSpPr>
          <p:cNvPr id="3" name="Text 1"/>
          <p:cNvSpPr/>
          <p:nvPr/>
        </p:nvSpPr>
        <p:spPr>
          <a:xfrm>
            <a:off x="566928" y="566928"/>
            <a:ext cx="11055096" cy="658368"/>
          </a:xfrm>
          <a:prstGeom prst="rect">
            <a:avLst/>
          </a:prstGeom>
          <a:noFill/>
          <a:ln/>
        </p:spPr>
        <p:txBody>
          <a:bodyPr wrap="square" lIns="0" tIns="0" rIns="0" bIns="0" rtlCol="0" anchor="ctr"/>
          <a:lstStyle/>
          <a:p>
            <a:pPr indent="0" marL="0">
              <a:buNone/>
            </a:pPr>
            <a:r>
              <a:rPr lang="en-US" sz="3200" b="1" dirty="0">
                <a:solidFill>
                  <a:srgbClr val="141821"/>
                </a:solidFill>
                <a:latin typeface="Cambria" pitchFamily="34" charset="0"/>
                <a:ea typeface="Cambria" pitchFamily="34" charset="-122"/>
                <a:cs typeface="Cambria" pitchFamily="34" charset="-120"/>
              </a:rPr>
              <a:t>How the loop works</a:t>
            </a:r>
            <a:endParaRPr lang="en-US" sz="3200" dirty="0"/>
          </a:p>
        </p:txBody>
      </p:sp>
      <p:sp>
        <p:nvSpPr>
          <p:cNvPr id="4" name="Shape 2"/>
          <p:cNvSpPr/>
          <p:nvPr/>
        </p:nvSpPr>
        <p:spPr>
          <a:xfrm>
            <a:off x="566928" y="1481328"/>
            <a:ext cx="2578608" cy="3200400"/>
          </a:xfrm>
          <a:prstGeom prst="roundRect">
            <a:avLst>
              <a:gd name="adj" fmla="val 2482"/>
            </a:avLst>
          </a:prstGeom>
          <a:solidFill>
            <a:srgbClr val="FFFFFF"/>
          </a:solidFill>
          <a:ln w="12700">
            <a:solidFill>
              <a:srgbClr val="FFFFFF"/>
            </a:solidFill>
            <a:prstDash val="solid"/>
          </a:ln>
          <a:effectLst>
            <a:outerShdw sx="100000" sy="100000" kx="0" ky="0" algn="bl" rotWithShape="0" blurRad="127000" dist="25400" dir="5400000">
              <a:srgbClr val="9AA3B2">
                <a:alpha val="28000"/>
              </a:srgbClr>
            </a:outerShdw>
          </a:effectLst>
        </p:spPr>
      </p:sp>
      <p:sp>
        <p:nvSpPr>
          <p:cNvPr id="5" name="Shape 3"/>
          <p:cNvSpPr/>
          <p:nvPr/>
        </p:nvSpPr>
        <p:spPr>
          <a:xfrm>
            <a:off x="566928" y="1481328"/>
            <a:ext cx="2578608" cy="3200400"/>
          </a:xfrm>
          <a:prstGeom prst="roundRect">
            <a:avLst>
              <a:gd name="adj" fmla="val 2482"/>
            </a:avLst>
          </a:prstGeom>
          <a:solidFill>
            <a:srgbClr val="FFFFFF"/>
          </a:solidFill>
          <a:ln w="12700">
            <a:solidFill>
              <a:srgbClr val="D8DCE4"/>
            </a:solidFill>
            <a:prstDash val="solid"/>
          </a:ln>
        </p:spPr>
      </p:sp>
      <p:sp>
        <p:nvSpPr>
          <p:cNvPr id="6" name="Shape 4"/>
          <p:cNvSpPr/>
          <p:nvPr/>
        </p:nvSpPr>
        <p:spPr>
          <a:xfrm>
            <a:off x="804672" y="1719072"/>
            <a:ext cx="384048" cy="384048"/>
          </a:xfrm>
          <a:prstGeom prst="ellipse">
            <a:avLst/>
          </a:prstGeom>
          <a:solidFill>
            <a:srgbClr val="E07B39"/>
          </a:solidFill>
          <a:ln w="12700">
            <a:solidFill>
              <a:srgbClr val="333333"/>
            </a:solidFill>
            <a:prstDash val="solid"/>
          </a:ln>
        </p:spPr>
      </p:sp>
      <p:sp>
        <p:nvSpPr>
          <p:cNvPr id="7" name="Text 5"/>
          <p:cNvSpPr/>
          <p:nvPr/>
        </p:nvSpPr>
        <p:spPr>
          <a:xfrm>
            <a:off x="804672" y="17190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298448" y="1737360"/>
            <a:ext cx="1737360" cy="274320"/>
          </a:xfrm>
          <a:prstGeom prst="rect">
            <a:avLst/>
          </a:prstGeom>
          <a:noFill/>
          <a:ln/>
        </p:spPr>
        <p:txBody>
          <a:bodyPr wrap="square" lIns="0" tIns="0" rIns="0" bIns="0" rtlCol="0" anchor="ctr"/>
          <a:lstStyle/>
          <a:p>
            <a:pPr indent="0" marL="0">
              <a:buNone/>
            </a:pPr>
            <a:r>
              <a:rPr lang="en-US" sz="1700" b="1" dirty="0">
                <a:solidFill>
                  <a:srgbClr val="141821"/>
                </a:solidFill>
                <a:latin typeface="Cambria" pitchFamily="34" charset="0"/>
                <a:ea typeface="Cambria" pitchFamily="34" charset="-122"/>
                <a:cs typeface="Cambria" pitchFamily="34" charset="-120"/>
              </a:rPr>
              <a:t>WATCH</a:t>
            </a:r>
            <a:endParaRPr lang="en-US" sz="1700" dirty="0"/>
          </a:p>
        </p:txBody>
      </p:sp>
      <p:sp>
        <p:nvSpPr>
          <p:cNvPr id="9" name="Text 7"/>
          <p:cNvSpPr/>
          <p:nvPr/>
        </p:nvSpPr>
        <p:spPr>
          <a:xfrm>
            <a:off x="1298448" y="2011680"/>
            <a:ext cx="1737360" cy="219456"/>
          </a:xfrm>
          <a:prstGeom prst="rect">
            <a:avLst/>
          </a:prstGeom>
          <a:noFill/>
          <a:ln/>
        </p:spPr>
        <p:txBody>
          <a:bodyPr wrap="square" lIns="0" tIns="0" rIns="0" bIns="0" rtlCol="0" anchor="ctr"/>
          <a:lstStyle/>
          <a:p>
            <a:pPr indent="0" marL="0">
              <a:buNone/>
            </a:pPr>
            <a:r>
              <a:rPr lang="en-US" sz="900" b="1" dirty="0">
                <a:solidFill>
                  <a:srgbClr val="E07B39"/>
                </a:solidFill>
                <a:latin typeface="Calibri" pitchFamily="34" charset="0"/>
                <a:ea typeface="Calibri" pitchFamily="34" charset="-122"/>
                <a:cs typeface="Calibri" pitchFamily="34" charset="-120"/>
              </a:rPr>
              <a:t>measure</a:t>
            </a:r>
            <a:endParaRPr lang="en-US" sz="900" dirty="0"/>
          </a:p>
        </p:txBody>
      </p:sp>
      <p:sp>
        <p:nvSpPr>
          <p:cNvPr id="10" name="Text 8"/>
          <p:cNvSpPr/>
          <p:nvPr/>
        </p:nvSpPr>
        <p:spPr>
          <a:xfrm>
            <a:off x="804672" y="2377440"/>
            <a:ext cx="2121408" cy="1664208"/>
          </a:xfrm>
          <a:prstGeom prst="rect">
            <a:avLst/>
          </a:prstGeom>
          <a:noFill/>
          <a:ln/>
        </p:spPr>
        <p:txBody>
          <a:bodyPr wrap="square" lIns="0" tIns="0" rIns="0" bIns="0" rtlCol="0" anchor="t"/>
          <a:lstStyle/>
          <a:p>
            <a:pPr indent="0" marL="0">
              <a:lnSpc>
                <a:spcPts val="1300"/>
              </a:lnSpc>
              <a:buNone/>
            </a:pPr>
            <a:r>
              <a:rPr lang="en-US" sz="950" dirty="0">
                <a:solidFill>
                  <a:srgbClr val="3E4658"/>
                </a:solidFill>
                <a:latin typeface="Calibri" pitchFamily="34" charset="0"/>
                <a:ea typeface="Calibri" pitchFamily="34" charset="-122"/>
                <a:cs typeface="Calibri" pitchFamily="34" charset="-120"/>
              </a:rPr>
              <a:t>Two small kernel programs report the delay and speed of every connection. Another reads GPU or CPU temperature and how much the machine has slowed down.</a:t>
            </a:r>
            <a:endParaRPr lang="en-US" sz="950" dirty="0"/>
          </a:p>
        </p:txBody>
      </p:sp>
      <p:sp>
        <p:nvSpPr>
          <p:cNvPr id="11" name="Text 9"/>
          <p:cNvSpPr/>
          <p:nvPr/>
        </p:nvSpPr>
        <p:spPr>
          <a:xfrm>
            <a:off x="804672" y="4160520"/>
            <a:ext cx="2148840" cy="365760"/>
          </a:xfrm>
          <a:prstGeom prst="rect">
            <a:avLst/>
          </a:prstGeom>
          <a:noFill/>
          <a:ln/>
        </p:spPr>
        <p:txBody>
          <a:bodyPr wrap="square" lIns="0" tIns="0" rIns="0" bIns="0" rtlCol="0" anchor="ctr"/>
          <a:lstStyle/>
          <a:p>
            <a:pPr indent="0" marL="0">
              <a:buNone/>
            </a:pPr>
            <a:r>
              <a:rPr lang="en-US" sz="750" dirty="0">
                <a:solidFill>
                  <a:srgbClr val="6B7280"/>
                </a:solidFill>
                <a:latin typeface="Courier New" pitchFamily="34" charset="0"/>
                <a:ea typeface="Courier New" pitchFamily="34" charset="-122"/>
                <a:cs typeface="Courier New" pitchFamily="34" charset="-120"/>
              </a:rPr>
              <a:t>internal/ebpf + cmd/nodeagent</a:t>
            </a:r>
            <a:endParaRPr lang="en-US" sz="750" dirty="0"/>
          </a:p>
        </p:txBody>
      </p:sp>
      <p:sp>
        <p:nvSpPr>
          <p:cNvPr id="12" name="Shape 10"/>
          <p:cNvSpPr/>
          <p:nvPr/>
        </p:nvSpPr>
        <p:spPr>
          <a:xfrm>
            <a:off x="3200400" y="2944368"/>
            <a:ext cx="146304" cy="274320"/>
          </a:xfrm>
          <a:prstGeom prst="rightArrow">
            <a:avLst/>
          </a:prstGeom>
          <a:solidFill>
            <a:srgbClr val="B6BDCA"/>
          </a:solidFill>
          <a:ln w="12700">
            <a:solidFill>
              <a:srgbClr val="333333"/>
            </a:solidFill>
            <a:prstDash val="solid"/>
          </a:ln>
        </p:spPr>
      </p:sp>
      <p:sp>
        <p:nvSpPr>
          <p:cNvPr id="13" name="Shape 11"/>
          <p:cNvSpPr/>
          <p:nvPr/>
        </p:nvSpPr>
        <p:spPr>
          <a:xfrm>
            <a:off x="3383280" y="1481328"/>
            <a:ext cx="2578608" cy="3200400"/>
          </a:xfrm>
          <a:prstGeom prst="roundRect">
            <a:avLst>
              <a:gd name="adj" fmla="val 2482"/>
            </a:avLst>
          </a:prstGeom>
          <a:solidFill>
            <a:srgbClr val="FFFFFF"/>
          </a:solidFill>
          <a:ln w="12700">
            <a:solidFill>
              <a:srgbClr val="FFFFFF"/>
            </a:solidFill>
            <a:prstDash val="solid"/>
          </a:ln>
          <a:effectLst>
            <a:outerShdw sx="100000" sy="100000" kx="0" ky="0" algn="bl" rotWithShape="0" blurRad="127000" dist="25400" dir="5400000">
              <a:srgbClr val="9AA3B2">
                <a:alpha val="28000"/>
              </a:srgbClr>
            </a:outerShdw>
          </a:effectLst>
        </p:spPr>
      </p:sp>
      <p:sp>
        <p:nvSpPr>
          <p:cNvPr id="14" name="Shape 12"/>
          <p:cNvSpPr/>
          <p:nvPr/>
        </p:nvSpPr>
        <p:spPr>
          <a:xfrm>
            <a:off x="3383280" y="1481328"/>
            <a:ext cx="2578608" cy="3200400"/>
          </a:xfrm>
          <a:prstGeom prst="roundRect">
            <a:avLst>
              <a:gd name="adj" fmla="val 2482"/>
            </a:avLst>
          </a:prstGeom>
          <a:solidFill>
            <a:srgbClr val="FFFFFF"/>
          </a:solidFill>
          <a:ln w="12700">
            <a:solidFill>
              <a:srgbClr val="D8DCE4"/>
            </a:solidFill>
            <a:prstDash val="solid"/>
          </a:ln>
        </p:spPr>
      </p:sp>
      <p:sp>
        <p:nvSpPr>
          <p:cNvPr id="15" name="Shape 13"/>
          <p:cNvSpPr/>
          <p:nvPr/>
        </p:nvSpPr>
        <p:spPr>
          <a:xfrm>
            <a:off x="3621024" y="1719072"/>
            <a:ext cx="384048" cy="384048"/>
          </a:xfrm>
          <a:prstGeom prst="ellipse">
            <a:avLst/>
          </a:prstGeom>
          <a:solidFill>
            <a:srgbClr val="1F8A80"/>
          </a:solidFill>
          <a:ln w="12700">
            <a:solidFill>
              <a:srgbClr val="333333"/>
            </a:solidFill>
            <a:prstDash val="solid"/>
          </a:ln>
        </p:spPr>
      </p:sp>
      <p:sp>
        <p:nvSpPr>
          <p:cNvPr id="16" name="Text 14"/>
          <p:cNvSpPr/>
          <p:nvPr/>
        </p:nvSpPr>
        <p:spPr>
          <a:xfrm>
            <a:off x="3621024" y="17190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5"/>
          <p:cNvSpPr/>
          <p:nvPr/>
        </p:nvSpPr>
        <p:spPr>
          <a:xfrm>
            <a:off x="4114800" y="1737360"/>
            <a:ext cx="1737360" cy="274320"/>
          </a:xfrm>
          <a:prstGeom prst="rect">
            <a:avLst/>
          </a:prstGeom>
          <a:noFill/>
          <a:ln/>
        </p:spPr>
        <p:txBody>
          <a:bodyPr wrap="square" lIns="0" tIns="0" rIns="0" bIns="0" rtlCol="0" anchor="ctr"/>
          <a:lstStyle/>
          <a:p>
            <a:pPr indent="0" marL="0">
              <a:buNone/>
            </a:pPr>
            <a:r>
              <a:rPr lang="en-US" sz="1700" b="1" dirty="0">
                <a:solidFill>
                  <a:srgbClr val="141821"/>
                </a:solidFill>
                <a:latin typeface="Cambria" pitchFamily="34" charset="0"/>
                <a:ea typeface="Cambria" pitchFamily="34" charset="-122"/>
                <a:cs typeface="Cambria" pitchFamily="34" charset="-120"/>
              </a:rPr>
              <a:t>DECIDE</a:t>
            </a:r>
            <a:endParaRPr lang="en-US" sz="1700" dirty="0"/>
          </a:p>
        </p:txBody>
      </p:sp>
      <p:sp>
        <p:nvSpPr>
          <p:cNvPr id="18" name="Text 16"/>
          <p:cNvSpPr/>
          <p:nvPr/>
        </p:nvSpPr>
        <p:spPr>
          <a:xfrm>
            <a:off x="4114800" y="2011680"/>
            <a:ext cx="1737360" cy="219456"/>
          </a:xfrm>
          <a:prstGeom prst="rect">
            <a:avLst/>
          </a:prstGeom>
          <a:noFill/>
          <a:ln/>
        </p:spPr>
        <p:txBody>
          <a:bodyPr wrap="square" lIns="0" tIns="0" rIns="0" bIns="0" rtlCol="0" anchor="ctr"/>
          <a:lstStyle/>
          <a:p>
            <a:pPr indent="0" marL="0">
              <a:buNone/>
            </a:pPr>
            <a:r>
              <a:rPr lang="en-US" sz="900" b="1" dirty="0">
                <a:solidFill>
                  <a:srgbClr val="1F8A80"/>
                </a:solidFill>
                <a:latin typeface="Calibri" pitchFamily="34" charset="0"/>
                <a:ea typeface="Calibri" pitchFamily="34" charset="-122"/>
                <a:cs typeface="Calibri" pitchFamily="34" charset="-120"/>
              </a:rPr>
              <a:t>choose</a:t>
            </a:r>
            <a:endParaRPr lang="en-US" sz="900" dirty="0"/>
          </a:p>
        </p:txBody>
      </p:sp>
      <p:sp>
        <p:nvSpPr>
          <p:cNvPr id="19" name="Text 17"/>
          <p:cNvSpPr/>
          <p:nvPr/>
        </p:nvSpPr>
        <p:spPr>
          <a:xfrm>
            <a:off x="3621024" y="2377440"/>
            <a:ext cx="2121408" cy="1664208"/>
          </a:xfrm>
          <a:prstGeom prst="rect">
            <a:avLst/>
          </a:prstGeom>
          <a:noFill/>
          <a:ln/>
        </p:spPr>
        <p:txBody>
          <a:bodyPr wrap="square" lIns="0" tIns="0" rIns="0" bIns="0" rtlCol="0" anchor="t"/>
          <a:lstStyle/>
          <a:p>
            <a:pPr indent="0" marL="0">
              <a:lnSpc>
                <a:spcPts val="1300"/>
              </a:lnSpc>
              <a:buNone/>
            </a:pPr>
            <a:r>
              <a:rPr lang="en-US" sz="950" dirty="0">
                <a:solidFill>
                  <a:srgbClr val="3E4658"/>
                </a:solidFill>
                <a:latin typeface="Calibri" pitchFamily="34" charset="0"/>
                <a:ea typeface="Calibri" pitchFamily="34" charset="-122"/>
                <a:cs typeface="Calibri" pitchFamily="34" charset="-120"/>
              </a:rPr>
              <a:t>Works out the cut that makes the slowest machine as fast as possible. Applied only if it is 15% better and 30 seconds have passed.</a:t>
            </a:r>
            <a:endParaRPr lang="en-US" sz="950" dirty="0"/>
          </a:p>
        </p:txBody>
      </p:sp>
      <p:sp>
        <p:nvSpPr>
          <p:cNvPr id="20" name="Text 18"/>
          <p:cNvSpPr/>
          <p:nvPr/>
        </p:nvSpPr>
        <p:spPr>
          <a:xfrm>
            <a:off x="3621024" y="4160520"/>
            <a:ext cx="2148840" cy="365760"/>
          </a:xfrm>
          <a:prstGeom prst="rect">
            <a:avLst/>
          </a:prstGeom>
          <a:noFill/>
          <a:ln/>
        </p:spPr>
        <p:txBody>
          <a:bodyPr wrap="square" lIns="0" tIns="0" rIns="0" bIns="0" rtlCol="0" anchor="ctr"/>
          <a:lstStyle/>
          <a:p>
            <a:pPr indent="0" marL="0">
              <a:buNone/>
            </a:pPr>
            <a:r>
              <a:rPr lang="en-US" sz="750" dirty="0">
                <a:solidFill>
                  <a:srgbClr val="6B7280"/>
                </a:solidFill>
                <a:latin typeface="Courier New" pitchFamily="34" charset="0"/>
                <a:ea typeface="Courier New" pitchFamily="34" charset="-122"/>
                <a:cs typeface="Courier New" pitchFamily="34" charset="-120"/>
              </a:rPr>
              <a:t>internal/partition</a:t>
            </a:r>
            <a:endParaRPr lang="en-US" sz="750" dirty="0"/>
          </a:p>
        </p:txBody>
      </p:sp>
      <p:sp>
        <p:nvSpPr>
          <p:cNvPr id="21" name="Shape 19"/>
          <p:cNvSpPr/>
          <p:nvPr/>
        </p:nvSpPr>
        <p:spPr>
          <a:xfrm>
            <a:off x="6016752" y="2944368"/>
            <a:ext cx="146304" cy="274320"/>
          </a:xfrm>
          <a:prstGeom prst="rightArrow">
            <a:avLst/>
          </a:prstGeom>
          <a:solidFill>
            <a:srgbClr val="B6BDCA"/>
          </a:solidFill>
          <a:ln w="12700">
            <a:solidFill>
              <a:srgbClr val="333333"/>
            </a:solidFill>
            <a:prstDash val="solid"/>
          </a:ln>
        </p:spPr>
      </p:sp>
      <p:sp>
        <p:nvSpPr>
          <p:cNvPr id="22" name="Shape 20"/>
          <p:cNvSpPr/>
          <p:nvPr/>
        </p:nvSpPr>
        <p:spPr>
          <a:xfrm>
            <a:off x="6199632" y="1481328"/>
            <a:ext cx="2578608" cy="3200400"/>
          </a:xfrm>
          <a:prstGeom prst="roundRect">
            <a:avLst>
              <a:gd name="adj" fmla="val 2482"/>
            </a:avLst>
          </a:prstGeom>
          <a:solidFill>
            <a:srgbClr val="FFFFFF"/>
          </a:solidFill>
          <a:ln w="12700">
            <a:solidFill>
              <a:srgbClr val="FFFFFF"/>
            </a:solidFill>
            <a:prstDash val="solid"/>
          </a:ln>
          <a:effectLst>
            <a:outerShdw sx="100000" sy="100000" kx="0" ky="0" algn="bl" rotWithShape="0" blurRad="127000" dist="25400" dir="5400000">
              <a:srgbClr val="9AA3B2">
                <a:alpha val="28000"/>
              </a:srgbClr>
            </a:outerShdw>
          </a:effectLst>
        </p:spPr>
      </p:sp>
      <p:sp>
        <p:nvSpPr>
          <p:cNvPr id="23" name="Shape 21"/>
          <p:cNvSpPr/>
          <p:nvPr/>
        </p:nvSpPr>
        <p:spPr>
          <a:xfrm>
            <a:off x="6199632" y="1481328"/>
            <a:ext cx="2578608" cy="3200400"/>
          </a:xfrm>
          <a:prstGeom prst="roundRect">
            <a:avLst>
              <a:gd name="adj" fmla="val 2482"/>
            </a:avLst>
          </a:prstGeom>
          <a:solidFill>
            <a:srgbClr val="FFFFFF"/>
          </a:solidFill>
          <a:ln w="12700">
            <a:solidFill>
              <a:srgbClr val="D8DCE4"/>
            </a:solidFill>
            <a:prstDash val="solid"/>
          </a:ln>
        </p:spPr>
      </p:sp>
      <p:sp>
        <p:nvSpPr>
          <p:cNvPr id="24" name="Shape 22"/>
          <p:cNvSpPr/>
          <p:nvPr/>
        </p:nvSpPr>
        <p:spPr>
          <a:xfrm>
            <a:off x="6437376" y="1719072"/>
            <a:ext cx="384048" cy="384048"/>
          </a:xfrm>
          <a:prstGeom prst="ellipse">
            <a:avLst/>
          </a:prstGeom>
          <a:solidFill>
            <a:srgbClr val="E07B39"/>
          </a:solidFill>
          <a:ln w="12700">
            <a:solidFill>
              <a:srgbClr val="333333"/>
            </a:solidFill>
            <a:prstDash val="solid"/>
          </a:ln>
        </p:spPr>
      </p:sp>
      <p:sp>
        <p:nvSpPr>
          <p:cNvPr id="25" name="Text 23"/>
          <p:cNvSpPr/>
          <p:nvPr/>
        </p:nvSpPr>
        <p:spPr>
          <a:xfrm>
            <a:off x="6437376" y="17190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6" name="Text 24"/>
          <p:cNvSpPr/>
          <p:nvPr/>
        </p:nvSpPr>
        <p:spPr>
          <a:xfrm>
            <a:off x="6931152" y="1737360"/>
            <a:ext cx="1737360" cy="274320"/>
          </a:xfrm>
          <a:prstGeom prst="rect">
            <a:avLst/>
          </a:prstGeom>
          <a:noFill/>
          <a:ln/>
        </p:spPr>
        <p:txBody>
          <a:bodyPr wrap="square" lIns="0" tIns="0" rIns="0" bIns="0" rtlCol="0" anchor="ctr"/>
          <a:lstStyle/>
          <a:p>
            <a:pPr indent="0" marL="0">
              <a:buNone/>
            </a:pPr>
            <a:r>
              <a:rPr lang="en-US" sz="1700" b="1" dirty="0">
                <a:solidFill>
                  <a:srgbClr val="141821"/>
                </a:solidFill>
                <a:latin typeface="Cambria" pitchFamily="34" charset="0"/>
                <a:ea typeface="Cambria" pitchFamily="34" charset="-122"/>
                <a:cs typeface="Cambria" pitchFamily="34" charset="-120"/>
              </a:rPr>
              <a:t>ACT</a:t>
            </a:r>
            <a:endParaRPr lang="en-US" sz="1700" dirty="0"/>
          </a:p>
        </p:txBody>
      </p:sp>
      <p:sp>
        <p:nvSpPr>
          <p:cNvPr id="27" name="Text 25"/>
          <p:cNvSpPr/>
          <p:nvPr/>
        </p:nvSpPr>
        <p:spPr>
          <a:xfrm>
            <a:off x="6931152" y="2011680"/>
            <a:ext cx="1737360" cy="219456"/>
          </a:xfrm>
          <a:prstGeom prst="rect">
            <a:avLst/>
          </a:prstGeom>
          <a:noFill/>
          <a:ln/>
        </p:spPr>
        <p:txBody>
          <a:bodyPr wrap="square" lIns="0" tIns="0" rIns="0" bIns="0" rtlCol="0" anchor="ctr"/>
          <a:lstStyle/>
          <a:p>
            <a:pPr indent="0" marL="0">
              <a:buNone/>
            </a:pPr>
            <a:r>
              <a:rPr lang="en-US" sz="900" b="1" dirty="0">
                <a:solidFill>
                  <a:srgbClr val="E07B39"/>
                </a:solidFill>
                <a:latin typeface="Calibri" pitchFamily="34" charset="0"/>
                <a:ea typeface="Calibri" pitchFamily="34" charset="-122"/>
                <a:cs typeface="Calibri" pitchFamily="34" charset="-120"/>
              </a:rPr>
              <a:t>apply</a:t>
            </a:r>
            <a:endParaRPr lang="en-US" sz="900" dirty="0"/>
          </a:p>
        </p:txBody>
      </p:sp>
      <p:sp>
        <p:nvSpPr>
          <p:cNvPr id="28" name="Text 26"/>
          <p:cNvSpPr/>
          <p:nvPr/>
        </p:nvSpPr>
        <p:spPr>
          <a:xfrm>
            <a:off x="6437376" y="2377440"/>
            <a:ext cx="2121408" cy="1664208"/>
          </a:xfrm>
          <a:prstGeom prst="rect">
            <a:avLst/>
          </a:prstGeom>
          <a:noFill/>
          <a:ln/>
        </p:spPr>
        <p:txBody>
          <a:bodyPr wrap="square" lIns="0" tIns="0" rIns="0" bIns="0" rtlCol="0" anchor="t"/>
          <a:lstStyle/>
          <a:p>
            <a:pPr indent="0" marL="0">
              <a:lnSpc>
                <a:spcPts val="1300"/>
              </a:lnSpc>
              <a:buNone/>
            </a:pPr>
            <a:r>
              <a:rPr lang="en-US" sz="950" dirty="0">
                <a:solidFill>
                  <a:srgbClr val="3E4658"/>
                </a:solidFill>
                <a:latin typeface="Calibri" pitchFamily="34" charset="0"/>
                <a:ea typeface="Calibri" pitchFamily="34" charset="-122"/>
                <a:cs typeface="Calibri" pitchFamily="34" charset="-120"/>
              </a:rPr>
              <a:t>Sends the new layer ranges to the machines with no restart, and saves the plan in Kubernetes with a version number.</a:t>
            </a:r>
            <a:endParaRPr lang="en-US" sz="950" dirty="0"/>
          </a:p>
        </p:txBody>
      </p:sp>
      <p:sp>
        <p:nvSpPr>
          <p:cNvPr id="29" name="Text 27"/>
          <p:cNvSpPr/>
          <p:nvPr/>
        </p:nvSpPr>
        <p:spPr>
          <a:xfrm>
            <a:off x="6437376" y="4160520"/>
            <a:ext cx="2148840" cy="365760"/>
          </a:xfrm>
          <a:prstGeom prst="rect">
            <a:avLst/>
          </a:prstGeom>
          <a:noFill/>
          <a:ln/>
        </p:spPr>
        <p:txBody>
          <a:bodyPr wrap="square" lIns="0" tIns="0" rIns="0" bIns="0" rtlCol="0" anchor="ctr"/>
          <a:lstStyle/>
          <a:p>
            <a:pPr indent="0" marL="0">
              <a:buNone/>
            </a:pPr>
            <a:r>
              <a:rPr lang="en-US" sz="750" dirty="0">
                <a:solidFill>
                  <a:srgbClr val="6B7280"/>
                </a:solidFill>
                <a:latin typeface="Courier New" pitchFamily="34" charset="0"/>
                <a:ea typeface="Courier New" pitchFamily="34" charset="-122"/>
                <a:cs typeface="Courier New" pitchFamily="34" charset="-120"/>
              </a:rPr>
              <a:t>cmd/controller</a:t>
            </a:r>
            <a:endParaRPr lang="en-US" sz="750" dirty="0"/>
          </a:p>
        </p:txBody>
      </p:sp>
      <p:sp>
        <p:nvSpPr>
          <p:cNvPr id="30" name="Shape 28"/>
          <p:cNvSpPr/>
          <p:nvPr/>
        </p:nvSpPr>
        <p:spPr>
          <a:xfrm>
            <a:off x="8833104" y="2944368"/>
            <a:ext cx="146304" cy="274320"/>
          </a:xfrm>
          <a:prstGeom prst="rightArrow">
            <a:avLst/>
          </a:prstGeom>
          <a:solidFill>
            <a:srgbClr val="B6BDCA"/>
          </a:solidFill>
          <a:ln w="12700">
            <a:solidFill>
              <a:srgbClr val="333333"/>
            </a:solidFill>
            <a:prstDash val="solid"/>
          </a:ln>
        </p:spPr>
      </p:sp>
      <p:sp>
        <p:nvSpPr>
          <p:cNvPr id="31" name="Shape 29"/>
          <p:cNvSpPr/>
          <p:nvPr/>
        </p:nvSpPr>
        <p:spPr>
          <a:xfrm>
            <a:off x="9015984" y="1481328"/>
            <a:ext cx="2578608" cy="3200400"/>
          </a:xfrm>
          <a:prstGeom prst="roundRect">
            <a:avLst>
              <a:gd name="adj" fmla="val 2482"/>
            </a:avLst>
          </a:prstGeom>
          <a:solidFill>
            <a:srgbClr val="FFFFFF"/>
          </a:solidFill>
          <a:ln w="12700">
            <a:solidFill>
              <a:srgbClr val="FFFFFF"/>
            </a:solidFill>
            <a:prstDash val="solid"/>
          </a:ln>
          <a:effectLst>
            <a:outerShdw sx="100000" sy="100000" kx="0" ky="0" algn="bl" rotWithShape="0" blurRad="127000" dist="25400" dir="5400000">
              <a:srgbClr val="9AA3B2">
                <a:alpha val="28000"/>
              </a:srgbClr>
            </a:outerShdw>
          </a:effectLst>
        </p:spPr>
      </p:sp>
      <p:sp>
        <p:nvSpPr>
          <p:cNvPr id="32" name="Shape 30"/>
          <p:cNvSpPr/>
          <p:nvPr/>
        </p:nvSpPr>
        <p:spPr>
          <a:xfrm>
            <a:off x="9015984" y="1481328"/>
            <a:ext cx="2578608" cy="3200400"/>
          </a:xfrm>
          <a:prstGeom prst="roundRect">
            <a:avLst>
              <a:gd name="adj" fmla="val 2482"/>
            </a:avLst>
          </a:prstGeom>
          <a:solidFill>
            <a:srgbClr val="FFFFFF"/>
          </a:solidFill>
          <a:ln w="12700">
            <a:solidFill>
              <a:srgbClr val="D8DCE4"/>
            </a:solidFill>
            <a:prstDash val="solid"/>
          </a:ln>
        </p:spPr>
      </p:sp>
      <p:sp>
        <p:nvSpPr>
          <p:cNvPr id="33" name="Shape 31"/>
          <p:cNvSpPr/>
          <p:nvPr/>
        </p:nvSpPr>
        <p:spPr>
          <a:xfrm>
            <a:off x="9253728" y="1719072"/>
            <a:ext cx="384048" cy="384048"/>
          </a:xfrm>
          <a:prstGeom prst="ellipse">
            <a:avLst/>
          </a:prstGeom>
          <a:solidFill>
            <a:srgbClr val="1F8A80"/>
          </a:solidFill>
          <a:ln w="12700">
            <a:solidFill>
              <a:srgbClr val="333333"/>
            </a:solidFill>
            <a:prstDash val="solid"/>
          </a:ln>
        </p:spPr>
      </p:sp>
      <p:sp>
        <p:nvSpPr>
          <p:cNvPr id="34" name="Text 32"/>
          <p:cNvSpPr/>
          <p:nvPr/>
        </p:nvSpPr>
        <p:spPr>
          <a:xfrm>
            <a:off x="9253728" y="17190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5" name="Text 33"/>
          <p:cNvSpPr/>
          <p:nvPr/>
        </p:nvSpPr>
        <p:spPr>
          <a:xfrm>
            <a:off x="9747504" y="1737360"/>
            <a:ext cx="1737360" cy="274320"/>
          </a:xfrm>
          <a:prstGeom prst="rect">
            <a:avLst/>
          </a:prstGeom>
          <a:noFill/>
          <a:ln/>
        </p:spPr>
        <p:txBody>
          <a:bodyPr wrap="square" lIns="0" tIns="0" rIns="0" bIns="0" rtlCol="0" anchor="ctr"/>
          <a:lstStyle/>
          <a:p>
            <a:pPr indent="0" marL="0">
              <a:buNone/>
            </a:pPr>
            <a:r>
              <a:rPr lang="en-US" sz="1700" b="1" dirty="0">
                <a:solidFill>
                  <a:srgbClr val="141821"/>
                </a:solidFill>
                <a:latin typeface="Cambria" pitchFamily="34" charset="0"/>
                <a:ea typeface="Cambria" pitchFamily="34" charset="-122"/>
                <a:cs typeface="Cambria" pitchFamily="34" charset="-120"/>
              </a:rPr>
              <a:t>HEAL</a:t>
            </a:r>
            <a:endParaRPr lang="en-US" sz="1700" dirty="0"/>
          </a:p>
        </p:txBody>
      </p:sp>
      <p:sp>
        <p:nvSpPr>
          <p:cNvPr id="36" name="Text 34"/>
          <p:cNvSpPr/>
          <p:nvPr/>
        </p:nvSpPr>
        <p:spPr>
          <a:xfrm>
            <a:off x="9747504" y="2011680"/>
            <a:ext cx="1737360" cy="219456"/>
          </a:xfrm>
          <a:prstGeom prst="rect">
            <a:avLst/>
          </a:prstGeom>
          <a:noFill/>
          <a:ln/>
        </p:spPr>
        <p:txBody>
          <a:bodyPr wrap="square" lIns="0" tIns="0" rIns="0" bIns="0" rtlCol="0" anchor="ctr"/>
          <a:lstStyle/>
          <a:p>
            <a:pPr indent="0" marL="0">
              <a:buNone/>
            </a:pPr>
            <a:r>
              <a:rPr lang="en-US" sz="900" b="1" dirty="0">
                <a:solidFill>
                  <a:srgbClr val="1F8A80"/>
                </a:solidFill>
                <a:latin typeface="Calibri" pitchFamily="34" charset="0"/>
                <a:ea typeface="Calibri" pitchFamily="34" charset="-122"/>
                <a:cs typeface="Calibri" pitchFamily="34" charset="-120"/>
              </a:rPr>
              <a:t>recover</a:t>
            </a:r>
            <a:endParaRPr lang="en-US" sz="900" dirty="0"/>
          </a:p>
        </p:txBody>
      </p:sp>
      <p:sp>
        <p:nvSpPr>
          <p:cNvPr id="37" name="Text 35"/>
          <p:cNvSpPr/>
          <p:nvPr/>
        </p:nvSpPr>
        <p:spPr>
          <a:xfrm>
            <a:off x="9253728" y="2377440"/>
            <a:ext cx="2121408" cy="1664208"/>
          </a:xfrm>
          <a:prstGeom prst="rect">
            <a:avLst/>
          </a:prstGeom>
          <a:noFill/>
          <a:ln/>
        </p:spPr>
        <p:txBody>
          <a:bodyPr wrap="square" lIns="0" tIns="0" rIns="0" bIns="0" rtlCol="0" anchor="t"/>
          <a:lstStyle/>
          <a:p>
            <a:pPr indent="0" marL="0">
              <a:lnSpc>
                <a:spcPts val="1300"/>
              </a:lnSpc>
              <a:buNone/>
            </a:pPr>
            <a:r>
              <a:rPr lang="en-US" sz="950" dirty="0">
                <a:solidFill>
                  <a:srgbClr val="3E4658"/>
                </a:solidFill>
                <a:latin typeface="Calibri" pitchFamily="34" charset="0"/>
                <a:ea typeface="Calibri" pitchFamily="34" charset="-122"/>
                <a:cs typeface="Calibri" pitchFamily="34" charset="-120"/>
              </a:rPr>
              <a:t>If a machine stops reporting for 3 seconds, treat it as dead and re-cut across the machines left, ignoring the brakes.</a:t>
            </a:r>
            <a:endParaRPr lang="en-US" sz="950" dirty="0"/>
          </a:p>
        </p:txBody>
      </p:sp>
      <p:sp>
        <p:nvSpPr>
          <p:cNvPr id="38" name="Text 36"/>
          <p:cNvSpPr/>
          <p:nvPr/>
        </p:nvSpPr>
        <p:spPr>
          <a:xfrm>
            <a:off x="9253728" y="4160520"/>
            <a:ext cx="2148840" cy="365760"/>
          </a:xfrm>
          <a:prstGeom prst="rect">
            <a:avLst/>
          </a:prstGeom>
          <a:noFill/>
          <a:ln/>
        </p:spPr>
        <p:txBody>
          <a:bodyPr wrap="square" lIns="0" tIns="0" rIns="0" bIns="0" rtlCol="0" anchor="ctr"/>
          <a:lstStyle/>
          <a:p>
            <a:pPr indent="0" marL="0">
              <a:buNone/>
            </a:pPr>
            <a:r>
              <a:rPr lang="en-US" sz="750" dirty="0">
                <a:solidFill>
                  <a:srgbClr val="6B7280"/>
                </a:solidFill>
                <a:latin typeface="Courier New" pitchFamily="34" charset="0"/>
                <a:ea typeface="Courier New" pitchFamily="34" charset="-122"/>
                <a:cs typeface="Courier New" pitchFamily="34" charset="-120"/>
              </a:rPr>
              <a:t>internal/controller</a:t>
            </a:r>
            <a:endParaRPr lang="en-US" sz="750" dirty="0"/>
          </a:p>
        </p:txBody>
      </p:sp>
      <p:sp>
        <p:nvSpPr>
          <p:cNvPr id="39" name="Shape 37"/>
          <p:cNvSpPr/>
          <p:nvPr/>
        </p:nvSpPr>
        <p:spPr>
          <a:xfrm flipH="1">
            <a:off x="1115568" y="4956048"/>
            <a:ext cx="10515600" cy="0"/>
          </a:xfrm>
          <a:prstGeom prst="line">
            <a:avLst/>
          </a:prstGeom>
          <a:noFill/>
          <a:ln w="15875">
            <a:solidFill>
              <a:srgbClr val="B6BDCA"/>
            </a:solidFill>
            <a:prstDash val="dash"/>
            <a:tailEnd type="triangle"/>
          </a:ln>
        </p:spPr>
      </p:sp>
      <p:sp>
        <p:nvSpPr>
          <p:cNvPr id="40" name="Text 38"/>
          <p:cNvSpPr/>
          <p:nvPr/>
        </p:nvSpPr>
        <p:spPr>
          <a:xfrm>
            <a:off x="566928" y="5029200"/>
            <a:ext cx="11064240" cy="274320"/>
          </a:xfrm>
          <a:prstGeom prst="rect">
            <a:avLst/>
          </a:prstGeom>
          <a:noFill/>
          <a:ln/>
        </p:spPr>
        <p:txBody>
          <a:bodyPr wrap="square" lIns="0" tIns="0" rIns="0" bIns="0" rtlCol="0" anchor="ctr"/>
          <a:lstStyle/>
          <a:p>
            <a:pPr algn="ctr" indent="0" marL="0">
              <a:buNone/>
            </a:pPr>
            <a:r>
              <a:rPr lang="en-US" sz="1050" i="1" dirty="0">
                <a:solidFill>
                  <a:srgbClr val="6B7280"/>
                </a:solidFill>
                <a:latin typeface="Calibri" pitchFamily="34" charset="0"/>
                <a:ea typeface="Calibri" pitchFamily="34" charset="-122"/>
                <a:cs typeface="Calibri" pitchFamily="34" charset="-120"/>
              </a:rPr>
              <a:t>the loop repeats every 2 seconds</a:t>
            </a:r>
            <a:endParaRPr lang="en-US" sz="1050" dirty="0"/>
          </a:p>
        </p:txBody>
      </p:sp>
      <p:sp>
        <p:nvSpPr>
          <p:cNvPr id="41" name="Shape 39"/>
          <p:cNvSpPr/>
          <p:nvPr/>
        </p:nvSpPr>
        <p:spPr>
          <a:xfrm>
            <a:off x="566928" y="5440680"/>
            <a:ext cx="11055096" cy="658368"/>
          </a:xfrm>
          <a:prstGeom prst="roundRect">
            <a:avLst>
              <a:gd name="adj" fmla="val 8333"/>
            </a:avLst>
          </a:prstGeom>
          <a:solidFill>
            <a:srgbClr val="F1F3F7"/>
          </a:solidFill>
          <a:ln w="12700">
            <a:solidFill>
              <a:srgbClr val="333333"/>
            </a:solidFill>
            <a:prstDash val="solid"/>
          </a:ln>
        </p:spPr>
      </p:sp>
      <p:sp>
        <p:nvSpPr>
          <p:cNvPr id="42" name="Text 40"/>
          <p:cNvSpPr/>
          <p:nvPr/>
        </p:nvSpPr>
        <p:spPr>
          <a:xfrm>
            <a:off x="822960" y="5532120"/>
            <a:ext cx="10607040" cy="502920"/>
          </a:xfrm>
          <a:prstGeom prst="rect">
            <a:avLst/>
          </a:prstGeom>
          <a:noFill/>
          <a:ln/>
        </p:spPr>
        <p:txBody>
          <a:bodyPr wrap="square" lIns="0" tIns="0" rIns="0" bIns="0" rtlCol="0" anchor="ctr"/>
          <a:lstStyle/>
          <a:p>
            <a:pPr indent="0" marL="0">
              <a:lnSpc>
                <a:spcPts val="1400"/>
              </a:lnSpc>
              <a:buNone/>
            </a:pPr>
            <a:r>
              <a:rPr lang="en-US" sz="1050" dirty="0">
                <a:solidFill>
                  <a:srgbClr val="3E4658"/>
                </a:solidFill>
                <a:latin typeface="Calibri" pitchFamily="34" charset="0"/>
                <a:ea typeface="Calibri" pitchFamily="34" charset="-122"/>
                <a:cs typeface="Calibri" pitchFamily="34" charset="-120"/>
              </a:rPr>
              <a:t>Staying correct: every plan carries a version number. Machines refuse messages from an old plan. The router then fetches the new plan and replays the request from the start. Machines keep no state, so replaying is always safe.</a:t>
            </a:r>
            <a:endParaRPr lang="en-US" sz="1050" dirty="0"/>
          </a:p>
        </p:txBody>
      </p:sp>
      <p:sp>
        <p:nvSpPr>
          <p:cNvPr id="43" name="Text 41"/>
          <p:cNvSpPr/>
          <p:nvPr/>
        </p:nvSpPr>
        <p:spPr>
          <a:xfrm>
            <a:off x="11073384" y="6382512"/>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50" b="1" spc="220" kern="0" dirty="0">
                <a:solidFill>
                  <a:srgbClr val="E07B39"/>
                </a:solidFill>
                <a:latin typeface="Calibri" pitchFamily="34" charset="0"/>
                <a:ea typeface="Calibri" pitchFamily="34" charset="-122"/>
                <a:cs typeface="Calibri" pitchFamily="34" charset="-120"/>
              </a:rPr>
              <a:t>OUR SYSTEM</a:t>
            </a:r>
            <a:endParaRPr lang="en-US" sz="1150" dirty="0"/>
          </a:p>
        </p:txBody>
      </p:sp>
      <p:sp>
        <p:nvSpPr>
          <p:cNvPr id="3" name="Text 1"/>
          <p:cNvSpPr/>
          <p:nvPr/>
        </p:nvSpPr>
        <p:spPr>
          <a:xfrm>
            <a:off x="566928" y="566928"/>
            <a:ext cx="11055096" cy="658368"/>
          </a:xfrm>
          <a:prstGeom prst="rect">
            <a:avLst/>
          </a:prstGeom>
          <a:noFill/>
          <a:ln/>
        </p:spPr>
        <p:txBody>
          <a:bodyPr wrap="square" lIns="0" tIns="0" rIns="0" bIns="0" rtlCol="0" anchor="ctr"/>
          <a:lstStyle/>
          <a:p>
            <a:pPr indent="0" marL="0">
              <a:buNone/>
            </a:pPr>
            <a:r>
              <a:rPr lang="en-US" sz="3200" b="1" dirty="0">
                <a:solidFill>
                  <a:srgbClr val="141821"/>
                </a:solidFill>
                <a:latin typeface="Cambria" pitchFamily="34" charset="0"/>
                <a:ea typeface="Cambria" pitchFamily="34" charset="-122"/>
                <a:cs typeface="Cambria" pitchFamily="34" charset="-120"/>
              </a:rPr>
              <a:t>The maths, and how we keep it steady</a:t>
            </a:r>
            <a:endParaRPr lang="en-US" sz="3200" dirty="0"/>
          </a:p>
        </p:txBody>
      </p:sp>
      <p:sp>
        <p:nvSpPr>
          <p:cNvPr id="4" name="Shape 2"/>
          <p:cNvSpPr/>
          <p:nvPr/>
        </p:nvSpPr>
        <p:spPr>
          <a:xfrm>
            <a:off x="566928" y="1444752"/>
            <a:ext cx="5577840" cy="2286000"/>
          </a:xfrm>
          <a:prstGeom prst="roundRect">
            <a:avLst>
              <a:gd name="adj" fmla="val 2800"/>
            </a:avLst>
          </a:prstGeom>
          <a:solidFill>
            <a:srgbClr val="F1F3F7"/>
          </a:solidFill>
          <a:ln w="12700">
            <a:solidFill>
              <a:srgbClr val="FFFFFF"/>
            </a:solidFill>
            <a:prstDash val="solid"/>
          </a:ln>
          <a:effectLst>
            <a:outerShdw sx="100000" sy="100000" kx="0" ky="0" algn="bl" rotWithShape="0" blurRad="127000" dist="25400" dir="5400000">
              <a:srgbClr val="9AA3B2">
                <a:alpha val="28000"/>
              </a:srgbClr>
            </a:outerShdw>
          </a:effectLst>
        </p:spPr>
      </p:sp>
      <p:sp>
        <p:nvSpPr>
          <p:cNvPr id="5" name="Text 3"/>
          <p:cNvSpPr/>
          <p:nvPr/>
        </p:nvSpPr>
        <p:spPr>
          <a:xfrm>
            <a:off x="841248" y="1627632"/>
            <a:ext cx="4572000" cy="274320"/>
          </a:xfrm>
          <a:prstGeom prst="rect">
            <a:avLst/>
          </a:prstGeom>
          <a:noFill/>
          <a:ln/>
        </p:spPr>
        <p:txBody>
          <a:bodyPr wrap="square" lIns="0" tIns="0" rIns="0" bIns="0" rtlCol="0" anchor="ctr"/>
          <a:lstStyle/>
          <a:p>
            <a:pPr indent="0" marL="0">
              <a:buNone/>
            </a:pPr>
            <a:r>
              <a:rPr lang="en-US" sz="1250" b="1" dirty="0">
                <a:solidFill>
                  <a:srgbClr val="E07B39"/>
                </a:solidFill>
                <a:latin typeface="Calibri" pitchFamily="34" charset="0"/>
                <a:ea typeface="Calibri" pitchFamily="34" charset="-122"/>
                <a:cs typeface="Calibri" pitchFamily="34" charset="-120"/>
              </a:rPr>
              <a:t>The goal</a:t>
            </a:r>
            <a:endParaRPr lang="en-US" sz="1250" dirty="0"/>
          </a:p>
        </p:txBody>
      </p:sp>
      <p:sp>
        <p:nvSpPr>
          <p:cNvPr id="6" name="Text 4"/>
          <p:cNvSpPr/>
          <p:nvPr/>
        </p:nvSpPr>
        <p:spPr>
          <a:xfrm>
            <a:off x="841248" y="1938528"/>
            <a:ext cx="5029200" cy="566928"/>
          </a:xfrm>
          <a:prstGeom prst="rect">
            <a:avLst/>
          </a:prstGeom>
          <a:noFill/>
          <a:ln/>
        </p:spPr>
        <p:txBody>
          <a:bodyPr wrap="square" lIns="0" tIns="0" rIns="0" bIns="0" rtlCol="0" anchor="ctr"/>
          <a:lstStyle/>
          <a:p>
            <a:pPr indent="0" marL="0">
              <a:lnSpc>
                <a:spcPts val="1600"/>
              </a:lnSpc>
              <a:buNone/>
            </a:pPr>
            <a:r>
              <a:rPr lang="en-US" sz="1300" b="1" dirty="0">
                <a:solidFill>
                  <a:srgbClr val="141821"/>
                </a:solidFill>
                <a:latin typeface="Courier New" pitchFamily="34" charset="0"/>
                <a:ea typeface="Courier New" pitchFamily="34" charset="-122"/>
                <a:cs typeface="Courier New" pitchFamily="34" charset="-120"/>
              </a:rPr>
              <a:t>make the slowest machine</a:t>
            </a:r>
            <a:endParaRPr lang="en-US" sz="1300" dirty="0"/>
          </a:p>
          <a:p>
            <a:pPr indent="0" marL="0">
              <a:lnSpc>
                <a:spcPts val="1600"/>
              </a:lnSpc>
              <a:buNone/>
            </a:pPr>
            <a:r>
              <a:rPr lang="en-US" sz="1300" b="1" dirty="0">
                <a:solidFill>
                  <a:srgbClr val="141821"/>
                </a:solidFill>
                <a:latin typeface="Courier New" pitchFamily="34" charset="0"/>
                <a:ea typeface="Courier New" pitchFamily="34" charset="-122"/>
                <a:cs typeface="Courier New" pitchFamily="34" charset="-120"/>
              </a:rPr>
              <a:t>as fast as possible</a:t>
            </a:r>
            <a:endParaRPr lang="en-US" sz="1300" dirty="0"/>
          </a:p>
        </p:txBody>
      </p:sp>
      <p:sp>
        <p:nvSpPr>
          <p:cNvPr id="7" name="Text 5"/>
          <p:cNvSpPr/>
          <p:nvPr/>
        </p:nvSpPr>
        <p:spPr>
          <a:xfrm>
            <a:off x="841248" y="2578608"/>
            <a:ext cx="5120640" cy="274320"/>
          </a:xfrm>
          <a:prstGeom prst="rect">
            <a:avLst/>
          </a:prstGeom>
          <a:noFill/>
          <a:ln/>
        </p:spPr>
        <p:txBody>
          <a:bodyPr wrap="square" lIns="0" tIns="0" rIns="0" bIns="0" rtlCol="0" anchor="ctr"/>
          <a:lstStyle/>
          <a:p>
            <a:pPr indent="0" marL="0">
              <a:buNone/>
            </a:pPr>
            <a:r>
              <a:rPr lang="en-US" sz="900" dirty="0">
                <a:solidFill>
                  <a:srgbClr val="3E4658"/>
                </a:solidFill>
                <a:latin typeface="Courier New" pitchFamily="34" charset="0"/>
                <a:ea typeface="Courier New" pitchFamily="34" charset="-122"/>
                <a:cs typeface="Courier New" pitchFamily="34" charset="-120"/>
              </a:rPr>
              <a:t>machine time  =  layers x time per layer / speed  +  delay</a:t>
            </a:r>
            <a:endParaRPr lang="en-US" sz="900" dirty="0"/>
          </a:p>
        </p:txBody>
      </p:sp>
      <p:sp>
        <p:nvSpPr>
          <p:cNvPr id="8" name="Text 6"/>
          <p:cNvSpPr/>
          <p:nvPr/>
        </p:nvSpPr>
        <p:spPr>
          <a:xfrm>
            <a:off x="841248" y="2907792"/>
            <a:ext cx="5074920" cy="713232"/>
          </a:xfrm>
          <a:prstGeom prst="rect">
            <a:avLst/>
          </a:prstGeom>
          <a:noFill/>
          <a:ln/>
        </p:spPr>
        <p:txBody>
          <a:bodyPr wrap="square" lIns="0" tIns="0" rIns="0" bIns="0" rtlCol="0" anchor="ctr"/>
          <a:lstStyle/>
          <a:p>
            <a:pPr indent="0" marL="0">
              <a:lnSpc>
                <a:spcPts val="1400"/>
              </a:lnSpc>
              <a:buNone/>
            </a:pPr>
            <a:r>
              <a:rPr lang="en-US" sz="1050" dirty="0">
                <a:solidFill>
                  <a:srgbClr val="3E4658"/>
                </a:solidFill>
                <a:latin typeface="Calibri" pitchFamily="34" charset="0"/>
                <a:ea typeface="Calibri" pitchFamily="34" charset="-122"/>
                <a:cs typeface="Calibri" pitchFamily="34" charset="-120"/>
              </a:rPr>
              <a:t>Each machine gets a block of layers next to each other, and together they cover all N layers. A machine given zero layers costs nothing at all - so the solver can skip a machine whose network has become too slow to be worth using.</a:t>
            </a:r>
            <a:endParaRPr lang="en-US" sz="1050" dirty="0"/>
          </a:p>
        </p:txBody>
      </p:sp>
      <p:sp>
        <p:nvSpPr>
          <p:cNvPr id="9" name="Shape 7"/>
          <p:cNvSpPr/>
          <p:nvPr/>
        </p:nvSpPr>
        <p:spPr>
          <a:xfrm>
            <a:off x="566928" y="3877056"/>
            <a:ext cx="5577840" cy="1828800"/>
          </a:xfrm>
          <a:prstGeom prst="roundRect">
            <a:avLst>
              <a:gd name="adj" fmla="val 3500"/>
            </a:avLst>
          </a:prstGeom>
          <a:solidFill>
            <a:srgbClr val="F1F3F7"/>
          </a:solidFill>
          <a:ln w="12700">
            <a:solidFill>
              <a:srgbClr val="FFFFFF"/>
            </a:solidFill>
            <a:prstDash val="solid"/>
          </a:ln>
          <a:effectLst>
            <a:outerShdw sx="100000" sy="100000" kx="0" ky="0" algn="bl" rotWithShape="0" blurRad="127000" dist="25400" dir="5400000">
              <a:srgbClr val="9AA3B2">
                <a:alpha val="28000"/>
              </a:srgbClr>
            </a:outerShdw>
          </a:effectLst>
        </p:spPr>
      </p:sp>
      <p:sp>
        <p:nvSpPr>
          <p:cNvPr id="10" name="Text 8"/>
          <p:cNvSpPr/>
          <p:nvPr/>
        </p:nvSpPr>
        <p:spPr>
          <a:xfrm>
            <a:off x="841248" y="4041648"/>
            <a:ext cx="4572000" cy="274320"/>
          </a:xfrm>
          <a:prstGeom prst="rect">
            <a:avLst/>
          </a:prstGeom>
          <a:noFill/>
          <a:ln/>
        </p:spPr>
        <p:txBody>
          <a:bodyPr wrap="square" lIns="0" tIns="0" rIns="0" bIns="0" rtlCol="0" anchor="ctr"/>
          <a:lstStyle/>
          <a:p>
            <a:pPr indent="0" marL="0">
              <a:buNone/>
            </a:pPr>
            <a:r>
              <a:rPr lang="en-US" sz="1250" b="1" dirty="0">
                <a:solidFill>
                  <a:srgbClr val="1F8A80"/>
                </a:solidFill>
                <a:latin typeface="Calibri" pitchFamily="34" charset="0"/>
                <a:ea typeface="Calibri" pitchFamily="34" charset="-122"/>
                <a:cs typeface="Calibri" pitchFamily="34" charset="-120"/>
              </a:rPr>
              <a:t>How we solve it</a:t>
            </a:r>
            <a:endParaRPr lang="en-US" sz="1250" dirty="0"/>
          </a:p>
        </p:txBody>
      </p:sp>
      <p:sp>
        <p:nvSpPr>
          <p:cNvPr id="11" name="Text 9"/>
          <p:cNvSpPr/>
          <p:nvPr/>
        </p:nvSpPr>
        <p:spPr>
          <a:xfrm>
            <a:off x="841248" y="4352544"/>
            <a:ext cx="5120640" cy="274320"/>
          </a:xfrm>
          <a:prstGeom prst="rect">
            <a:avLst/>
          </a:prstGeom>
          <a:noFill/>
          <a:ln/>
        </p:spPr>
        <p:txBody>
          <a:bodyPr wrap="square" lIns="0" tIns="0" rIns="0" bIns="0" rtlCol="0" anchor="ctr"/>
          <a:lstStyle/>
          <a:p>
            <a:pPr indent="0" marL="0">
              <a:buNone/>
            </a:pPr>
            <a:r>
              <a:rPr lang="en-US" sz="900" dirty="0">
                <a:solidFill>
                  <a:srgbClr val="141821"/>
                </a:solidFill>
                <a:latin typeface="Courier New" pitchFamily="34" charset="0"/>
                <a:ea typeface="Courier New" pitchFamily="34" charset="-122"/>
                <a:cs typeface="Courier New" pitchFamily="34" charset="-120"/>
              </a:rPr>
              <a:t>best[j][w]  =  best possible for the first j layers on w machines</a:t>
            </a:r>
            <a:endParaRPr lang="en-US" sz="900" dirty="0"/>
          </a:p>
        </p:txBody>
      </p:sp>
      <p:sp>
        <p:nvSpPr>
          <p:cNvPr id="12" name="Text 10"/>
          <p:cNvSpPr/>
          <p:nvPr/>
        </p:nvSpPr>
        <p:spPr>
          <a:xfrm>
            <a:off x="841248" y="4681728"/>
            <a:ext cx="5074920" cy="914400"/>
          </a:xfrm>
          <a:prstGeom prst="rect">
            <a:avLst/>
          </a:prstGeom>
          <a:noFill/>
          <a:ln/>
        </p:spPr>
        <p:txBody>
          <a:bodyPr wrap="square" lIns="0" tIns="0" rIns="0" bIns="0" rtlCol="0" anchor="ctr"/>
          <a:lstStyle/>
          <a:p>
            <a:pPr indent="0" marL="0">
              <a:lnSpc>
                <a:spcPts val="1400"/>
              </a:lnSpc>
              <a:buNone/>
            </a:pPr>
            <a:r>
              <a:rPr lang="en-US" sz="1050" dirty="0">
                <a:solidFill>
                  <a:srgbClr val="3E4658"/>
                </a:solidFill>
                <a:latin typeface="Calibri" pitchFamily="34" charset="0"/>
                <a:ea typeface="Calibri" pitchFamily="34" charset="-122"/>
                <a:cs typeface="Calibri" pitchFamily="34" charset="-120"/>
              </a:rPr>
              <a:t>This is a classic problem with a known exact answer. For 12 layers and 3 machines it takes about 1,700 steps, so redoing it every 2 seconds costs nothing. We checked it against brute force on 200 random cases.</a:t>
            </a:r>
            <a:endParaRPr lang="en-US" sz="1050" dirty="0"/>
          </a:p>
        </p:txBody>
      </p:sp>
      <p:sp>
        <p:nvSpPr>
          <p:cNvPr id="13" name="Shape 11"/>
          <p:cNvSpPr/>
          <p:nvPr/>
        </p:nvSpPr>
        <p:spPr>
          <a:xfrm>
            <a:off x="6446520" y="1444752"/>
            <a:ext cx="5175504" cy="4261104"/>
          </a:xfrm>
          <a:prstGeom prst="roundRect">
            <a:avLst>
              <a:gd name="adj" fmla="val 1502"/>
            </a:avLst>
          </a:prstGeom>
          <a:solidFill>
            <a:srgbClr val="141821"/>
          </a:solidFill>
          <a:ln w="12700">
            <a:solidFill>
              <a:srgbClr val="FFFFFF"/>
            </a:solidFill>
            <a:prstDash val="solid"/>
          </a:ln>
          <a:effectLst>
            <a:outerShdw sx="100000" sy="100000" kx="0" ky="0" algn="bl" rotWithShape="0" blurRad="127000" dist="25400" dir="5400000">
              <a:srgbClr val="9AA3B2">
                <a:alpha val="28000"/>
              </a:srgbClr>
            </a:outerShdw>
          </a:effectLst>
        </p:spPr>
      </p:sp>
      <p:sp>
        <p:nvSpPr>
          <p:cNvPr id="14" name="Text 12"/>
          <p:cNvSpPr/>
          <p:nvPr/>
        </p:nvSpPr>
        <p:spPr>
          <a:xfrm>
            <a:off x="6720840" y="1664208"/>
            <a:ext cx="4572000" cy="274320"/>
          </a:xfrm>
          <a:prstGeom prst="rect">
            <a:avLst/>
          </a:prstGeom>
          <a:noFill/>
          <a:ln/>
        </p:spPr>
        <p:txBody>
          <a:bodyPr wrap="square" lIns="0" tIns="0" rIns="0" bIns="0" rtlCol="0" anchor="ctr"/>
          <a:lstStyle/>
          <a:p>
            <a:pPr indent="0" marL="0">
              <a:buNone/>
            </a:pPr>
            <a:r>
              <a:rPr lang="en-US" sz="1250" b="1" dirty="0">
                <a:solidFill>
                  <a:srgbClr val="E07B39"/>
                </a:solidFill>
                <a:latin typeface="Calibri" pitchFamily="34" charset="0"/>
                <a:ea typeface="Calibri" pitchFamily="34" charset="-122"/>
                <a:cs typeface="Calibri" pitchFamily="34" charset="-120"/>
              </a:rPr>
              <a:t>Why a solver alone is not enough</a:t>
            </a:r>
            <a:endParaRPr lang="en-US" sz="1250" dirty="0"/>
          </a:p>
        </p:txBody>
      </p:sp>
      <p:sp>
        <p:nvSpPr>
          <p:cNvPr id="15" name="Text 13"/>
          <p:cNvSpPr/>
          <p:nvPr/>
        </p:nvSpPr>
        <p:spPr>
          <a:xfrm>
            <a:off x="6720840" y="2011680"/>
            <a:ext cx="4626864" cy="777240"/>
          </a:xfrm>
          <a:prstGeom prst="rect">
            <a:avLst/>
          </a:prstGeom>
          <a:noFill/>
          <a:ln/>
        </p:spPr>
        <p:txBody>
          <a:bodyPr wrap="square" lIns="0" tIns="0" rIns="0" bIns="0" rtlCol="0" anchor="ctr"/>
          <a:lstStyle/>
          <a:p>
            <a:pPr indent="0" marL="0">
              <a:lnSpc>
                <a:spcPts val="1400"/>
              </a:lnSpc>
              <a:buNone/>
            </a:pPr>
            <a:r>
              <a:rPr lang="en-US" sz="1050" dirty="0">
                <a:solidFill>
                  <a:srgbClr val="AEB6C4"/>
                </a:solidFill>
                <a:latin typeface="Calibri" pitchFamily="34" charset="0"/>
                <a:ea typeface="Calibri" pitchFamily="34" charset="-122"/>
                <a:cs typeface="Calibri" pitchFamily="34" charset="-120"/>
              </a:rPr>
              <a:t>Measurements jump around. If we applied the best answer every 2 seconds, the system would keep moving layers for tiny gains. Three rules fix that:</a:t>
            </a:r>
            <a:endParaRPr lang="en-US" sz="1050" dirty="0"/>
          </a:p>
        </p:txBody>
      </p:sp>
      <p:sp>
        <p:nvSpPr>
          <p:cNvPr id="16" name="Shape 14"/>
          <p:cNvSpPr/>
          <p:nvPr/>
        </p:nvSpPr>
        <p:spPr>
          <a:xfrm>
            <a:off x="6720840" y="2962656"/>
            <a:ext cx="237744" cy="237744"/>
          </a:xfrm>
          <a:prstGeom prst="ellipse">
            <a:avLst/>
          </a:prstGeom>
          <a:solidFill>
            <a:srgbClr val="1F8A80"/>
          </a:solidFill>
          <a:ln w="12700">
            <a:solidFill>
              <a:srgbClr val="333333"/>
            </a:solidFill>
            <a:prstDash val="solid"/>
          </a:ln>
        </p:spPr>
      </p:sp>
      <p:sp>
        <p:nvSpPr>
          <p:cNvPr id="17" name="Text 15"/>
          <p:cNvSpPr/>
          <p:nvPr/>
        </p:nvSpPr>
        <p:spPr>
          <a:xfrm>
            <a:off x="7068312" y="2926080"/>
            <a:ext cx="4206240"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Must be clearly better</a:t>
            </a:r>
            <a:endParaRPr lang="en-US" sz="1150" dirty="0"/>
          </a:p>
        </p:txBody>
      </p:sp>
      <p:sp>
        <p:nvSpPr>
          <p:cNvPr id="18" name="Text 16"/>
          <p:cNvSpPr/>
          <p:nvPr/>
        </p:nvSpPr>
        <p:spPr>
          <a:xfrm>
            <a:off x="7068312" y="3200400"/>
            <a:ext cx="4251960" cy="566928"/>
          </a:xfrm>
          <a:prstGeom prst="rect">
            <a:avLst/>
          </a:prstGeom>
          <a:noFill/>
          <a:ln/>
        </p:spPr>
        <p:txBody>
          <a:bodyPr wrap="square" lIns="0" tIns="0" rIns="0" bIns="0" rtlCol="0" anchor="ctr"/>
          <a:lstStyle/>
          <a:p>
            <a:pPr indent="0" marL="0">
              <a:lnSpc>
                <a:spcPts val="1300"/>
              </a:lnSpc>
              <a:buNone/>
            </a:pPr>
            <a:r>
              <a:rPr lang="en-US" sz="1000" dirty="0">
                <a:solidFill>
                  <a:srgbClr val="9AA3B4"/>
                </a:solidFill>
                <a:latin typeface="Calibri" pitchFamily="34" charset="0"/>
                <a:ea typeface="Calibri" pitchFamily="34" charset="-122"/>
                <a:cs typeface="Calibri" pitchFamily="34" charset="-120"/>
              </a:rPr>
              <a:t>Only change if the new cut beats the current one, measured right now, by 15%.</a:t>
            </a:r>
            <a:endParaRPr lang="en-US" sz="1000" dirty="0"/>
          </a:p>
        </p:txBody>
      </p:sp>
      <p:sp>
        <p:nvSpPr>
          <p:cNvPr id="19" name="Shape 17"/>
          <p:cNvSpPr/>
          <p:nvPr/>
        </p:nvSpPr>
        <p:spPr>
          <a:xfrm>
            <a:off x="6720840" y="3895344"/>
            <a:ext cx="237744" cy="237744"/>
          </a:xfrm>
          <a:prstGeom prst="ellipse">
            <a:avLst/>
          </a:prstGeom>
          <a:solidFill>
            <a:srgbClr val="1F8A80"/>
          </a:solidFill>
          <a:ln w="12700">
            <a:solidFill>
              <a:srgbClr val="333333"/>
            </a:solidFill>
            <a:prstDash val="solid"/>
          </a:ln>
        </p:spPr>
      </p:sp>
      <p:sp>
        <p:nvSpPr>
          <p:cNvPr id="20" name="Text 18"/>
          <p:cNvSpPr/>
          <p:nvPr/>
        </p:nvSpPr>
        <p:spPr>
          <a:xfrm>
            <a:off x="7068312" y="3858768"/>
            <a:ext cx="4206240"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Wait between changes</a:t>
            </a:r>
            <a:endParaRPr lang="en-US" sz="1150" dirty="0"/>
          </a:p>
        </p:txBody>
      </p:sp>
      <p:sp>
        <p:nvSpPr>
          <p:cNvPr id="21" name="Text 19"/>
          <p:cNvSpPr/>
          <p:nvPr/>
        </p:nvSpPr>
        <p:spPr>
          <a:xfrm>
            <a:off x="7068312" y="4133088"/>
            <a:ext cx="4251960" cy="566928"/>
          </a:xfrm>
          <a:prstGeom prst="rect">
            <a:avLst/>
          </a:prstGeom>
          <a:noFill/>
          <a:ln/>
        </p:spPr>
        <p:txBody>
          <a:bodyPr wrap="square" lIns="0" tIns="0" rIns="0" bIns="0" rtlCol="0" anchor="ctr"/>
          <a:lstStyle/>
          <a:p>
            <a:pPr indent="0" marL="0">
              <a:lnSpc>
                <a:spcPts val="1300"/>
              </a:lnSpc>
              <a:buNone/>
            </a:pPr>
            <a:r>
              <a:rPr lang="en-US" sz="1000" dirty="0">
                <a:solidFill>
                  <a:srgbClr val="9AA3B4"/>
                </a:solidFill>
                <a:latin typeface="Calibri" pitchFamily="34" charset="0"/>
                <a:ea typeface="Calibri" pitchFamily="34" charset="-122"/>
                <a:cs typeface="Calibri" pitchFamily="34" charset="-120"/>
              </a:rPr>
              <a:t>At most one change every 30 seconds, so a short spike cannot start a wobble.</a:t>
            </a:r>
            <a:endParaRPr lang="en-US" sz="1000" dirty="0"/>
          </a:p>
        </p:txBody>
      </p:sp>
      <p:sp>
        <p:nvSpPr>
          <p:cNvPr id="22" name="Shape 20"/>
          <p:cNvSpPr/>
          <p:nvPr/>
        </p:nvSpPr>
        <p:spPr>
          <a:xfrm>
            <a:off x="6720840" y="4828032"/>
            <a:ext cx="237744" cy="237744"/>
          </a:xfrm>
          <a:prstGeom prst="ellipse">
            <a:avLst/>
          </a:prstGeom>
          <a:solidFill>
            <a:srgbClr val="E07B39"/>
          </a:solidFill>
          <a:ln w="12700">
            <a:solidFill>
              <a:srgbClr val="333333"/>
            </a:solidFill>
            <a:prstDash val="solid"/>
          </a:ln>
        </p:spPr>
      </p:sp>
      <p:sp>
        <p:nvSpPr>
          <p:cNvPr id="23" name="Text 21"/>
          <p:cNvSpPr/>
          <p:nvPr/>
        </p:nvSpPr>
        <p:spPr>
          <a:xfrm>
            <a:off x="7068312" y="4791456"/>
            <a:ext cx="4206240"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Except when a machine dies</a:t>
            </a:r>
            <a:endParaRPr lang="en-US" sz="1150" dirty="0"/>
          </a:p>
        </p:txBody>
      </p:sp>
      <p:sp>
        <p:nvSpPr>
          <p:cNvPr id="24" name="Text 22"/>
          <p:cNvSpPr/>
          <p:nvPr/>
        </p:nvSpPr>
        <p:spPr>
          <a:xfrm>
            <a:off x="7068312" y="5065776"/>
            <a:ext cx="4251960" cy="566928"/>
          </a:xfrm>
          <a:prstGeom prst="rect">
            <a:avLst/>
          </a:prstGeom>
          <a:noFill/>
          <a:ln/>
        </p:spPr>
        <p:txBody>
          <a:bodyPr wrap="square" lIns="0" tIns="0" rIns="0" bIns="0" rtlCol="0" anchor="ctr"/>
          <a:lstStyle/>
          <a:p>
            <a:pPr indent="0" marL="0">
              <a:lnSpc>
                <a:spcPts val="1300"/>
              </a:lnSpc>
              <a:buNone/>
            </a:pPr>
            <a:r>
              <a:rPr lang="en-US" sz="1000" dirty="0">
                <a:solidFill>
                  <a:srgbClr val="9AA3B4"/>
                </a:solidFill>
                <a:latin typeface="Calibri" pitchFamily="34" charset="0"/>
                <a:ea typeface="Calibri" pitchFamily="34" charset="-122"/>
                <a:cs typeface="Calibri" pitchFamily="34" charset="-120"/>
              </a:rPr>
              <a:t>If the set of machines changes, ignore both rules and re-cut at once. Being correct matters more than being steady.</a:t>
            </a:r>
            <a:endParaRPr lang="en-US" sz="1000" dirty="0"/>
          </a:p>
        </p:txBody>
      </p:sp>
      <p:sp>
        <p:nvSpPr>
          <p:cNvPr id="25" name="Text 23"/>
          <p:cNvSpPr/>
          <p:nvPr/>
        </p:nvSpPr>
        <p:spPr>
          <a:xfrm>
            <a:off x="6446520" y="5797296"/>
            <a:ext cx="4626864" cy="256032"/>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Both numbers can be changed while the system is running.</a:t>
            </a:r>
            <a:endParaRPr lang="en-US" sz="950" dirty="0"/>
          </a:p>
        </p:txBody>
      </p:sp>
      <p:sp>
        <p:nvSpPr>
          <p:cNvPr id="26" name="Text 24"/>
          <p:cNvSpPr/>
          <p:nvPr/>
        </p:nvSpPr>
        <p:spPr>
          <a:xfrm>
            <a:off x="11073384" y="6382512"/>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50" b="1" spc="220" kern="0" dirty="0">
                <a:solidFill>
                  <a:srgbClr val="E07B39"/>
                </a:solidFill>
                <a:latin typeface="Calibri" pitchFamily="34" charset="0"/>
                <a:ea typeface="Calibri" pitchFamily="34" charset="-122"/>
                <a:cs typeface="Calibri" pitchFamily="34" charset="-120"/>
              </a:rPr>
              <a:t>OUR SYSTEM</a:t>
            </a:r>
            <a:endParaRPr lang="en-US" sz="1150" dirty="0"/>
          </a:p>
        </p:txBody>
      </p:sp>
      <p:sp>
        <p:nvSpPr>
          <p:cNvPr id="3" name="Text 1"/>
          <p:cNvSpPr/>
          <p:nvPr/>
        </p:nvSpPr>
        <p:spPr>
          <a:xfrm>
            <a:off x="566928" y="566928"/>
            <a:ext cx="11055096" cy="658368"/>
          </a:xfrm>
          <a:prstGeom prst="rect">
            <a:avLst/>
          </a:prstGeom>
          <a:noFill/>
          <a:ln/>
        </p:spPr>
        <p:txBody>
          <a:bodyPr wrap="square" lIns="0" tIns="0" rIns="0" bIns="0" rtlCol="0" anchor="ctr"/>
          <a:lstStyle/>
          <a:p>
            <a:pPr indent="0" marL="0">
              <a:buNone/>
            </a:pPr>
            <a:r>
              <a:rPr lang="en-US" sz="3200" b="1" dirty="0">
                <a:solidFill>
                  <a:srgbClr val="141821"/>
                </a:solidFill>
                <a:latin typeface="Cambria" pitchFamily="34" charset="0"/>
                <a:ea typeface="Cambria" pitchFamily="34" charset="-122"/>
                <a:cs typeface="Cambria" pitchFamily="34" charset="-120"/>
              </a:rPr>
              <a:t>What we built</a:t>
            </a:r>
            <a:endParaRPr lang="en-US" sz="3200" dirty="0"/>
          </a:p>
        </p:txBody>
      </p:sp>
      <p:sp>
        <p:nvSpPr>
          <p:cNvPr id="4" name="Shape 2"/>
          <p:cNvSpPr/>
          <p:nvPr/>
        </p:nvSpPr>
        <p:spPr>
          <a:xfrm>
            <a:off x="566928" y="1444752"/>
            <a:ext cx="6903720" cy="950976"/>
          </a:xfrm>
          <a:prstGeom prst="roundRect">
            <a:avLst>
              <a:gd name="adj" fmla="val 6731"/>
            </a:avLst>
          </a:prstGeom>
          <a:solidFill>
            <a:srgbClr val="F1F3F7"/>
          </a:solidFill>
          <a:ln w="12700">
            <a:solidFill>
              <a:srgbClr val="FFFFFF"/>
            </a:solidFill>
            <a:prstDash val="solid"/>
          </a:ln>
          <a:effectLst>
            <a:outerShdw sx="100000" sy="100000" kx="0" ky="0" algn="bl" rotWithShape="0" blurRad="127000" dist="25400" dir="5400000">
              <a:srgbClr val="9AA3B2">
                <a:alpha val="28000"/>
              </a:srgbClr>
            </a:outerShdw>
          </a:effectLst>
        </p:spPr>
      </p:sp>
      <p:sp>
        <p:nvSpPr>
          <p:cNvPr id="5" name="Shape 3"/>
          <p:cNvSpPr/>
          <p:nvPr/>
        </p:nvSpPr>
        <p:spPr>
          <a:xfrm>
            <a:off x="804672" y="1773936"/>
            <a:ext cx="274320" cy="274320"/>
          </a:xfrm>
          <a:prstGeom prst="ellipse">
            <a:avLst/>
          </a:prstGeom>
          <a:solidFill>
            <a:srgbClr val="E07B39"/>
          </a:solidFill>
          <a:ln w="12700">
            <a:solidFill>
              <a:srgbClr val="333333"/>
            </a:solidFill>
            <a:prstDash val="solid"/>
          </a:ln>
        </p:spPr>
      </p:sp>
      <p:sp>
        <p:nvSpPr>
          <p:cNvPr id="6" name="Text 4"/>
          <p:cNvSpPr/>
          <p:nvPr/>
        </p:nvSpPr>
        <p:spPr>
          <a:xfrm>
            <a:off x="1207008" y="1591056"/>
            <a:ext cx="2194560" cy="274320"/>
          </a:xfrm>
          <a:prstGeom prst="rect">
            <a:avLst/>
          </a:prstGeom>
          <a:noFill/>
          <a:ln/>
        </p:spPr>
        <p:txBody>
          <a:bodyPr wrap="square" lIns="0" tIns="0" rIns="0" bIns="0" rtlCol="0" anchor="ctr"/>
          <a:lstStyle/>
          <a:p>
            <a:pPr indent="0" marL="0">
              <a:buNone/>
            </a:pPr>
            <a:r>
              <a:rPr lang="en-US" sz="1250" b="1" dirty="0">
                <a:solidFill>
                  <a:srgbClr val="141821"/>
                </a:solidFill>
                <a:latin typeface="Calibri" pitchFamily="34" charset="0"/>
                <a:ea typeface="Calibri" pitchFamily="34" charset="-122"/>
                <a:cs typeface="Calibri" pitchFamily="34" charset="-120"/>
              </a:rPr>
              <a:t>Agent on each machine</a:t>
            </a:r>
            <a:endParaRPr lang="en-US" sz="1250" dirty="0"/>
          </a:p>
        </p:txBody>
      </p:sp>
      <p:sp>
        <p:nvSpPr>
          <p:cNvPr id="7" name="Text 5"/>
          <p:cNvSpPr/>
          <p:nvPr/>
        </p:nvSpPr>
        <p:spPr>
          <a:xfrm>
            <a:off x="1207008" y="1865376"/>
            <a:ext cx="2194560" cy="237744"/>
          </a:xfrm>
          <a:prstGeom prst="rect">
            <a:avLst/>
          </a:prstGeom>
          <a:noFill/>
          <a:ln/>
        </p:spPr>
        <p:txBody>
          <a:bodyPr wrap="square" lIns="0" tIns="0" rIns="0" bIns="0" rtlCol="0" anchor="ctr"/>
          <a:lstStyle/>
          <a:p>
            <a:pPr indent="0" marL="0">
              <a:buNone/>
            </a:pPr>
            <a:r>
              <a:rPr lang="en-US" sz="850" dirty="0">
                <a:solidFill>
                  <a:srgbClr val="6B7280"/>
                </a:solidFill>
                <a:latin typeface="Courier New" pitchFamily="34" charset="0"/>
                <a:ea typeface="Courier New" pitchFamily="34" charset="-122"/>
                <a:cs typeface="Courier New" pitchFamily="34" charset="-120"/>
              </a:rPr>
              <a:t>Go and C</a:t>
            </a:r>
            <a:endParaRPr lang="en-US" sz="850" dirty="0"/>
          </a:p>
        </p:txBody>
      </p:sp>
      <p:sp>
        <p:nvSpPr>
          <p:cNvPr id="8" name="Text 6"/>
          <p:cNvSpPr/>
          <p:nvPr/>
        </p:nvSpPr>
        <p:spPr>
          <a:xfrm>
            <a:off x="3493008" y="1572768"/>
            <a:ext cx="4480560" cy="731520"/>
          </a:xfrm>
          <a:prstGeom prst="rect">
            <a:avLst/>
          </a:prstGeom>
          <a:noFill/>
          <a:ln/>
        </p:spPr>
        <p:txBody>
          <a:bodyPr wrap="square" lIns="0" tIns="0" rIns="0" bIns="0" rtlCol="0" anchor="ctr"/>
          <a:lstStyle/>
          <a:p>
            <a:pPr indent="0" marL="0">
              <a:lnSpc>
                <a:spcPts val="1250"/>
              </a:lnSpc>
              <a:buNone/>
            </a:pPr>
            <a:r>
              <a:rPr lang="en-US" sz="950" dirty="0">
                <a:solidFill>
                  <a:srgbClr val="3E4658"/>
                </a:solidFill>
                <a:latin typeface="Calibri" pitchFamily="34" charset="0"/>
                <a:ea typeface="Calibri" pitchFamily="34" charset="-122"/>
                <a:cs typeface="Calibri" pitchFamily="34" charset="-120"/>
              </a:rPr>
              <a:t>Runs on every machine with kernel access. Loads the eBPF programs, watches only the ports we care about, and reports network delay plus GPU state. GPU readings can be simulated, taken from CPU heat sensors, or read from a real NVIDIA card.</a:t>
            </a:r>
            <a:endParaRPr lang="en-US" sz="950" dirty="0"/>
          </a:p>
        </p:txBody>
      </p:sp>
      <p:sp>
        <p:nvSpPr>
          <p:cNvPr id="9" name="Shape 7"/>
          <p:cNvSpPr/>
          <p:nvPr/>
        </p:nvSpPr>
        <p:spPr>
          <a:xfrm>
            <a:off x="566928" y="2523744"/>
            <a:ext cx="6903720" cy="950976"/>
          </a:xfrm>
          <a:prstGeom prst="roundRect">
            <a:avLst>
              <a:gd name="adj" fmla="val 6731"/>
            </a:avLst>
          </a:prstGeom>
          <a:solidFill>
            <a:srgbClr val="F7F8FA"/>
          </a:solidFill>
          <a:ln w="12700">
            <a:solidFill>
              <a:srgbClr val="FFFFFF"/>
            </a:solidFill>
            <a:prstDash val="solid"/>
          </a:ln>
          <a:effectLst>
            <a:outerShdw sx="100000" sy="100000" kx="0" ky="0" algn="bl" rotWithShape="0" blurRad="127000" dist="25400" dir="5400000">
              <a:srgbClr val="9AA3B2">
                <a:alpha val="28000"/>
              </a:srgbClr>
            </a:outerShdw>
          </a:effectLst>
        </p:spPr>
      </p:sp>
      <p:sp>
        <p:nvSpPr>
          <p:cNvPr id="10" name="Shape 8"/>
          <p:cNvSpPr/>
          <p:nvPr/>
        </p:nvSpPr>
        <p:spPr>
          <a:xfrm>
            <a:off x="804672" y="2852928"/>
            <a:ext cx="274320" cy="274320"/>
          </a:xfrm>
          <a:prstGeom prst="ellipse">
            <a:avLst/>
          </a:prstGeom>
          <a:solidFill>
            <a:srgbClr val="1F8A80"/>
          </a:solidFill>
          <a:ln w="12700">
            <a:solidFill>
              <a:srgbClr val="333333"/>
            </a:solidFill>
            <a:prstDash val="solid"/>
          </a:ln>
        </p:spPr>
      </p:sp>
      <p:sp>
        <p:nvSpPr>
          <p:cNvPr id="11" name="Text 9"/>
          <p:cNvSpPr/>
          <p:nvPr/>
        </p:nvSpPr>
        <p:spPr>
          <a:xfrm>
            <a:off x="1207008" y="2670048"/>
            <a:ext cx="2194560" cy="274320"/>
          </a:xfrm>
          <a:prstGeom prst="rect">
            <a:avLst/>
          </a:prstGeom>
          <a:noFill/>
          <a:ln/>
        </p:spPr>
        <p:txBody>
          <a:bodyPr wrap="square" lIns="0" tIns="0" rIns="0" bIns="0" rtlCol="0" anchor="ctr"/>
          <a:lstStyle/>
          <a:p>
            <a:pPr indent="0" marL="0">
              <a:buNone/>
            </a:pPr>
            <a:r>
              <a:rPr lang="en-US" sz="1250" b="1" dirty="0">
                <a:solidFill>
                  <a:srgbClr val="141821"/>
                </a:solidFill>
                <a:latin typeface="Calibri" pitchFamily="34" charset="0"/>
                <a:ea typeface="Calibri" pitchFamily="34" charset="-122"/>
                <a:cs typeface="Calibri" pitchFamily="34" charset="-120"/>
              </a:rPr>
              <a:t>Central controller</a:t>
            </a:r>
            <a:endParaRPr lang="en-US" sz="1250" dirty="0"/>
          </a:p>
        </p:txBody>
      </p:sp>
      <p:sp>
        <p:nvSpPr>
          <p:cNvPr id="12" name="Text 10"/>
          <p:cNvSpPr/>
          <p:nvPr/>
        </p:nvSpPr>
        <p:spPr>
          <a:xfrm>
            <a:off x="1207008" y="2944368"/>
            <a:ext cx="2194560" cy="237744"/>
          </a:xfrm>
          <a:prstGeom prst="rect">
            <a:avLst/>
          </a:prstGeom>
          <a:noFill/>
          <a:ln/>
        </p:spPr>
        <p:txBody>
          <a:bodyPr wrap="square" lIns="0" tIns="0" rIns="0" bIns="0" rtlCol="0" anchor="ctr"/>
          <a:lstStyle/>
          <a:p>
            <a:pPr indent="0" marL="0">
              <a:buNone/>
            </a:pPr>
            <a:r>
              <a:rPr lang="en-US" sz="850" dirty="0">
                <a:solidFill>
                  <a:srgbClr val="6B7280"/>
                </a:solidFill>
                <a:latin typeface="Courier New" pitchFamily="34" charset="0"/>
                <a:ea typeface="Courier New" pitchFamily="34" charset="-122"/>
                <a:cs typeface="Courier New" pitchFamily="34" charset="-120"/>
              </a:rPr>
              <a:t>Go</a:t>
            </a:r>
            <a:endParaRPr lang="en-US" sz="850" dirty="0"/>
          </a:p>
        </p:txBody>
      </p:sp>
      <p:sp>
        <p:nvSpPr>
          <p:cNvPr id="13" name="Text 11"/>
          <p:cNvSpPr/>
          <p:nvPr/>
        </p:nvSpPr>
        <p:spPr>
          <a:xfrm>
            <a:off x="3493008" y="2651760"/>
            <a:ext cx="4480560" cy="731520"/>
          </a:xfrm>
          <a:prstGeom prst="rect">
            <a:avLst/>
          </a:prstGeom>
          <a:noFill/>
          <a:ln/>
        </p:spPr>
        <p:txBody>
          <a:bodyPr wrap="square" lIns="0" tIns="0" rIns="0" bIns="0" rtlCol="0" anchor="ctr"/>
          <a:lstStyle/>
          <a:p>
            <a:pPr indent="0" marL="0">
              <a:lnSpc>
                <a:spcPts val="1250"/>
              </a:lnSpc>
              <a:buNone/>
            </a:pPr>
            <a:r>
              <a:rPr lang="en-US" sz="950" dirty="0">
                <a:solidFill>
                  <a:srgbClr val="3E4658"/>
                </a:solidFill>
                <a:latin typeface="Calibri" pitchFamily="34" charset="0"/>
                <a:ea typeface="Calibri" pitchFamily="34" charset="-122"/>
                <a:cs typeface="Calibri" pitchFamily="34" charset="-120"/>
              </a:rPr>
              <a:t>Collects all the readings, runs the decider, saves the plan in Kubernetes and sends it to the machines. A watchdog forces a re-cut if a machine goes quiet for 3 seconds.</a:t>
            </a:r>
            <a:endParaRPr lang="en-US" sz="950" dirty="0"/>
          </a:p>
        </p:txBody>
      </p:sp>
      <p:sp>
        <p:nvSpPr>
          <p:cNvPr id="14" name="Shape 12"/>
          <p:cNvSpPr/>
          <p:nvPr/>
        </p:nvSpPr>
        <p:spPr>
          <a:xfrm>
            <a:off x="566928" y="3602736"/>
            <a:ext cx="6903720" cy="950976"/>
          </a:xfrm>
          <a:prstGeom prst="roundRect">
            <a:avLst>
              <a:gd name="adj" fmla="val 6731"/>
            </a:avLst>
          </a:prstGeom>
          <a:solidFill>
            <a:srgbClr val="F1F3F7"/>
          </a:solidFill>
          <a:ln w="12700">
            <a:solidFill>
              <a:srgbClr val="FFFFFF"/>
            </a:solidFill>
            <a:prstDash val="solid"/>
          </a:ln>
          <a:effectLst>
            <a:outerShdw sx="100000" sy="100000" kx="0" ky="0" algn="bl" rotWithShape="0" blurRad="127000" dist="25400" dir="5400000">
              <a:srgbClr val="9AA3B2">
                <a:alpha val="28000"/>
              </a:srgbClr>
            </a:outerShdw>
          </a:effectLst>
        </p:spPr>
      </p:sp>
      <p:sp>
        <p:nvSpPr>
          <p:cNvPr id="15" name="Shape 13"/>
          <p:cNvSpPr/>
          <p:nvPr/>
        </p:nvSpPr>
        <p:spPr>
          <a:xfrm>
            <a:off x="804672" y="3931920"/>
            <a:ext cx="274320" cy="274320"/>
          </a:xfrm>
          <a:prstGeom prst="ellipse">
            <a:avLst/>
          </a:prstGeom>
          <a:solidFill>
            <a:srgbClr val="E07B39"/>
          </a:solidFill>
          <a:ln w="12700">
            <a:solidFill>
              <a:srgbClr val="333333"/>
            </a:solidFill>
            <a:prstDash val="solid"/>
          </a:ln>
        </p:spPr>
      </p:sp>
      <p:sp>
        <p:nvSpPr>
          <p:cNvPr id="16" name="Text 14"/>
          <p:cNvSpPr/>
          <p:nvPr/>
        </p:nvSpPr>
        <p:spPr>
          <a:xfrm>
            <a:off x="1207008" y="3749040"/>
            <a:ext cx="2194560" cy="274320"/>
          </a:xfrm>
          <a:prstGeom prst="rect">
            <a:avLst/>
          </a:prstGeom>
          <a:noFill/>
          <a:ln/>
        </p:spPr>
        <p:txBody>
          <a:bodyPr wrap="square" lIns="0" tIns="0" rIns="0" bIns="0" rtlCol="0" anchor="ctr"/>
          <a:lstStyle/>
          <a:p>
            <a:pPr indent="0" marL="0">
              <a:buNone/>
            </a:pPr>
            <a:r>
              <a:rPr lang="en-US" sz="1250" b="1" dirty="0">
                <a:solidFill>
                  <a:srgbClr val="141821"/>
                </a:solidFill>
                <a:latin typeface="Calibri" pitchFamily="34" charset="0"/>
                <a:ea typeface="Calibri" pitchFamily="34" charset="-122"/>
                <a:cs typeface="Calibri" pitchFamily="34" charset="-120"/>
              </a:rPr>
              <a:t>Workers and router</a:t>
            </a:r>
            <a:endParaRPr lang="en-US" sz="1250" dirty="0"/>
          </a:p>
        </p:txBody>
      </p:sp>
      <p:sp>
        <p:nvSpPr>
          <p:cNvPr id="17" name="Text 15"/>
          <p:cNvSpPr/>
          <p:nvPr/>
        </p:nvSpPr>
        <p:spPr>
          <a:xfrm>
            <a:off x="1207008" y="4023360"/>
            <a:ext cx="2194560" cy="237744"/>
          </a:xfrm>
          <a:prstGeom prst="rect">
            <a:avLst/>
          </a:prstGeom>
          <a:noFill/>
          <a:ln/>
        </p:spPr>
        <p:txBody>
          <a:bodyPr wrap="square" lIns="0" tIns="0" rIns="0" bIns="0" rtlCol="0" anchor="ctr"/>
          <a:lstStyle/>
          <a:p>
            <a:pPr indent="0" marL="0">
              <a:buNone/>
            </a:pPr>
            <a:r>
              <a:rPr lang="en-US" sz="850" dirty="0">
                <a:solidFill>
                  <a:srgbClr val="6B7280"/>
                </a:solidFill>
                <a:latin typeface="Courier New" pitchFamily="34" charset="0"/>
                <a:ea typeface="Courier New" pitchFamily="34" charset="-122"/>
                <a:cs typeface="Courier New" pitchFamily="34" charset="-120"/>
              </a:rPr>
              <a:t>Python</a:t>
            </a:r>
            <a:endParaRPr lang="en-US" sz="850" dirty="0"/>
          </a:p>
        </p:txBody>
      </p:sp>
      <p:sp>
        <p:nvSpPr>
          <p:cNvPr id="18" name="Text 16"/>
          <p:cNvSpPr/>
          <p:nvPr/>
        </p:nvSpPr>
        <p:spPr>
          <a:xfrm>
            <a:off x="3493008" y="3730752"/>
            <a:ext cx="4480560" cy="731520"/>
          </a:xfrm>
          <a:prstGeom prst="rect">
            <a:avLst/>
          </a:prstGeom>
          <a:noFill/>
          <a:ln/>
        </p:spPr>
        <p:txBody>
          <a:bodyPr wrap="square" lIns="0" tIns="0" rIns="0" bIns="0" rtlCol="0" anchor="ctr"/>
          <a:lstStyle/>
          <a:p>
            <a:pPr indent="0" marL="0">
              <a:lnSpc>
                <a:spcPts val="1250"/>
              </a:lnSpc>
              <a:buNone/>
            </a:pPr>
            <a:r>
              <a:rPr lang="en-US" sz="950" dirty="0">
                <a:solidFill>
                  <a:srgbClr val="3E4658"/>
                </a:solidFill>
                <a:latin typeface="Calibri" pitchFamily="34" charset="0"/>
                <a:ea typeface="Calibri" pitchFamily="34" charset="-122"/>
                <a:cs typeface="Calibri" pitchFamily="34" charset="-120"/>
              </a:rPr>
              <a:t>Each worker holds a block of layers and keeps no state. Two backends: a fake one for testing, and real GPT-2. Runs on CPU or GPU. The router sends each request through the machines in order.</a:t>
            </a:r>
            <a:endParaRPr lang="en-US" sz="950" dirty="0"/>
          </a:p>
        </p:txBody>
      </p:sp>
      <p:sp>
        <p:nvSpPr>
          <p:cNvPr id="19" name="Shape 17"/>
          <p:cNvSpPr/>
          <p:nvPr/>
        </p:nvSpPr>
        <p:spPr>
          <a:xfrm>
            <a:off x="566928" y="4681728"/>
            <a:ext cx="6903720" cy="950976"/>
          </a:xfrm>
          <a:prstGeom prst="roundRect">
            <a:avLst>
              <a:gd name="adj" fmla="val 6731"/>
            </a:avLst>
          </a:prstGeom>
          <a:solidFill>
            <a:srgbClr val="F7F8FA"/>
          </a:solidFill>
          <a:ln w="12700">
            <a:solidFill>
              <a:srgbClr val="FFFFFF"/>
            </a:solidFill>
            <a:prstDash val="solid"/>
          </a:ln>
          <a:effectLst>
            <a:outerShdw sx="100000" sy="100000" kx="0" ky="0" algn="bl" rotWithShape="0" blurRad="127000" dist="25400" dir="5400000">
              <a:srgbClr val="9AA3B2">
                <a:alpha val="28000"/>
              </a:srgbClr>
            </a:outerShdw>
          </a:effectLst>
        </p:spPr>
      </p:sp>
      <p:sp>
        <p:nvSpPr>
          <p:cNvPr id="20" name="Shape 18"/>
          <p:cNvSpPr/>
          <p:nvPr/>
        </p:nvSpPr>
        <p:spPr>
          <a:xfrm>
            <a:off x="804672" y="5010912"/>
            <a:ext cx="274320" cy="274320"/>
          </a:xfrm>
          <a:prstGeom prst="ellipse">
            <a:avLst/>
          </a:prstGeom>
          <a:solidFill>
            <a:srgbClr val="1F8A80"/>
          </a:solidFill>
          <a:ln w="12700">
            <a:solidFill>
              <a:srgbClr val="333333"/>
            </a:solidFill>
            <a:prstDash val="solid"/>
          </a:ln>
        </p:spPr>
      </p:sp>
      <p:sp>
        <p:nvSpPr>
          <p:cNvPr id="21" name="Text 19"/>
          <p:cNvSpPr/>
          <p:nvPr/>
        </p:nvSpPr>
        <p:spPr>
          <a:xfrm>
            <a:off x="1207008" y="4828032"/>
            <a:ext cx="2194560" cy="274320"/>
          </a:xfrm>
          <a:prstGeom prst="rect">
            <a:avLst/>
          </a:prstGeom>
          <a:noFill/>
          <a:ln/>
        </p:spPr>
        <p:txBody>
          <a:bodyPr wrap="square" lIns="0" tIns="0" rIns="0" bIns="0" rtlCol="0" anchor="ctr"/>
          <a:lstStyle/>
          <a:p>
            <a:pPr indent="0" marL="0">
              <a:buNone/>
            </a:pPr>
            <a:r>
              <a:rPr lang="en-US" sz="1250" b="1" dirty="0">
                <a:solidFill>
                  <a:srgbClr val="141821"/>
                </a:solidFill>
                <a:latin typeface="Calibri" pitchFamily="34" charset="0"/>
                <a:ea typeface="Calibri" pitchFamily="34" charset="-122"/>
                <a:cs typeface="Calibri" pitchFamily="34" charset="-120"/>
              </a:rPr>
              <a:t>Test harness</a:t>
            </a:r>
            <a:endParaRPr lang="en-US" sz="1250" dirty="0"/>
          </a:p>
        </p:txBody>
      </p:sp>
      <p:sp>
        <p:nvSpPr>
          <p:cNvPr id="22" name="Text 20"/>
          <p:cNvSpPr/>
          <p:nvPr/>
        </p:nvSpPr>
        <p:spPr>
          <a:xfrm>
            <a:off x="1207008" y="5102352"/>
            <a:ext cx="2194560" cy="237744"/>
          </a:xfrm>
          <a:prstGeom prst="rect">
            <a:avLst/>
          </a:prstGeom>
          <a:noFill/>
          <a:ln/>
        </p:spPr>
        <p:txBody>
          <a:bodyPr wrap="square" lIns="0" tIns="0" rIns="0" bIns="0" rtlCol="0" anchor="ctr"/>
          <a:lstStyle/>
          <a:p>
            <a:pPr indent="0" marL="0">
              <a:buNone/>
            </a:pPr>
            <a:r>
              <a:rPr lang="en-US" sz="850" dirty="0">
                <a:solidFill>
                  <a:srgbClr val="6B7280"/>
                </a:solidFill>
                <a:latin typeface="Courier New" pitchFamily="34" charset="0"/>
                <a:ea typeface="Courier New" pitchFamily="34" charset="-122"/>
                <a:cs typeface="Courier New" pitchFamily="34" charset="-120"/>
              </a:rPr>
              <a:t>Python</a:t>
            </a:r>
            <a:endParaRPr lang="en-US" sz="850" dirty="0"/>
          </a:p>
        </p:txBody>
      </p:sp>
      <p:sp>
        <p:nvSpPr>
          <p:cNvPr id="23" name="Text 21"/>
          <p:cNvSpPr/>
          <p:nvPr/>
        </p:nvSpPr>
        <p:spPr>
          <a:xfrm>
            <a:off x="3493008" y="4809744"/>
            <a:ext cx="4480560" cy="731520"/>
          </a:xfrm>
          <a:prstGeom prst="rect">
            <a:avLst/>
          </a:prstGeom>
          <a:noFill/>
          <a:ln/>
        </p:spPr>
        <p:txBody>
          <a:bodyPr wrap="square" lIns="0" tIns="0" rIns="0" bIns="0" rtlCol="0" anchor="ctr"/>
          <a:lstStyle/>
          <a:p>
            <a:pPr indent="0" marL="0">
              <a:lnSpc>
                <a:spcPts val="1250"/>
              </a:lnSpc>
              <a:buNone/>
            </a:pPr>
            <a:r>
              <a:rPr lang="en-US" sz="950" dirty="0">
                <a:solidFill>
                  <a:srgbClr val="3E4658"/>
                </a:solidFill>
                <a:latin typeface="Calibri" pitchFamily="34" charset="0"/>
                <a:ea typeface="Calibri" pitchFamily="34" charset="-122"/>
                <a:cs typeface="Calibri" pitchFamily="34" charset="-120"/>
              </a:rPr>
              <a:t>Five fault situations x three modes. Measures idle time, tokens per second, and time to the first word. Also tries different brake settings.</a:t>
            </a:r>
            <a:endParaRPr lang="en-US" sz="950" dirty="0"/>
          </a:p>
        </p:txBody>
      </p:sp>
      <p:sp>
        <p:nvSpPr>
          <p:cNvPr id="24" name="Shape 22"/>
          <p:cNvSpPr/>
          <p:nvPr/>
        </p:nvSpPr>
        <p:spPr>
          <a:xfrm>
            <a:off x="7772400" y="1444752"/>
            <a:ext cx="3849624" cy="4242816"/>
          </a:xfrm>
          <a:prstGeom prst="roundRect">
            <a:avLst>
              <a:gd name="adj" fmla="val 1663"/>
            </a:avLst>
          </a:prstGeom>
          <a:solidFill>
            <a:srgbClr val="141821"/>
          </a:solidFill>
          <a:ln w="12700">
            <a:solidFill>
              <a:srgbClr val="FFFFFF"/>
            </a:solidFill>
            <a:prstDash val="solid"/>
          </a:ln>
          <a:effectLst>
            <a:outerShdw sx="100000" sy="100000" kx="0" ky="0" algn="bl" rotWithShape="0" blurRad="127000" dist="25400" dir="5400000">
              <a:srgbClr val="9AA3B2">
                <a:alpha val="28000"/>
              </a:srgbClr>
            </a:outerShdw>
          </a:effectLst>
        </p:spPr>
      </p:sp>
      <p:sp>
        <p:nvSpPr>
          <p:cNvPr id="25" name="Text 23"/>
          <p:cNvSpPr/>
          <p:nvPr/>
        </p:nvSpPr>
        <p:spPr>
          <a:xfrm>
            <a:off x="8046720" y="1664208"/>
            <a:ext cx="3291840" cy="274320"/>
          </a:xfrm>
          <a:prstGeom prst="rect">
            <a:avLst/>
          </a:prstGeom>
          <a:noFill/>
          <a:ln/>
        </p:spPr>
        <p:txBody>
          <a:bodyPr wrap="square" lIns="0" tIns="0" rIns="0" bIns="0" rtlCol="0" anchor="ctr"/>
          <a:lstStyle/>
          <a:p>
            <a:pPr indent="0" marL="0">
              <a:buNone/>
            </a:pPr>
            <a:r>
              <a:rPr lang="en-US" sz="1200" b="1" dirty="0">
                <a:solidFill>
                  <a:srgbClr val="E07B39"/>
                </a:solidFill>
                <a:latin typeface="Calibri" pitchFamily="34" charset="0"/>
                <a:ea typeface="Calibri" pitchFamily="34" charset="-122"/>
                <a:cs typeface="Calibri" pitchFamily="34" charset="-120"/>
              </a:rPr>
              <a:t>What is real, what is not</a:t>
            </a:r>
            <a:endParaRPr lang="en-US" sz="1200" dirty="0"/>
          </a:p>
        </p:txBody>
      </p:sp>
      <p:sp>
        <p:nvSpPr>
          <p:cNvPr id="26" name="Shape 24"/>
          <p:cNvSpPr/>
          <p:nvPr/>
        </p:nvSpPr>
        <p:spPr>
          <a:xfrm>
            <a:off x="8046720" y="2139696"/>
            <a:ext cx="100584" cy="100584"/>
          </a:xfrm>
          <a:prstGeom prst="ellipse">
            <a:avLst/>
          </a:prstGeom>
          <a:solidFill>
            <a:srgbClr val="1F8A80"/>
          </a:solidFill>
          <a:ln w="12700">
            <a:solidFill>
              <a:srgbClr val="333333"/>
            </a:solidFill>
            <a:prstDash val="solid"/>
          </a:ln>
        </p:spPr>
      </p:sp>
      <p:sp>
        <p:nvSpPr>
          <p:cNvPr id="27" name="Text 25"/>
          <p:cNvSpPr/>
          <p:nvPr/>
        </p:nvSpPr>
        <p:spPr>
          <a:xfrm>
            <a:off x="8266176" y="2084832"/>
            <a:ext cx="3127248" cy="658368"/>
          </a:xfrm>
          <a:prstGeom prst="rect">
            <a:avLst/>
          </a:prstGeom>
          <a:noFill/>
          <a:ln/>
        </p:spPr>
        <p:txBody>
          <a:bodyPr wrap="square" lIns="0" tIns="0" rIns="0" bIns="0" rtlCol="0" anchor="ctr"/>
          <a:lstStyle/>
          <a:p>
            <a:pPr indent="0" marL="0">
              <a:lnSpc>
                <a:spcPts val="1250"/>
              </a:lnSpc>
              <a:buNone/>
            </a:pPr>
            <a:r>
              <a:rPr lang="en-US" sz="950" dirty="0">
                <a:solidFill>
                  <a:srgbClr val="AEB6C4"/>
                </a:solidFill>
                <a:latin typeface="Calibri" pitchFamily="34" charset="0"/>
                <a:ea typeface="Calibri" pitchFamily="34" charset="-122"/>
                <a:cs typeface="Calibri" pitchFamily="34" charset="-120"/>
              </a:rPr>
              <a:t>The eBPF part is real, not simulated. It is built against the running kernel and loaded into it.</a:t>
            </a:r>
            <a:endParaRPr lang="en-US" sz="950" dirty="0"/>
          </a:p>
        </p:txBody>
      </p:sp>
      <p:sp>
        <p:nvSpPr>
          <p:cNvPr id="28" name="Shape 26"/>
          <p:cNvSpPr/>
          <p:nvPr/>
        </p:nvSpPr>
        <p:spPr>
          <a:xfrm>
            <a:off x="8046720" y="2862072"/>
            <a:ext cx="100584" cy="100584"/>
          </a:xfrm>
          <a:prstGeom prst="ellipse">
            <a:avLst/>
          </a:prstGeom>
          <a:solidFill>
            <a:srgbClr val="1F8A80"/>
          </a:solidFill>
          <a:ln w="12700">
            <a:solidFill>
              <a:srgbClr val="333333"/>
            </a:solidFill>
            <a:prstDash val="solid"/>
          </a:ln>
        </p:spPr>
      </p:sp>
      <p:sp>
        <p:nvSpPr>
          <p:cNvPr id="29" name="Text 27"/>
          <p:cNvSpPr/>
          <p:nvPr/>
        </p:nvSpPr>
        <p:spPr>
          <a:xfrm>
            <a:off x="8266176" y="2807208"/>
            <a:ext cx="3127248" cy="658368"/>
          </a:xfrm>
          <a:prstGeom prst="rect">
            <a:avLst/>
          </a:prstGeom>
          <a:noFill/>
          <a:ln/>
        </p:spPr>
        <p:txBody>
          <a:bodyPr wrap="square" lIns="0" tIns="0" rIns="0" bIns="0" rtlCol="0" anchor="ctr"/>
          <a:lstStyle/>
          <a:p>
            <a:pPr indent="0" marL="0">
              <a:lnSpc>
                <a:spcPts val="1250"/>
              </a:lnSpc>
              <a:buNone/>
            </a:pPr>
            <a:r>
              <a:rPr lang="en-US" sz="950" dirty="0">
                <a:solidFill>
                  <a:srgbClr val="AEB6C4"/>
                </a:solidFill>
                <a:latin typeface="Calibri" pitchFamily="34" charset="0"/>
                <a:ea typeface="Calibri" pitchFamily="34" charset="-122"/>
                <a:cs typeface="Calibri" pitchFamily="34" charset="-120"/>
              </a:rPr>
              <a:t>On a single test host you get real eBPF, but a fake network and a fake GPU.</a:t>
            </a:r>
            <a:endParaRPr lang="en-US" sz="950" dirty="0"/>
          </a:p>
        </p:txBody>
      </p:sp>
      <p:sp>
        <p:nvSpPr>
          <p:cNvPr id="30" name="Shape 28"/>
          <p:cNvSpPr/>
          <p:nvPr/>
        </p:nvSpPr>
        <p:spPr>
          <a:xfrm>
            <a:off x="8046720" y="3584448"/>
            <a:ext cx="100584" cy="100584"/>
          </a:xfrm>
          <a:prstGeom prst="ellipse">
            <a:avLst/>
          </a:prstGeom>
          <a:solidFill>
            <a:srgbClr val="1F8A80"/>
          </a:solidFill>
          <a:ln w="12700">
            <a:solidFill>
              <a:srgbClr val="333333"/>
            </a:solidFill>
            <a:prstDash val="solid"/>
          </a:ln>
        </p:spPr>
      </p:sp>
      <p:sp>
        <p:nvSpPr>
          <p:cNvPr id="31" name="Text 29"/>
          <p:cNvSpPr/>
          <p:nvPr/>
        </p:nvSpPr>
        <p:spPr>
          <a:xfrm>
            <a:off x="8266176" y="3529584"/>
            <a:ext cx="3127248" cy="658368"/>
          </a:xfrm>
          <a:prstGeom prst="rect">
            <a:avLst/>
          </a:prstGeom>
          <a:noFill/>
          <a:ln/>
        </p:spPr>
        <p:txBody>
          <a:bodyPr wrap="square" lIns="0" tIns="0" rIns="0" bIns="0" rtlCol="0" anchor="ctr"/>
          <a:lstStyle/>
          <a:p>
            <a:pPr indent="0" marL="0">
              <a:lnSpc>
                <a:spcPts val="1250"/>
              </a:lnSpc>
              <a:buNone/>
            </a:pPr>
            <a:r>
              <a:rPr lang="en-US" sz="950" dirty="0">
                <a:solidFill>
                  <a:srgbClr val="AEB6C4"/>
                </a:solidFill>
                <a:latin typeface="Calibri" pitchFamily="34" charset="0"/>
                <a:ea typeface="Calibri" pitchFamily="34" charset="-122"/>
                <a:cs typeface="Calibri" pitchFamily="34" charset="-120"/>
              </a:rPr>
              <a:t>Our scripts turn a few laptops and GPU boxes on the same network into one cluster, with no config editing.</a:t>
            </a:r>
            <a:endParaRPr lang="en-US" sz="950" dirty="0"/>
          </a:p>
        </p:txBody>
      </p:sp>
      <p:sp>
        <p:nvSpPr>
          <p:cNvPr id="32" name="Shape 30"/>
          <p:cNvSpPr/>
          <p:nvPr/>
        </p:nvSpPr>
        <p:spPr>
          <a:xfrm>
            <a:off x="8046720" y="4306824"/>
            <a:ext cx="100584" cy="100584"/>
          </a:xfrm>
          <a:prstGeom prst="ellipse">
            <a:avLst/>
          </a:prstGeom>
          <a:solidFill>
            <a:srgbClr val="1F8A80"/>
          </a:solidFill>
          <a:ln w="12700">
            <a:solidFill>
              <a:srgbClr val="333333"/>
            </a:solidFill>
            <a:prstDash val="solid"/>
          </a:ln>
        </p:spPr>
      </p:sp>
      <p:sp>
        <p:nvSpPr>
          <p:cNvPr id="33" name="Text 31"/>
          <p:cNvSpPr/>
          <p:nvPr/>
        </p:nvSpPr>
        <p:spPr>
          <a:xfrm>
            <a:off x="8266176" y="4251960"/>
            <a:ext cx="3127248" cy="658368"/>
          </a:xfrm>
          <a:prstGeom prst="rect">
            <a:avLst/>
          </a:prstGeom>
          <a:noFill/>
          <a:ln/>
        </p:spPr>
        <p:txBody>
          <a:bodyPr wrap="square" lIns="0" tIns="0" rIns="0" bIns="0" rtlCol="0" anchor="ctr"/>
          <a:lstStyle/>
          <a:p>
            <a:pPr indent="0" marL="0">
              <a:lnSpc>
                <a:spcPts val="1250"/>
              </a:lnSpc>
              <a:buNone/>
            </a:pPr>
            <a:r>
              <a:rPr lang="en-US" sz="950" dirty="0">
                <a:solidFill>
                  <a:srgbClr val="AEB6C4"/>
                </a:solidFill>
                <a:latin typeface="Calibri" pitchFamily="34" charset="0"/>
                <a:ea typeface="Calibri" pitchFamily="34" charset="-122"/>
                <a:cs typeface="Calibri" pitchFamily="34" charset="-120"/>
              </a:rPr>
              <a:t>Real NVIDIA readings on GPU machines; real CPU heat readings on laptops with no GPU.</a:t>
            </a:r>
            <a:endParaRPr lang="en-US" sz="950" dirty="0"/>
          </a:p>
        </p:txBody>
      </p:sp>
      <p:sp>
        <p:nvSpPr>
          <p:cNvPr id="34" name="Shape 32"/>
          <p:cNvSpPr/>
          <p:nvPr/>
        </p:nvSpPr>
        <p:spPr>
          <a:xfrm>
            <a:off x="8046720" y="5029200"/>
            <a:ext cx="100584" cy="100584"/>
          </a:xfrm>
          <a:prstGeom prst="ellipse">
            <a:avLst/>
          </a:prstGeom>
          <a:solidFill>
            <a:srgbClr val="1F8A80"/>
          </a:solidFill>
          <a:ln w="12700">
            <a:solidFill>
              <a:srgbClr val="333333"/>
            </a:solidFill>
            <a:prstDash val="solid"/>
          </a:ln>
        </p:spPr>
      </p:sp>
      <p:sp>
        <p:nvSpPr>
          <p:cNvPr id="35" name="Text 33"/>
          <p:cNvSpPr/>
          <p:nvPr/>
        </p:nvSpPr>
        <p:spPr>
          <a:xfrm>
            <a:off x="8266176" y="4974336"/>
            <a:ext cx="3127248" cy="658368"/>
          </a:xfrm>
          <a:prstGeom prst="rect">
            <a:avLst/>
          </a:prstGeom>
          <a:noFill/>
          <a:ln/>
        </p:spPr>
        <p:txBody>
          <a:bodyPr wrap="square" lIns="0" tIns="0" rIns="0" bIns="0" rtlCol="0" anchor="ctr"/>
          <a:lstStyle/>
          <a:p>
            <a:pPr indent="0" marL="0">
              <a:lnSpc>
                <a:spcPts val="1250"/>
              </a:lnSpc>
              <a:buNone/>
            </a:pPr>
            <a:r>
              <a:rPr lang="en-US" sz="950" dirty="0">
                <a:solidFill>
                  <a:srgbClr val="AEB6C4"/>
                </a:solidFill>
                <a:latin typeface="Calibri" pitchFamily="34" charset="0"/>
                <a:ea typeface="Calibri" pitchFamily="34" charset="-122"/>
                <a:cs typeface="Calibri" pitchFamily="34" charset="-120"/>
              </a:rPr>
              <a:t>The split-up GPT-2 gives exactly the same text as running it on one machine.</a:t>
            </a:r>
            <a:endParaRPr lang="en-US" sz="950" dirty="0"/>
          </a:p>
        </p:txBody>
      </p:sp>
      <p:sp>
        <p:nvSpPr>
          <p:cNvPr id="36" name="Text 34"/>
          <p:cNvSpPr/>
          <p:nvPr/>
        </p:nvSpPr>
        <p:spPr>
          <a:xfrm>
            <a:off x="11073384" y="6382512"/>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50" b="1" spc="220" kern="0" dirty="0">
                <a:solidFill>
                  <a:srgbClr val="E07B39"/>
                </a:solidFill>
                <a:latin typeface="Calibri" pitchFamily="34" charset="0"/>
                <a:ea typeface="Calibri" pitchFamily="34" charset="-122"/>
                <a:cs typeface="Calibri" pitchFamily="34" charset="-120"/>
              </a:rPr>
              <a:t>RESULTS</a:t>
            </a:r>
            <a:endParaRPr lang="en-US" sz="1150" dirty="0"/>
          </a:p>
        </p:txBody>
      </p:sp>
      <p:sp>
        <p:nvSpPr>
          <p:cNvPr id="3" name="Text 1"/>
          <p:cNvSpPr/>
          <p:nvPr/>
        </p:nvSpPr>
        <p:spPr>
          <a:xfrm>
            <a:off x="566928" y="566928"/>
            <a:ext cx="11055096" cy="658368"/>
          </a:xfrm>
          <a:prstGeom prst="rect">
            <a:avLst/>
          </a:prstGeom>
          <a:noFill/>
          <a:ln/>
        </p:spPr>
        <p:txBody>
          <a:bodyPr wrap="square" lIns="0" tIns="0" rIns="0" bIns="0" rtlCol="0" anchor="ctr"/>
          <a:lstStyle/>
          <a:p>
            <a:pPr indent="0" marL="0">
              <a:buNone/>
            </a:pPr>
            <a:r>
              <a:rPr lang="en-US" sz="3200" b="1" dirty="0">
                <a:solidFill>
                  <a:srgbClr val="141821"/>
                </a:solidFill>
                <a:latin typeface="Cambria" pitchFamily="34" charset="0"/>
                <a:ea typeface="Cambria" pitchFamily="34" charset="-122"/>
                <a:cs typeface="Cambria" pitchFamily="34" charset="-120"/>
              </a:rPr>
              <a:t>How slow the busiest machine gets</a:t>
            </a:r>
            <a:endParaRPr lang="en-US" sz="3200" dirty="0"/>
          </a:p>
        </p:txBody>
      </p:sp>
      <p:graphicFrame>
        <p:nvGraphicFramePr>
          <p:cNvPr id="4" name="Chart 0" descr=""/>
          <p:cNvGraphicFramePr/>
          <p:nvPr/>
        </p:nvGraphicFramePr>
        <p:xfrm>
          <a:off x="566928" y="1371600"/>
          <a:ext cx="7086600" cy="45262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818120" y="1572768"/>
            <a:ext cx="3803904" cy="1097280"/>
          </a:xfrm>
          <a:prstGeom prst="roundRect">
            <a:avLst>
              <a:gd name="adj" fmla="val 5833"/>
            </a:avLst>
          </a:prstGeom>
          <a:solidFill>
            <a:srgbClr val="F1F3F7"/>
          </a:solidFill>
          <a:ln w="12700">
            <a:solidFill>
              <a:srgbClr val="FFFFFF"/>
            </a:solidFill>
            <a:prstDash val="solid"/>
          </a:ln>
          <a:effectLst>
            <a:outerShdw sx="100000" sy="100000" kx="0" ky="0" algn="bl" rotWithShape="0" blurRad="127000" dist="25400" dir="5400000">
              <a:srgbClr val="9AA3B2">
                <a:alpha val="28000"/>
              </a:srgbClr>
            </a:outerShdw>
          </a:effectLst>
        </p:spPr>
      </p:sp>
      <p:sp>
        <p:nvSpPr>
          <p:cNvPr id="6" name="Text 3"/>
          <p:cNvSpPr/>
          <p:nvPr/>
        </p:nvSpPr>
        <p:spPr>
          <a:xfrm>
            <a:off x="8092440" y="1700784"/>
            <a:ext cx="1371600" cy="548640"/>
          </a:xfrm>
          <a:prstGeom prst="rect">
            <a:avLst/>
          </a:prstGeom>
          <a:noFill/>
          <a:ln/>
        </p:spPr>
        <p:txBody>
          <a:bodyPr wrap="square" lIns="0" tIns="0" rIns="0" bIns="0" rtlCol="0" anchor="ctr"/>
          <a:lstStyle/>
          <a:p>
            <a:pPr indent="0" marL="0">
              <a:buNone/>
            </a:pPr>
            <a:r>
              <a:rPr lang="en-US" sz="3200" b="1" dirty="0">
                <a:solidFill>
                  <a:srgbClr val="1F8A80"/>
                </a:solidFill>
                <a:latin typeface="Cambria" pitchFamily="34" charset="0"/>
                <a:ea typeface="Cambria" pitchFamily="34" charset="-122"/>
                <a:cs typeface="Cambria" pitchFamily="34" charset="-120"/>
              </a:rPr>
              <a:t>49%</a:t>
            </a:r>
            <a:endParaRPr lang="en-US" sz="3200" dirty="0"/>
          </a:p>
        </p:txBody>
      </p:sp>
      <p:sp>
        <p:nvSpPr>
          <p:cNvPr id="7" name="Text 4"/>
          <p:cNvSpPr/>
          <p:nvPr/>
        </p:nvSpPr>
        <p:spPr>
          <a:xfrm>
            <a:off x="9418320" y="1792224"/>
            <a:ext cx="2011680" cy="685800"/>
          </a:xfrm>
          <a:prstGeom prst="rect">
            <a:avLst/>
          </a:prstGeom>
          <a:noFill/>
          <a:ln/>
        </p:spPr>
        <p:txBody>
          <a:bodyPr wrap="square" lIns="0" tIns="0" rIns="0" bIns="0" rtlCol="0" anchor="ctr"/>
          <a:lstStyle/>
          <a:p>
            <a:pPr indent="0" marL="0">
              <a:lnSpc>
                <a:spcPts val="1300"/>
              </a:lnSpc>
              <a:buNone/>
            </a:pPr>
            <a:r>
              <a:rPr lang="en-US" sz="1000" dirty="0">
                <a:solidFill>
                  <a:srgbClr val="3E4658"/>
                </a:solidFill>
                <a:latin typeface="Calibri" pitchFamily="34" charset="0"/>
                <a:ea typeface="Calibri" pitchFamily="34" charset="-122"/>
                <a:cs typeface="Calibri" pitchFamily="34" charset="-120"/>
              </a:rPr>
              <a:t>better than both</a:t>
            </a:r>
            <a:endParaRPr lang="en-US" sz="1000" dirty="0"/>
          </a:p>
          <a:p>
            <a:pPr indent="0" marL="0">
              <a:lnSpc>
                <a:spcPts val="1300"/>
              </a:lnSpc>
              <a:buNone/>
            </a:pPr>
            <a:r>
              <a:rPr lang="en-US" sz="1000" dirty="0">
                <a:solidFill>
                  <a:srgbClr val="3E4658"/>
                </a:solidFill>
                <a:latin typeface="Calibri" pitchFamily="34" charset="0"/>
                <a:ea typeface="Calibri" pitchFamily="34" charset="-122"/>
                <a:cs typeface="Calibri" pitchFamily="34" charset="-120"/>
              </a:rPr>
              <a:t>when a machine gets hot</a:t>
            </a:r>
            <a:endParaRPr lang="en-US" sz="1000" dirty="0"/>
          </a:p>
        </p:txBody>
      </p:sp>
      <p:sp>
        <p:nvSpPr>
          <p:cNvPr id="8" name="Shape 5"/>
          <p:cNvSpPr/>
          <p:nvPr/>
        </p:nvSpPr>
        <p:spPr>
          <a:xfrm>
            <a:off x="7818120" y="2816352"/>
            <a:ext cx="3803904" cy="1097280"/>
          </a:xfrm>
          <a:prstGeom prst="roundRect">
            <a:avLst>
              <a:gd name="adj" fmla="val 5833"/>
            </a:avLst>
          </a:prstGeom>
          <a:solidFill>
            <a:srgbClr val="F1F3F7"/>
          </a:solidFill>
          <a:ln w="12700">
            <a:solidFill>
              <a:srgbClr val="FFFFFF"/>
            </a:solidFill>
            <a:prstDash val="solid"/>
          </a:ln>
          <a:effectLst>
            <a:outerShdw sx="100000" sy="100000" kx="0" ky="0" algn="bl" rotWithShape="0" blurRad="127000" dist="25400" dir="5400000">
              <a:srgbClr val="9AA3B2">
                <a:alpha val="28000"/>
              </a:srgbClr>
            </a:outerShdw>
          </a:effectLst>
        </p:spPr>
      </p:sp>
      <p:sp>
        <p:nvSpPr>
          <p:cNvPr id="9" name="Text 6"/>
          <p:cNvSpPr/>
          <p:nvPr/>
        </p:nvSpPr>
        <p:spPr>
          <a:xfrm>
            <a:off x="8092440" y="2944368"/>
            <a:ext cx="1371600" cy="548640"/>
          </a:xfrm>
          <a:prstGeom prst="rect">
            <a:avLst/>
          </a:prstGeom>
          <a:noFill/>
          <a:ln/>
        </p:spPr>
        <p:txBody>
          <a:bodyPr wrap="square" lIns="0" tIns="0" rIns="0" bIns="0" rtlCol="0" anchor="ctr"/>
          <a:lstStyle/>
          <a:p>
            <a:pPr indent="0" marL="0">
              <a:buNone/>
            </a:pPr>
            <a:r>
              <a:rPr lang="en-US" sz="3200" b="1" dirty="0">
                <a:solidFill>
                  <a:srgbClr val="1F8A80"/>
                </a:solidFill>
                <a:latin typeface="Cambria" pitchFamily="34" charset="0"/>
                <a:ea typeface="Cambria" pitchFamily="34" charset="-122"/>
                <a:cs typeface="Cambria" pitchFamily="34" charset="-120"/>
              </a:rPr>
              <a:t>49%</a:t>
            </a:r>
            <a:endParaRPr lang="en-US" sz="3200" dirty="0"/>
          </a:p>
        </p:txBody>
      </p:sp>
      <p:sp>
        <p:nvSpPr>
          <p:cNvPr id="10" name="Text 7"/>
          <p:cNvSpPr/>
          <p:nvPr/>
        </p:nvSpPr>
        <p:spPr>
          <a:xfrm>
            <a:off x="9418320" y="3035808"/>
            <a:ext cx="2011680" cy="685800"/>
          </a:xfrm>
          <a:prstGeom prst="rect">
            <a:avLst/>
          </a:prstGeom>
          <a:noFill/>
          <a:ln/>
        </p:spPr>
        <p:txBody>
          <a:bodyPr wrap="square" lIns="0" tIns="0" rIns="0" bIns="0" rtlCol="0" anchor="ctr"/>
          <a:lstStyle/>
          <a:p>
            <a:pPr indent="0" marL="0">
              <a:lnSpc>
                <a:spcPts val="1300"/>
              </a:lnSpc>
              <a:buNone/>
            </a:pPr>
            <a:r>
              <a:rPr lang="en-US" sz="1000" dirty="0">
                <a:solidFill>
                  <a:srgbClr val="3E4658"/>
                </a:solidFill>
                <a:latin typeface="Calibri" pitchFamily="34" charset="0"/>
                <a:ea typeface="Calibri" pitchFamily="34" charset="-122"/>
                <a:cs typeface="Calibri" pitchFamily="34" charset="-120"/>
              </a:rPr>
              <a:t>better than both</a:t>
            </a:r>
            <a:endParaRPr lang="en-US" sz="1000" dirty="0"/>
          </a:p>
          <a:p>
            <a:pPr indent="0" marL="0">
              <a:lnSpc>
                <a:spcPts val="1300"/>
              </a:lnSpc>
              <a:buNone/>
            </a:pPr>
            <a:r>
              <a:rPr lang="en-US" sz="1000" dirty="0">
                <a:solidFill>
                  <a:srgbClr val="3E4658"/>
                </a:solidFill>
                <a:latin typeface="Calibri" pitchFamily="34" charset="0"/>
                <a:ea typeface="Calibri" pitchFamily="34" charset="-122"/>
                <a:cs typeface="Calibri" pitchFamily="34" charset="-120"/>
              </a:rPr>
              <a:t>when the network slows</a:t>
            </a:r>
            <a:endParaRPr lang="en-US" sz="1000" dirty="0"/>
          </a:p>
        </p:txBody>
      </p:sp>
      <p:sp>
        <p:nvSpPr>
          <p:cNvPr id="11" name="Shape 8"/>
          <p:cNvSpPr/>
          <p:nvPr/>
        </p:nvSpPr>
        <p:spPr>
          <a:xfrm>
            <a:off x="7818120" y="4059936"/>
            <a:ext cx="3803904" cy="1097280"/>
          </a:xfrm>
          <a:prstGeom prst="roundRect">
            <a:avLst>
              <a:gd name="adj" fmla="val 5833"/>
            </a:avLst>
          </a:prstGeom>
          <a:solidFill>
            <a:srgbClr val="141821"/>
          </a:solidFill>
          <a:ln w="12700">
            <a:solidFill>
              <a:srgbClr val="FFFFFF"/>
            </a:solidFill>
            <a:prstDash val="solid"/>
          </a:ln>
          <a:effectLst>
            <a:outerShdw sx="100000" sy="100000" kx="0" ky="0" algn="bl" rotWithShape="0" blurRad="127000" dist="25400" dir="5400000">
              <a:srgbClr val="9AA3B2">
                <a:alpha val="28000"/>
              </a:srgbClr>
            </a:outerShdw>
          </a:effectLst>
        </p:spPr>
      </p:sp>
      <p:sp>
        <p:nvSpPr>
          <p:cNvPr id="12" name="Text 9"/>
          <p:cNvSpPr/>
          <p:nvPr/>
        </p:nvSpPr>
        <p:spPr>
          <a:xfrm>
            <a:off x="8092440" y="4187952"/>
            <a:ext cx="1371600" cy="548640"/>
          </a:xfrm>
          <a:prstGeom prst="rect">
            <a:avLst/>
          </a:prstGeom>
          <a:noFill/>
          <a:ln/>
        </p:spPr>
        <p:txBody>
          <a:bodyPr wrap="square" lIns="0" tIns="0" rIns="0" bIns="0" rtlCol="0" anchor="ctr"/>
          <a:lstStyle/>
          <a:p>
            <a:pPr indent="0" marL="0">
              <a:buNone/>
            </a:pPr>
            <a:r>
              <a:rPr lang="en-US" sz="3200" b="1" dirty="0">
                <a:solidFill>
                  <a:srgbClr val="E07B39"/>
                </a:solidFill>
                <a:latin typeface="Cambria" pitchFamily="34" charset="0"/>
                <a:ea typeface="Cambria" pitchFamily="34" charset="-122"/>
                <a:cs typeface="Cambria" pitchFamily="34" charset="-120"/>
              </a:rPr>
              <a:t>66%</a:t>
            </a:r>
            <a:endParaRPr lang="en-US" sz="3200" dirty="0"/>
          </a:p>
        </p:txBody>
      </p:sp>
      <p:sp>
        <p:nvSpPr>
          <p:cNvPr id="13" name="Text 10"/>
          <p:cNvSpPr/>
          <p:nvPr/>
        </p:nvSpPr>
        <p:spPr>
          <a:xfrm>
            <a:off x="9418320" y="4279392"/>
            <a:ext cx="2011680" cy="685800"/>
          </a:xfrm>
          <a:prstGeom prst="rect">
            <a:avLst/>
          </a:prstGeom>
          <a:noFill/>
          <a:ln/>
        </p:spPr>
        <p:txBody>
          <a:bodyPr wrap="square" lIns="0" tIns="0" rIns="0" bIns="0" rtlCol="0" anchor="ctr"/>
          <a:lstStyle/>
          <a:p>
            <a:pPr indent="0" marL="0">
              <a:lnSpc>
                <a:spcPts val="1300"/>
              </a:lnSpc>
              <a:buNone/>
            </a:pPr>
            <a:r>
              <a:rPr lang="en-US" sz="1000" dirty="0">
                <a:solidFill>
                  <a:srgbClr val="AEB6C4"/>
                </a:solidFill>
                <a:latin typeface="Calibri" pitchFamily="34" charset="0"/>
                <a:ea typeface="Calibri" pitchFamily="34" charset="-122"/>
                <a:cs typeface="Calibri" pitchFamily="34" charset="-120"/>
              </a:rPr>
              <a:t>better than both</a:t>
            </a:r>
            <a:endParaRPr lang="en-US" sz="1000" dirty="0"/>
          </a:p>
          <a:p>
            <a:pPr indent="0" marL="0">
              <a:lnSpc>
                <a:spcPts val="1300"/>
              </a:lnSpc>
              <a:buNone/>
            </a:pPr>
            <a:r>
              <a:rPr lang="en-US" sz="1000" dirty="0">
                <a:solidFill>
                  <a:srgbClr val="AEB6C4"/>
                </a:solidFill>
                <a:latin typeface="Calibri" pitchFamily="34" charset="0"/>
                <a:ea typeface="Calibri" pitchFamily="34" charset="-122"/>
                <a:cs typeface="Calibri" pitchFamily="34" charset="-120"/>
              </a:rPr>
              <a:t>when both happen at once</a:t>
            </a:r>
            <a:endParaRPr lang="en-US" sz="1000" dirty="0"/>
          </a:p>
        </p:txBody>
      </p:sp>
      <p:sp>
        <p:nvSpPr>
          <p:cNvPr id="14" name="Shape 11"/>
          <p:cNvSpPr/>
          <p:nvPr/>
        </p:nvSpPr>
        <p:spPr>
          <a:xfrm>
            <a:off x="7818120" y="5303520"/>
            <a:ext cx="3803904" cy="822960"/>
          </a:xfrm>
          <a:prstGeom prst="roundRect">
            <a:avLst>
              <a:gd name="adj" fmla="val 7778"/>
            </a:avLst>
          </a:prstGeom>
          <a:solidFill>
            <a:srgbClr val="FBEDE2"/>
          </a:solidFill>
          <a:ln w="12700">
            <a:solidFill>
              <a:srgbClr val="FFFFFF"/>
            </a:solidFill>
            <a:prstDash val="solid"/>
          </a:ln>
          <a:effectLst>
            <a:outerShdw sx="100000" sy="100000" kx="0" ky="0" algn="bl" rotWithShape="0" blurRad="127000" dist="25400" dir="5400000">
              <a:srgbClr val="9AA3B2">
                <a:alpha val="28000"/>
              </a:srgbClr>
            </a:outerShdw>
          </a:effectLst>
        </p:spPr>
      </p:sp>
      <p:sp>
        <p:nvSpPr>
          <p:cNvPr id="15" name="Text 12"/>
          <p:cNvSpPr/>
          <p:nvPr/>
        </p:nvSpPr>
        <p:spPr>
          <a:xfrm>
            <a:off x="8065008" y="5394960"/>
            <a:ext cx="3337560" cy="658368"/>
          </a:xfrm>
          <a:prstGeom prst="rect">
            <a:avLst/>
          </a:prstGeom>
          <a:noFill/>
          <a:ln/>
        </p:spPr>
        <p:txBody>
          <a:bodyPr wrap="square" lIns="0" tIns="0" rIns="0" bIns="0" rtlCol="0" anchor="ctr"/>
          <a:lstStyle/>
          <a:p>
            <a:pPr indent="0" marL="0">
              <a:lnSpc>
                <a:spcPts val="1200"/>
              </a:lnSpc>
              <a:buNone/>
            </a:pPr>
            <a:r>
              <a:rPr lang="en-US" sz="950" dirty="0">
                <a:solidFill>
                  <a:srgbClr val="7A4A22"/>
                </a:solidFill>
                <a:latin typeface="Calibri" pitchFamily="34" charset="0"/>
                <a:ea typeface="Calibri" pitchFamily="34" charset="-122"/>
                <a:cs typeface="Calibri" pitchFamily="34" charset="-120"/>
              </a:rPr>
              <a:t>When a machine dies, the fixed cut has no plan for the machines left, so everything stops. Ours re-cuts and keeps going at 62 ms.</a:t>
            </a:r>
            <a:endParaRPr lang="en-US" sz="950" dirty="0"/>
          </a:p>
        </p:txBody>
      </p:sp>
      <p:sp>
        <p:nvSpPr>
          <p:cNvPr id="16" name="Text 13"/>
          <p:cNvSpPr/>
          <p:nvPr/>
        </p:nvSpPr>
        <p:spPr>
          <a:xfrm>
            <a:off x="566928" y="6382512"/>
            <a:ext cx="9692640" cy="274320"/>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Measured with bench/dpsim: 12 layers, 3 machines, 10 ms per layer, one machine slowed to 0.4x, 80 ms network delay.</a:t>
            </a:r>
            <a:endParaRPr lang="en-US" sz="950" dirty="0"/>
          </a:p>
        </p:txBody>
      </p:sp>
      <p:sp>
        <p:nvSpPr>
          <p:cNvPr id="17" name="Text 14"/>
          <p:cNvSpPr/>
          <p:nvPr/>
        </p:nvSpPr>
        <p:spPr>
          <a:xfrm>
            <a:off x="11073384" y="6382512"/>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50" b="1" spc="220" kern="0" dirty="0">
                <a:solidFill>
                  <a:srgbClr val="E07B39"/>
                </a:solidFill>
                <a:latin typeface="Calibri" pitchFamily="34" charset="0"/>
                <a:ea typeface="Calibri" pitchFamily="34" charset="-122"/>
                <a:cs typeface="Calibri" pitchFamily="34" charset="-120"/>
              </a:rPr>
              <a:t>RESULTS</a:t>
            </a:r>
            <a:endParaRPr lang="en-US" sz="1150" dirty="0"/>
          </a:p>
        </p:txBody>
      </p:sp>
      <p:sp>
        <p:nvSpPr>
          <p:cNvPr id="3" name="Text 1"/>
          <p:cNvSpPr/>
          <p:nvPr/>
        </p:nvSpPr>
        <p:spPr>
          <a:xfrm>
            <a:off x="566928" y="566928"/>
            <a:ext cx="11055096" cy="658368"/>
          </a:xfrm>
          <a:prstGeom prst="rect">
            <a:avLst/>
          </a:prstGeom>
          <a:noFill/>
          <a:ln/>
        </p:spPr>
        <p:txBody>
          <a:bodyPr wrap="square" lIns="0" tIns="0" rIns="0" bIns="0" rtlCol="0" anchor="ctr"/>
          <a:lstStyle/>
          <a:p>
            <a:pPr indent="0" marL="0">
              <a:buNone/>
            </a:pPr>
            <a:r>
              <a:rPr lang="en-US" sz="3200" b="1" dirty="0">
                <a:solidFill>
                  <a:srgbClr val="141821"/>
                </a:solidFill>
                <a:latin typeface="Cambria" pitchFamily="34" charset="0"/>
                <a:ea typeface="Cambria" pitchFamily="34" charset="-122"/>
                <a:cs typeface="Cambria" pitchFamily="34" charset="-120"/>
              </a:rPr>
              <a:t>What the solver actually decides</a:t>
            </a:r>
            <a:endParaRPr lang="en-US" sz="3200" dirty="0"/>
          </a:p>
        </p:txBody>
      </p:sp>
      <p:sp>
        <p:nvSpPr>
          <p:cNvPr id="4" name="Shape 2"/>
          <p:cNvSpPr/>
          <p:nvPr/>
        </p:nvSpPr>
        <p:spPr>
          <a:xfrm>
            <a:off x="566928" y="1417320"/>
            <a:ext cx="6949440" cy="932688"/>
          </a:xfrm>
          <a:prstGeom prst="roundRect">
            <a:avLst>
              <a:gd name="adj" fmla="val 6863"/>
            </a:avLst>
          </a:prstGeom>
          <a:solidFill>
            <a:srgbClr val="F1F3F7"/>
          </a:solidFill>
          <a:ln w="12700">
            <a:solidFill>
              <a:srgbClr val="FFFFFF"/>
            </a:solidFill>
            <a:prstDash val="solid"/>
          </a:ln>
          <a:effectLst>
            <a:outerShdw sx="100000" sy="100000" kx="0" ky="0" algn="bl" rotWithShape="0" blurRad="127000" dist="25400" dir="5400000">
              <a:srgbClr val="9AA3B2">
                <a:alpha val="28000"/>
              </a:srgbClr>
            </a:outerShdw>
          </a:effectLst>
        </p:spPr>
      </p:sp>
      <p:sp>
        <p:nvSpPr>
          <p:cNvPr id="5" name="Text 3"/>
          <p:cNvSpPr/>
          <p:nvPr/>
        </p:nvSpPr>
        <p:spPr>
          <a:xfrm>
            <a:off x="804672" y="1545336"/>
            <a:ext cx="3017520" cy="274320"/>
          </a:xfrm>
          <a:prstGeom prst="rect">
            <a:avLst/>
          </a:prstGeom>
          <a:noFill/>
          <a:ln/>
        </p:spPr>
        <p:txBody>
          <a:bodyPr wrap="square" lIns="0" tIns="0" rIns="0" bIns="0" rtlCol="0" anchor="ctr"/>
          <a:lstStyle/>
          <a:p>
            <a:pPr indent="0" marL="0">
              <a:buNone/>
            </a:pPr>
            <a:r>
              <a:rPr lang="en-US" sz="1150" b="1" dirty="0">
                <a:solidFill>
                  <a:srgbClr val="141821"/>
                </a:solidFill>
                <a:latin typeface="Calibri" pitchFamily="34" charset="0"/>
                <a:ea typeface="Calibri" pitchFamily="34" charset="-122"/>
                <a:cs typeface="Calibri" pitchFamily="34" charset="-120"/>
              </a:rPr>
              <a:t>All machines healthy</a:t>
            </a:r>
            <a:endParaRPr lang="en-US" sz="1150" dirty="0"/>
          </a:p>
        </p:txBody>
      </p:sp>
      <p:sp>
        <p:nvSpPr>
          <p:cNvPr id="6" name="Text 4"/>
          <p:cNvSpPr/>
          <p:nvPr/>
        </p:nvSpPr>
        <p:spPr>
          <a:xfrm>
            <a:off x="804672" y="1819656"/>
            <a:ext cx="3017520" cy="237744"/>
          </a:xfrm>
          <a:prstGeom prst="rect">
            <a:avLst/>
          </a:prstGeom>
          <a:noFill/>
          <a:ln/>
        </p:spPr>
        <p:txBody>
          <a:bodyPr wrap="square" lIns="0" tIns="0" rIns="0" bIns="0" rtlCol="0" anchor="ctr"/>
          <a:lstStyle/>
          <a:p>
            <a:pPr indent="0" marL="0">
              <a:buNone/>
            </a:pPr>
            <a:r>
              <a:rPr lang="en-US" sz="850" dirty="0">
                <a:solidFill>
                  <a:srgbClr val="6B7280"/>
                </a:solidFill>
                <a:latin typeface="Courier New" pitchFamily="34" charset="0"/>
                <a:ea typeface="Courier New" pitchFamily="34" charset="-122"/>
                <a:cs typeface="Courier New" pitchFamily="34" charset="-120"/>
              </a:rPr>
              <a:t>3 machines, all fine</a:t>
            </a:r>
            <a:endParaRPr lang="en-US" sz="850" dirty="0"/>
          </a:p>
        </p:txBody>
      </p:sp>
      <p:sp>
        <p:nvSpPr>
          <p:cNvPr id="7" name="Shape 5"/>
          <p:cNvSpPr/>
          <p:nvPr/>
        </p:nvSpPr>
        <p:spPr>
          <a:xfrm>
            <a:off x="3995928" y="1673352"/>
            <a:ext cx="841248" cy="420624"/>
          </a:xfrm>
          <a:prstGeom prst="roundRect">
            <a:avLst>
              <a:gd name="adj" fmla="val 13043"/>
            </a:avLst>
          </a:prstGeom>
          <a:solidFill>
            <a:srgbClr val="FFFFFF"/>
          </a:solidFill>
          <a:ln w="15875">
            <a:solidFill>
              <a:srgbClr val="1F8A80"/>
            </a:solidFill>
            <a:prstDash val="solid"/>
          </a:ln>
        </p:spPr>
      </p:sp>
      <p:sp>
        <p:nvSpPr>
          <p:cNvPr id="8" name="Text 6"/>
          <p:cNvSpPr/>
          <p:nvPr/>
        </p:nvSpPr>
        <p:spPr>
          <a:xfrm>
            <a:off x="3995928" y="1673352"/>
            <a:ext cx="841248" cy="420624"/>
          </a:xfrm>
          <a:prstGeom prst="rect">
            <a:avLst/>
          </a:prstGeom>
          <a:noFill/>
          <a:ln/>
        </p:spPr>
        <p:txBody>
          <a:bodyPr wrap="square" lIns="0" tIns="0" rIns="0" bIns="0" rtlCol="0" anchor="ctr"/>
          <a:lstStyle/>
          <a:p>
            <a:pPr algn="ctr" indent="0" marL="0">
              <a:buNone/>
            </a:pPr>
            <a:r>
              <a:rPr lang="en-US" sz="950" b="1" dirty="0">
                <a:solidFill>
                  <a:srgbClr val="141821"/>
                </a:solidFill>
                <a:latin typeface="Courier New" pitchFamily="34" charset="0"/>
                <a:ea typeface="Courier New" pitchFamily="34" charset="-122"/>
                <a:cs typeface="Courier New" pitchFamily="34" charset="-120"/>
              </a:rPr>
              <a:t>0-4</a:t>
            </a:r>
            <a:endParaRPr lang="en-US" sz="950" dirty="0"/>
          </a:p>
        </p:txBody>
      </p:sp>
      <p:sp>
        <p:nvSpPr>
          <p:cNvPr id="9" name="Shape 7"/>
          <p:cNvSpPr/>
          <p:nvPr/>
        </p:nvSpPr>
        <p:spPr>
          <a:xfrm>
            <a:off x="4928616" y="1673352"/>
            <a:ext cx="841248" cy="420624"/>
          </a:xfrm>
          <a:prstGeom prst="roundRect">
            <a:avLst>
              <a:gd name="adj" fmla="val 13043"/>
            </a:avLst>
          </a:prstGeom>
          <a:solidFill>
            <a:srgbClr val="FFFFFF"/>
          </a:solidFill>
          <a:ln w="15875">
            <a:solidFill>
              <a:srgbClr val="1F8A80"/>
            </a:solidFill>
            <a:prstDash val="solid"/>
          </a:ln>
        </p:spPr>
      </p:sp>
      <p:sp>
        <p:nvSpPr>
          <p:cNvPr id="10" name="Text 8"/>
          <p:cNvSpPr/>
          <p:nvPr/>
        </p:nvSpPr>
        <p:spPr>
          <a:xfrm>
            <a:off x="4928616" y="1673352"/>
            <a:ext cx="841248" cy="420624"/>
          </a:xfrm>
          <a:prstGeom prst="rect">
            <a:avLst/>
          </a:prstGeom>
          <a:noFill/>
          <a:ln/>
        </p:spPr>
        <p:txBody>
          <a:bodyPr wrap="square" lIns="0" tIns="0" rIns="0" bIns="0" rtlCol="0" anchor="ctr"/>
          <a:lstStyle/>
          <a:p>
            <a:pPr algn="ctr" indent="0" marL="0">
              <a:buNone/>
            </a:pPr>
            <a:r>
              <a:rPr lang="en-US" sz="950" b="1" dirty="0">
                <a:solidFill>
                  <a:srgbClr val="141821"/>
                </a:solidFill>
                <a:latin typeface="Courier New" pitchFamily="34" charset="0"/>
                <a:ea typeface="Courier New" pitchFamily="34" charset="-122"/>
                <a:cs typeface="Courier New" pitchFamily="34" charset="-120"/>
              </a:rPr>
              <a:t>4-8</a:t>
            </a:r>
            <a:endParaRPr lang="en-US" sz="950" dirty="0"/>
          </a:p>
        </p:txBody>
      </p:sp>
      <p:sp>
        <p:nvSpPr>
          <p:cNvPr id="11" name="Shape 9"/>
          <p:cNvSpPr/>
          <p:nvPr/>
        </p:nvSpPr>
        <p:spPr>
          <a:xfrm>
            <a:off x="5861304" y="1673352"/>
            <a:ext cx="841248" cy="420624"/>
          </a:xfrm>
          <a:prstGeom prst="roundRect">
            <a:avLst>
              <a:gd name="adj" fmla="val 13043"/>
            </a:avLst>
          </a:prstGeom>
          <a:solidFill>
            <a:srgbClr val="FFFFFF"/>
          </a:solidFill>
          <a:ln w="15875">
            <a:solidFill>
              <a:srgbClr val="1F8A80"/>
            </a:solidFill>
            <a:prstDash val="solid"/>
          </a:ln>
        </p:spPr>
      </p:sp>
      <p:sp>
        <p:nvSpPr>
          <p:cNvPr id="12" name="Text 10"/>
          <p:cNvSpPr/>
          <p:nvPr/>
        </p:nvSpPr>
        <p:spPr>
          <a:xfrm>
            <a:off x="5861304" y="1673352"/>
            <a:ext cx="841248" cy="420624"/>
          </a:xfrm>
          <a:prstGeom prst="rect">
            <a:avLst/>
          </a:prstGeom>
          <a:noFill/>
          <a:ln/>
        </p:spPr>
        <p:txBody>
          <a:bodyPr wrap="square" lIns="0" tIns="0" rIns="0" bIns="0" rtlCol="0" anchor="ctr"/>
          <a:lstStyle/>
          <a:p>
            <a:pPr algn="ctr" indent="0" marL="0">
              <a:buNone/>
            </a:pPr>
            <a:r>
              <a:rPr lang="en-US" sz="950" b="1" dirty="0">
                <a:solidFill>
                  <a:srgbClr val="141821"/>
                </a:solidFill>
                <a:latin typeface="Courier New" pitchFamily="34" charset="0"/>
                <a:ea typeface="Courier New" pitchFamily="34" charset="-122"/>
                <a:cs typeface="Courier New" pitchFamily="34" charset="-120"/>
              </a:rPr>
              <a:t>8-12</a:t>
            </a:r>
            <a:endParaRPr lang="en-US" sz="950" dirty="0"/>
          </a:p>
        </p:txBody>
      </p:sp>
      <p:sp>
        <p:nvSpPr>
          <p:cNvPr id="13" name="Text 11"/>
          <p:cNvSpPr/>
          <p:nvPr/>
        </p:nvSpPr>
        <p:spPr>
          <a:xfrm>
            <a:off x="6601968" y="1691640"/>
            <a:ext cx="868680" cy="384048"/>
          </a:xfrm>
          <a:prstGeom prst="rect">
            <a:avLst/>
          </a:prstGeom>
          <a:noFill/>
          <a:ln/>
        </p:spPr>
        <p:txBody>
          <a:bodyPr wrap="square" lIns="0" tIns="0" rIns="0" bIns="0" rtlCol="0" anchor="ctr"/>
          <a:lstStyle/>
          <a:p>
            <a:pPr algn="r" indent="0" marL="0">
              <a:buNone/>
            </a:pPr>
            <a:r>
              <a:rPr lang="en-US" sz="1500" b="1" dirty="0">
                <a:solidFill>
                  <a:srgbClr val="1F8A80"/>
                </a:solidFill>
                <a:latin typeface="Cambria" pitchFamily="34" charset="0"/>
                <a:ea typeface="Cambria" pitchFamily="34" charset="-122"/>
                <a:cs typeface="Cambria" pitchFamily="34" charset="-120"/>
              </a:rPr>
              <a:t>42 ms</a:t>
            </a:r>
            <a:endParaRPr lang="en-US" sz="1500" dirty="0"/>
          </a:p>
        </p:txBody>
      </p:sp>
      <p:sp>
        <p:nvSpPr>
          <p:cNvPr id="14" name="Shape 12"/>
          <p:cNvSpPr/>
          <p:nvPr/>
        </p:nvSpPr>
        <p:spPr>
          <a:xfrm>
            <a:off x="566928" y="2478024"/>
            <a:ext cx="6949440" cy="932688"/>
          </a:xfrm>
          <a:prstGeom prst="roundRect">
            <a:avLst>
              <a:gd name="adj" fmla="val 6863"/>
            </a:avLst>
          </a:prstGeom>
          <a:solidFill>
            <a:srgbClr val="F7F8FA"/>
          </a:solidFill>
          <a:ln w="12700">
            <a:solidFill>
              <a:srgbClr val="FFFFFF"/>
            </a:solidFill>
            <a:prstDash val="solid"/>
          </a:ln>
          <a:effectLst>
            <a:outerShdw sx="100000" sy="100000" kx="0" ky="0" algn="bl" rotWithShape="0" blurRad="127000" dist="25400" dir="5400000">
              <a:srgbClr val="9AA3B2">
                <a:alpha val="28000"/>
              </a:srgbClr>
            </a:outerShdw>
          </a:effectLst>
        </p:spPr>
      </p:sp>
      <p:sp>
        <p:nvSpPr>
          <p:cNvPr id="15" name="Text 13"/>
          <p:cNvSpPr/>
          <p:nvPr/>
        </p:nvSpPr>
        <p:spPr>
          <a:xfrm>
            <a:off x="804672" y="2606040"/>
            <a:ext cx="3017520" cy="274320"/>
          </a:xfrm>
          <a:prstGeom prst="rect">
            <a:avLst/>
          </a:prstGeom>
          <a:noFill/>
          <a:ln/>
        </p:spPr>
        <p:txBody>
          <a:bodyPr wrap="square" lIns="0" tIns="0" rIns="0" bIns="0" rtlCol="0" anchor="ctr"/>
          <a:lstStyle/>
          <a:p>
            <a:pPr indent="0" marL="0">
              <a:buNone/>
            </a:pPr>
            <a:r>
              <a:rPr lang="en-US" sz="1150" b="1" dirty="0">
                <a:solidFill>
                  <a:srgbClr val="141821"/>
                </a:solidFill>
                <a:latin typeface="Calibri" pitchFamily="34" charset="0"/>
                <a:ea typeface="Calibri" pitchFamily="34" charset="-122"/>
                <a:cs typeface="Calibri" pitchFamily="34" charset="-120"/>
              </a:rPr>
              <a:t>Machine 2 gets hot</a:t>
            </a:r>
            <a:endParaRPr lang="en-US" sz="1150" dirty="0"/>
          </a:p>
        </p:txBody>
      </p:sp>
      <p:sp>
        <p:nvSpPr>
          <p:cNvPr id="16" name="Text 14"/>
          <p:cNvSpPr/>
          <p:nvPr/>
        </p:nvSpPr>
        <p:spPr>
          <a:xfrm>
            <a:off x="804672" y="2880360"/>
            <a:ext cx="3017520" cy="237744"/>
          </a:xfrm>
          <a:prstGeom prst="rect">
            <a:avLst/>
          </a:prstGeom>
          <a:noFill/>
          <a:ln/>
        </p:spPr>
        <p:txBody>
          <a:bodyPr wrap="square" lIns="0" tIns="0" rIns="0" bIns="0" rtlCol="0" anchor="ctr"/>
          <a:lstStyle/>
          <a:p>
            <a:pPr indent="0" marL="0">
              <a:buNone/>
            </a:pPr>
            <a:r>
              <a:rPr lang="en-US" sz="850" dirty="0">
                <a:solidFill>
                  <a:srgbClr val="6B7280"/>
                </a:solidFill>
                <a:latin typeface="Courier New" pitchFamily="34" charset="0"/>
                <a:ea typeface="Courier New" pitchFamily="34" charset="-122"/>
                <a:cs typeface="Courier New" pitchFamily="34" charset="-120"/>
              </a:rPr>
              <a:t>speed drops to 0.4x</a:t>
            </a:r>
            <a:endParaRPr lang="en-US" sz="850" dirty="0"/>
          </a:p>
        </p:txBody>
      </p:sp>
      <p:sp>
        <p:nvSpPr>
          <p:cNvPr id="17" name="Shape 15"/>
          <p:cNvSpPr/>
          <p:nvPr/>
        </p:nvSpPr>
        <p:spPr>
          <a:xfrm>
            <a:off x="3995928" y="2734056"/>
            <a:ext cx="841248" cy="420624"/>
          </a:xfrm>
          <a:prstGeom prst="roundRect">
            <a:avLst>
              <a:gd name="adj" fmla="val 13043"/>
            </a:avLst>
          </a:prstGeom>
          <a:solidFill>
            <a:srgbClr val="FFFFFF"/>
          </a:solidFill>
          <a:ln w="15875">
            <a:solidFill>
              <a:srgbClr val="E07B39"/>
            </a:solidFill>
            <a:prstDash val="solid"/>
          </a:ln>
        </p:spPr>
      </p:sp>
      <p:sp>
        <p:nvSpPr>
          <p:cNvPr id="18" name="Text 16"/>
          <p:cNvSpPr/>
          <p:nvPr/>
        </p:nvSpPr>
        <p:spPr>
          <a:xfrm>
            <a:off x="3995928" y="2734056"/>
            <a:ext cx="841248" cy="420624"/>
          </a:xfrm>
          <a:prstGeom prst="rect">
            <a:avLst/>
          </a:prstGeom>
          <a:noFill/>
          <a:ln/>
        </p:spPr>
        <p:txBody>
          <a:bodyPr wrap="square" lIns="0" tIns="0" rIns="0" bIns="0" rtlCol="0" anchor="ctr"/>
          <a:lstStyle/>
          <a:p>
            <a:pPr algn="ctr" indent="0" marL="0">
              <a:buNone/>
            </a:pPr>
            <a:r>
              <a:rPr lang="en-US" sz="950" b="1" dirty="0">
                <a:solidFill>
                  <a:srgbClr val="141821"/>
                </a:solidFill>
                <a:latin typeface="Courier New" pitchFamily="34" charset="0"/>
                <a:ea typeface="Courier New" pitchFamily="34" charset="-122"/>
                <a:cs typeface="Courier New" pitchFamily="34" charset="-120"/>
              </a:rPr>
              <a:t>0-5</a:t>
            </a:r>
            <a:endParaRPr lang="en-US" sz="950" dirty="0"/>
          </a:p>
        </p:txBody>
      </p:sp>
      <p:sp>
        <p:nvSpPr>
          <p:cNvPr id="19" name="Shape 17"/>
          <p:cNvSpPr/>
          <p:nvPr/>
        </p:nvSpPr>
        <p:spPr>
          <a:xfrm>
            <a:off x="4928616" y="2734056"/>
            <a:ext cx="841248" cy="420624"/>
          </a:xfrm>
          <a:prstGeom prst="roundRect">
            <a:avLst>
              <a:gd name="adj" fmla="val 13043"/>
            </a:avLst>
          </a:prstGeom>
          <a:solidFill>
            <a:srgbClr val="FFFFFF"/>
          </a:solidFill>
          <a:ln w="15875">
            <a:solidFill>
              <a:srgbClr val="E07B39"/>
            </a:solidFill>
            <a:prstDash val="solid"/>
          </a:ln>
        </p:spPr>
      </p:sp>
      <p:sp>
        <p:nvSpPr>
          <p:cNvPr id="20" name="Text 18"/>
          <p:cNvSpPr/>
          <p:nvPr/>
        </p:nvSpPr>
        <p:spPr>
          <a:xfrm>
            <a:off x="4928616" y="2734056"/>
            <a:ext cx="841248" cy="420624"/>
          </a:xfrm>
          <a:prstGeom prst="rect">
            <a:avLst/>
          </a:prstGeom>
          <a:noFill/>
          <a:ln/>
        </p:spPr>
        <p:txBody>
          <a:bodyPr wrap="square" lIns="0" tIns="0" rIns="0" bIns="0" rtlCol="0" anchor="ctr"/>
          <a:lstStyle/>
          <a:p>
            <a:pPr algn="ctr" indent="0" marL="0">
              <a:buNone/>
            </a:pPr>
            <a:r>
              <a:rPr lang="en-US" sz="950" b="1" dirty="0">
                <a:solidFill>
                  <a:srgbClr val="141821"/>
                </a:solidFill>
                <a:latin typeface="Courier New" pitchFamily="34" charset="0"/>
                <a:ea typeface="Courier New" pitchFamily="34" charset="-122"/>
                <a:cs typeface="Courier New" pitchFamily="34" charset="-120"/>
              </a:rPr>
              <a:t>5-7</a:t>
            </a:r>
            <a:endParaRPr lang="en-US" sz="950" dirty="0"/>
          </a:p>
        </p:txBody>
      </p:sp>
      <p:sp>
        <p:nvSpPr>
          <p:cNvPr id="21" name="Shape 19"/>
          <p:cNvSpPr/>
          <p:nvPr/>
        </p:nvSpPr>
        <p:spPr>
          <a:xfrm>
            <a:off x="5861304" y="2734056"/>
            <a:ext cx="841248" cy="420624"/>
          </a:xfrm>
          <a:prstGeom prst="roundRect">
            <a:avLst>
              <a:gd name="adj" fmla="val 13043"/>
            </a:avLst>
          </a:prstGeom>
          <a:solidFill>
            <a:srgbClr val="FFFFFF"/>
          </a:solidFill>
          <a:ln w="15875">
            <a:solidFill>
              <a:srgbClr val="E07B39"/>
            </a:solidFill>
            <a:prstDash val="solid"/>
          </a:ln>
        </p:spPr>
      </p:sp>
      <p:sp>
        <p:nvSpPr>
          <p:cNvPr id="22" name="Text 20"/>
          <p:cNvSpPr/>
          <p:nvPr/>
        </p:nvSpPr>
        <p:spPr>
          <a:xfrm>
            <a:off x="5861304" y="2734056"/>
            <a:ext cx="841248" cy="420624"/>
          </a:xfrm>
          <a:prstGeom prst="rect">
            <a:avLst/>
          </a:prstGeom>
          <a:noFill/>
          <a:ln/>
        </p:spPr>
        <p:txBody>
          <a:bodyPr wrap="square" lIns="0" tIns="0" rIns="0" bIns="0" rtlCol="0" anchor="ctr"/>
          <a:lstStyle/>
          <a:p>
            <a:pPr algn="ctr" indent="0" marL="0">
              <a:buNone/>
            </a:pPr>
            <a:r>
              <a:rPr lang="en-US" sz="950" b="1" dirty="0">
                <a:solidFill>
                  <a:srgbClr val="141821"/>
                </a:solidFill>
                <a:latin typeface="Courier New" pitchFamily="34" charset="0"/>
                <a:ea typeface="Courier New" pitchFamily="34" charset="-122"/>
                <a:cs typeface="Courier New" pitchFamily="34" charset="-120"/>
              </a:rPr>
              <a:t>7-12</a:t>
            </a:r>
            <a:endParaRPr lang="en-US" sz="950" dirty="0"/>
          </a:p>
        </p:txBody>
      </p:sp>
      <p:sp>
        <p:nvSpPr>
          <p:cNvPr id="23" name="Text 21"/>
          <p:cNvSpPr/>
          <p:nvPr/>
        </p:nvSpPr>
        <p:spPr>
          <a:xfrm>
            <a:off x="6601968" y="2752344"/>
            <a:ext cx="868680" cy="384048"/>
          </a:xfrm>
          <a:prstGeom prst="rect">
            <a:avLst/>
          </a:prstGeom>
          <a:noFill/>
          <a:ln/>
        </p:spPr>
        <p:txBody>
          <a:bodyPr wrap="square" lIns="0" tIns="0" rIns="0" bIns="0" rtlCol="0" anchor="ctr"/>
          <a:lstStyle/>
          <a:p>
            <a:pPr algn="r" indent="0" marL="0">
              <a:buNone/>
            </a:pPr>
            <a:r>
              <a:rPr lang="en-US" sz="1500" b="1" dirty="0">
                <a:solidFill>
                  <a:srgbClr val="E07B39"/>
                </a:solidFill>
                <a:latin typeface="Cambria" pitchFamily="34" charset="0"/>
                <a:ea typeface="Cambria" pitchFamily="34" charset="-122"/>
                <a:cs typeface="Cambria" pitchFamily="34" charset="-120"/>
              </a:rPr>
              <a:t>52 ms</a:t>
            </a:r>
            <a:endParaRPr lang="en-US" sz="1500" dirty="0"/>
          </a:p>
        </p:txBody>
      </p:sp>
      <p:sp>
        <p:nvSpPr>
          <p:cNvPr id="24" name="Shape 22"/>
          <p:cNvSpPr/>
          <p:nvPr/>
        </p:nvSpPr>
        <p:spPr>
          <a:xfrm>
            <a:off x="566928" y="3538728"/>
            <a:ext cx="6949440" cy="932688"/>
          </a:xfrm>
          <a:prstGeom prst="roundRect">
            <a:avLst>
              <a:gd name="adj" fmla="val 6863"/>
            </a:avLst>
          </a:prstGeom>
          <a:solidFill>
            <a:srgbClr val="F7F8FA"/>
          </a:solidFill>
          <a:ln w="12700">
            <a:solidFill>
              <a:srgbClr val="FFFFFF"/>
            </a:solidFill>
            <a:prstDash val="solid"/>
          </a:ln>
          <a:effectLst>
            <a:outerShdw sx="100000" sy="100000" kx="0" ky="0" algn="bl" rotWithShape="0" blurRad="127000" dist="25400" dir="5400000">
              <a:srgbClr val="9AA3B2">
                <a:alpha val="28000"/>
              </a:srgbClr>
            </a:outerShdw>
          </a:effectLst>
        </p:spPr>
      </p:sp>
      <p:sp>
        <p:nvSpPr>
          <p:cNvPr id="25" name="Text 23"/>
          <p:cNvSpPr/>
          <p:nvPr/>
        </p:nvSpPr>
        <p:spPr>
          <a:xfrm>
            <a:off x="804672" y="3666744"/>
            <a:ext cx="3017520" cy="274320"/>
          </a:xfrm>
          <a:prstGeom prst="rect">
            <a:avLst/>
          </a:prstGeom>
          <a:noFill/>
          <a:ln/>
        </p:spPr>
        <p:txBody>
          <a:bodyPr wrap="square" lIns="0" tIns="0" rIns="0" bIns="0" rtlCol="0" anchor="ctr"/>
          <a:lstStyle/>
          <a:p>
            <a:pPr indent="0" marL="0">
              <a:buNone/>
            </a:pPr>
            <a:r>
              <a:rPr lang="en-US" sz="1150" b="1" dirty="0">
                <a:solidFill>
                  <a:srgbClr val="141821"/>
                </a:solidFill>
                <a:latin typeface="Calibri" pitchFamily="34" charset="0"/>
                <a:ea typeface="Calibri" pitchFamily="34" charset="-122"/>
                <a:cs typeface="Calibri" pitchFamily="34" charset="-120"/>
              </a:rPr>
              <a:t>Network to machine 2 slows down</a:t>
            </a:r>
            <a:endParaRPr lang="en-US" sz="1150" dirty="0"/>
          </a:p>
        </p:txBody>
      </p:sp>
      <p:sp>
        <p:nvSpPr>
          <p:cNvPr id="26" name="Text 24"/>
          <p:cNvSpPr/>
          <p:nvPr/>
        </p:nvSpPr>
        <p:spPr>
          <a:xfrm>
            <a:off x="804672" y="3941064"/>
            <a:ext cx="3017520" cy="237744"/>
          </a:xfrm>
          <a:prstGeom prst="rect">
            <a:avLst/>
          </a:prstGeom>
          <a:noFill/>
          <a:ln/>
        </p:spPr>
        <p:txBody>
          <a:bodyPr wrap="square" lIns="0" tIns="0" rIns="0" bIns="0" rtlCol="0" anchor="ctr"/>
          <a:lstStyle/>
          <a:p>
            <a:pPr indent="0" marL="0">
              <a:buNone/>
            </a:pPr>
            <a:r>
              <a:rPr lang="en-US" sz="850" dirty="0">
                <a:solidFill>
                  <a:srgbClr val="6B7280"/>
                </a:solidFill>
                <a:latin typeface="Courier New" pitchFamily="34" charset="0"/>
                <a:ea typeface="Courier New" pitchFamily="34" charset="-122"/>
                <a:cs typeface="Courier New" pitchFamily="34" charset="-120"/>
              </a:rPr>
              <a:t>delay 2 ms -&gt; 82 ms</a:t>
            </a:r>
            <a:endParaRPr lang="en-US" sz="850" dirty="0"/>
          </a:p>
        </p:txBody>
      </p:sp>
      <p:sp>
        <p:nvSpPr>
          <p:cNvPr id="27" name="Shape 25"/>
          <p:cNvSpPr/>
          <p:nvPr/>
        </p:nvSpPr>
        <p:spPr>
          <a:xfrm>
            <a:off x="3995928" y="3794760"/>
            <a:ext cx="841248" cy="420624"/>
          </a:xfrm>
          <a:prstGeom prst="roundRect">
            <a:avLst>
              <a:gd name="adj" fmla="val 13043"/>
            </a:avLst>
          </a:prstGeom>
          <a:solidFill>
            <a:srgbClr val="FFFFFF"/>
          </a:solidFill>
          <a:ln w="15875">
            <a:solidFill>
              <a:srgbClr val="E07B39"/>
            </a:solidFill>
            <a:prstDash val="solid"/>
          </a:ln>
        </p:spPr>
      </p:sp>
      <p:sp>
        <p:nvSpPr>
          <p:cNvPr id="28" name="Text 26"/>
          <p:cNvSpPr/>
          <p:nvPr/>
        </p:nvSpPr>
        <p:spPr>
          <a:xfrm>
            <a:off x="3995928" y="3794760"/>
            <a:ext cx="841248" cy="420624"/>
          </a:xfrm>
          <a:prstGeom prst="rect">
            <a:avLst/>
          </a:prstGeom>
          <a:noFill/>
          <a:ln/>
        </p:spPr>
        <p:txBody>
          <a:bodyPr wrap="square" lIns="0" tIns="0" rIns="0" bIns="0" rtlCol="0" anchor="ctr"/>
          <a:lstStyle/>
          <a:p>
            <a:pPr algn="ctr" indent="0" marL="0">
              <a:buNone/>
            </a:pPr>
            <a:r>
              <a:rPr lang="en-US" sz="950" b="1" dirty="0">
                <a:solidFill>
                  <a:srgbClr val="141821"/>
                </a:solidFill>
                <a:latin typeface="Courier New" pitchFamily="34" charset="0"/>
                <a:ea typeface="Courier New" pitchFamily="34" charset="-122"/>
                <a:cs typeface="Courier New" pitchFamily="34" charset="-120"/>
              </a:rPr>
              <a:t>0-6</a:t>
            </a:r>
            <a:endParaRPr lang="en-US" sz="950" dirty="0"/>
          </a:p>
        </p:txBody>
      </p:sp>
      <p:sp>
        <p:nvSpPr>
          <p:cNvPr id="29" name="Shape 27"/>
          <p:cNvSpPr/>
          <p:nvPr/>
        </p:nvSpPr>
        <p:spPr>
          <a:xfrm>
            <a:off x="4928616" y="3794760"/>
            <a:ext cx="841248" cy="420624"/>
          </a:xfrm>
          <a:prstGeom prst="roundRect">
            <a:avLst>
              <a:gd name="adj" fmla="val 13043"/>
            </a:avLst>
          </a:prstGeom>
          <a:solidFill>
            <a:srgbClr val="E6E9EF"/>
          </a:solidFill>
          <a:ln w="15875">
            <a:solidFill>
              <a:srgbClr val="C3C9D4"/>
            </a:solidFill>
            <a:prstDash val="solid"/>
          </a:ln>
        </p:spPr>
      </p:sp>
      <p:sp>
        <p:nvSpPr>
          <p:cNvPr id="30" name="Text 28"/>
          <p:cNvSpPr/>
          <p:nvPr/>
        </p:nvSpPr>
        <p:spPr>
          <a:xfrm>
            <a:off x="4928616" y="3794760"/>
            <a:ext cx="841248" cy="420624"/>
          </a:xfrm>
          <a:prstGeom prst="rect">
            <a:avLst/>
          </a:prstGeom>
          <a:noFill/>
          <a:ln/>
        </p:spPr>
        <p:txBody>
          <a:bodyPr wrap="square" lIns="0" tIns="0" rIns="0" bIns="0" rtlCol="0" anchor="ctr"/>
          <a:lstStyle/>
          <a:p>
            <a:pPr algn="ctr" indent="0" marL="0">
              <a:buNone/>
            </a:pPr>
            <a:r>
              <a:rPr lang="en-US" sz="800" dirty="0">
                <a:solidFill>
                  <a:srgbClr val="6B7280"/>
                </a:solidFill>
                <a:latin typeface="Courier New" pitchFamily="34" charset="0"/>
                <a:ea typeface="Courier New" pitchFamily="34" charset="-122"/>
                <a:cs typeface="Courier New" pitchFamily="34" charset="-120"/>
              </a:rPr>
              <a:t>empty</a:t>
            </a:r>
            <a:endParaRPr lang="en-US" sz="800" dirty="0"/>
          </a:p>
        </p:txBody>
      </p:sp>
      <p:sp>
        <p:nvSpPr>
          <p:cNvPr id="31" name="Shape 29"/>
          <p:cNvSpPr/>
          <p:nvPr/>
        </p:nvSpPr>
        <p:spPr>
          <a:xfrm>
            <a:off x="5861304" y="3794760"/>
            <a:ext cx="841248" cy="420624"/>
          </a:xfrm>
          <a:prstGeom prst="roundRect">
            <a:avLst>
              <a:gd name="adj" fmla="val 13043"/>
            </a:avLst>
          </a:prstGeom>
          <a:solidFill>
            <a:srgbClr val="FFFFFF"/>
          </a:solidFill>
          <a:ln w="15875">
            <a:solidFill>
              <a:srgbClr val="E07B39"/>
            </a:solidFill>
            <a:prstDash val="solid"/>
          </a:ln>
        </p:spPr>
      </p:sp>
      <p:sp>
        <p:nvSpPr>
          <p:cNvPr id="32" name="Text 30"/>
          <p:cNvSpPr/>
          <p:nvPr/>
        </p:nvSpPr>
        <p:spPr>
          <a:xfrm>
            <a:off x="5861304" y="3794760"/>
            <a:ext cx="841248" cy="420624"/>
          </a:xfrm>
          <a:prstGeom prst="rect">
            <a:avLst/>
          </a:prstGeom>
          <a:noFill/>
          <a:ln/>
        </p:spPr>
        <p:txBody>
          <a:bodyPr wrap="square" lIns="0" tIns="0" rIns="0" bIns="0" rtlCol="0" anchor="ctr"/>
          <a:lstStyle/>
          <a:p>
            <a:pPr algn="ctr" indent="0" marL="0">
              <a:buNone/>
            </a:pPr>
            <a:r>
              <a:rPr lang="en-US" sz="950" b="1" dirty="0">
                <a:solidFill>
                  <a:srgbClr val="141821"/>
                </a:solidFill>
                <a:latin typeface="Courier New" pitchFamily="34" charset="0"/>
                <a:ea typeface="Courier New" pitchFamily="34" charset="-122"/>
                <a:cs typeface="Courier New" pitchFamily="34" charset="-120"/>
              </a:rPr>
              <a:t>6-12</a:t>
            </a:r>
            <a:endParaRPr lang="en-US" sz="950" dirty="0"/>
          </a:p>
        </p:txBody>
      </p:sp>
      <p:sp>
        <p:nvSpPr>
          <p:cNvPr id="33" name="Text 31"/>
          <p:cNvSpPr/>
          <p:nvPr/>
        </p:nvSpPr>
        <p:spPr>
          <a:xfrm>
            <a:off x="6601968" y="3813048"/>
            <a:ext cx="868680" cy="384048"/>
          </a:xfrm>
          <a:prstGeom prst="rect">
            <a:avLst/>
          </a:prstGeom>
          <a:noFill/>
          <a:ln/>
        </p:spPr>
        <p:txBody>
          <a:bodyPr wrap="square" lIns="0" tIns="0" rIns="0" bIns="0" rtlCol="0" anchor="ctr"/>
          <a:lstStyle/>
          <a:p>
            <a:pPr algn="r" indent="0" marL="0">
              <a:buNone/>
            </a:pPr>
            <a:r>
              <a:rPr lang="en-US" sz="1500" b="1" dirty="0">
                <a:solidFill>
                  <a:srgbClr val="E07B39"/>
                </a:solidFill>
                <a:latin typeface="Cambria" pitchFamily="34" charset="0"/>
                <a:ea typeface="Cambria" pitchFamily="34" charset="-122"/>
                <a:cs typeface="Cambria" pitchFamily="34" charset="-120"/>
              </a:rPr>
              <a:t>62 ms</a:t>
            </a:r>
            <a:endParaRPr lang="en-US" sz="1500" dirty="0"/>
          </a:p>
        </p:txBody>
      </p:sp>
      <p:sp>
        <p:nvSpPr>
          <p:cNvPr id="34" name="Shape 32"/>
          <p:cNvSpPr/>
          <p:nvPr/>
        </p:nvSpPr>
        <p:spPr>
          <a:xfrm>
            <a:off x="566928" y="4599432"/>
            <a:ext cx="6949440" cy="932688"/>
          </a:xfrm>
          <a:prstGeom prst="roundRect">
            <a:avLst>
              <a:gd name="adj" fmla="val 6863"/>
            </a:avLst>
          </a:prstGeom>
          <a:solidFill>
            <a:srgbClr val="F7F8FA"/>
          </a:solidFill>
          <a:ln w="12700">
            <a:solidFill>
              <a:srgbClr val="FFFFFF"/>
            </a:solidFill>
            <a:prstDash val="solid"/>
          </a:ln>
          <a:effectLst>
            <a:outerShdw sx="100000" sy="100000" kx="0" ky="0" algn="bl" rotWithShape="0" blurRad="127000" dist="25400" dir="5400000">
              <a:srgbClr val="9AA3B2">
                <a:alpha val="28000"/>
              </a:srgbClr>
            </a:outerShdw>
          </a:effectLst>
        </p:spPr>
      </p:sp>
      <p:sp>
        <p:nvSpPr>
          <p:cNvPr id="35" name="Text 33"/>
          <p:cNvSpPr/>
          <p:nvPr/>
        </p:nvSpPr>
        <p:spPr>
          <a:xfrm>
            <a:off x="804672" y="4727448"/>
            <a:ext cx="3017520" cy="274320"/>
          </a:xfrm>
          <a:prstGeom prst="rect">
            <a:avLst/>
          </a:prstGeom>
          <a:noFill/>
          <a:ln/>
        </p:spPr>
        <p:txBody>
          <a:bodyPr wrap="square" lIns="0" tIns="0" rIns="0" bIns="0" rtlCol="0" anchor="ctr"/>
          <a:lstStyle/>
          <a:p>
            <a:pPr indent="0" marL="0">
              <a:buNone/>
            </a:pPr>
            <a:r>
              <a:rPr lang="en-US" sz="1150" b="1" dirty="0">
                <a:solidFill>
                  <a:srgbClr val="141821"/>
                </a:solidFill>
                <a:latin typeface="Calibri" pitchFamily="34" charset="0"/>
                <a:ea typeface="Calibri" pitchFamily="34" charset="-122"/>
                <a:cs typeface="Calibri" pitchFamily="34" charset="-120"/>
              </a:rPr>
              <a:t>Machine 3 dies</a:t>
            </a:r>
            <a:endParaRPr lang="en-US" sz="1150" dirty="0"/>
          </a:p>
        </p:txBody>
      </p:sp>
      <p:sp>
        <p:nvSpPr>
          <p:cNvPr id="36" name="Text 34"/>
          <p:cNvSpPr/>
          <p:nvPr/>
        </p:nvSpPr>
        <p:spPr>
          <a:xfrm>
            <a:off x="804672" y="5001768"/>
            <a:ext cx="3017520" cy="237744"/>
          </a:xfrm>
          <a:prstGeom prst="rect">
            <a:avLst/>
          </a:prstGeom>
          <a:noFill/>
          <a:ln/>
        </p:spPr>
        <p:txBody>
          <a:bodyPr wrap="square" lIns="0" tIns="0" rIns="0" bIns="0" rtlCol="0" anchor="ctr"/>
          <a:lstStyle/>
          <a:p>
            <a:pPr indent="0" marL="0">
              <a:buNone/>
            </a:pPr>
            <a:r>
              <a:rPr lang="en-US" sz="850" dirty="0">
                <a:solidFill>
                  <a:srgbClr val="6B7280"/>
                </a:solidFill>
                <a:latin typeface="Courier New" pitchFamily="34" charset="0"/>
                <a:ea typeface="Courier New" pitchFamily="34" charset="-122"/>
                <a:cs typeface="Courier New" pitchFamily="34" charset="-120"/>
              </a:rPr>
              <a:t>3 machines -&gt; 2</a:t>
            </a:r>
            <a:endParaRPr lang="en-US" sz="850" dirty="0"/>
          </a:p>
        </p:txBody>
      </p:sp>
      <p:sp>
        <p:nvSpPr>
          <p:cNvPr id="37" name="Shape 35"/>
          <p:cNvSpPr/>
          <p:nvPr/>
        </p:nvSpPr>
        <p:spPr>
          <a:xfrm>
            <a:off x="3995928" y="4855464"/>
            <a:ext cx="841248" cy="420624"/>
          </a:xfrm>
          <a:prstGeom prst="roundRect">
            <a:avLst>
              <a:gd name="adj" fmla="val 13043"/>
            </a:avLst>
          </a:prstGeom>
          <a:solidFill>
            <a:srgbClr val="FFFFFF"/>
          </a:solidFill>
          <a:ln w="15875">
            <a:solidFill>
              <a:srgbClr val="E07B39"/>
            </a:solidFill>
            <a:prstDash val="solid"/>
          </a:ln>
        </p:spPr>
      </p:sp>
      <p:sp>
        <p:nvSpPr>
          <p:cNvPr id="38" name="Text 36"/>
          <p:cNvSpPr/>
          <p:nvPr/>
        </p:nvSpPr>
        <p:spPr>
          <a:xfrm>
            <a:off x="3995928" y="4855464"/>
            <a:ext cx="841248" cy="420624"/>
          </a:xfrm>
          <a:prstGeom prst="rect">
            <a:avLst/>
          </a:prstGeom>
          <a:noFill/>
          <a:ln/>
        </p:spPr>
        <p:txBody>
          <a:bodyPr wrap="square" lIns="0" tIns="0" rIns="0" bIns="0" rtlCol="0" anchor="ctr"/>
          <a:lstStyle/>
          <a:p>
            <a:pPr algn="ctr" indent="0" marL="0">
              <a:buNone/>
            </a:pPr>
            <a:r>
              <a:rPr lang="en-US" sz="950" b="1" dirty="0">
                <a:solidFill>
                  <a:srgbClr val="141821"/>
                </a:solidFill>
                <a:latin typeface="Courier New" pitchFamily="34" charset="0"/>
                <a:ea typeface="Courier New" pitchFamily="34" charset="-122"/>
                <a:cs typeface="Courier New" pitchFamily="34" charset="-120"/>
              </a:rPr>
              <a:t>0-6</a:t>
            </a:r>
            <a:endParaRPr lang="en-US" sz="950" dirty="0"/>
          </a:p>
        </p:txBody>
      </p:sp>
      <p:sp>
        <p:nvSpPr>
          <p:cNvPr id="39" name="Shape 37"/>
          <p:cNvSpPr/>
          <p:nvPr/>
        </p:nvSpPr>
        <p:spPr>
          <a:xfrm>
            <a:off x="4928616" y="4855464"/>
            <a:ext cx="841248" cy="420624"/>
          </a:xfrm>
          <a:prstGeom prst="roundRect">
            <a:avLst>
              <a:gd name="adj" fmla="val 13043"/>
            </a:avLst>
          </a:prstGeom>
          <a:solidFill>
            <a:srgbClr val="FFFFFF"/>
          </a:solidFill>
          <a:ln w="15875">
            <a:solidFill>
              <a:srgbClr val="E07B39"/>
            </a:solidFill>
            <a:prstDash val="solid"/>
          </a:ln>
        </p:spPr>
      </p:sp>
      <p:sp>
        <p:nvSpPr>
          <p:cNvPr id="40" name="Text 38"/>
          <p:cNvSpPr/>
          <p:nvPr/>
        </p:nvSpPr>
        <p:spPr>
          <a:xfrm>
            <a:off x="4928616" y="4855464"/>
            <a:ext cx="841248" cy="420624"/>
          </a:xfrm>
          <a:prstGeom prst="rect">
            <a:avLst/>
          </a:prstGeom>
          <a:noFill/>
          <a:ln/>
        </p:spPr>
        <p:txBody>
          <a:bodyPr wrap="square" lIns="0" tIns="0" rIns="0" bIns="0" rtlCol="0" anchor="ctr"/>
          <a:lstStyle/>
          <a:p>
            <a:pPr algn="ctr" indent="0" marL="0">
              <a:buNone/>
            </a:pPr>
            <a:r>
              <a:rPr lang="en-US" sz="950" b="1" dirty="0">
                <a:solidFill>
                  <a:srgbClr val="141821"/>
                </a:solidFill>
                <a:latin typeface="Courier New" pitchFamily="34" charset="0"/>
                <a:ea typeface="Courier New" pitchFamily="34" charset="-122"/>
                <a:cs typeface="Courier New" pitchFamily="34" charset="-120"/>
              </a:rPr>
              <a:t>6-12</a:t>
            </a:r>
            <a:endParaRPr lang="en-US" sz="950" dirty="0"/>
          </a:p>
        </p:txBody>
      </p:sp>
      <p:sp>
        <p:nvSpPr>
          <p:cNvPr id="41" name="Text 39"/>
          <p:cNvSpPr/>
          <p:nvPr/>
        </p:nvSpPr>
        <p:spPr>
          <a:xfrm>
            <a:off x="6601968" y="4873752"/>
            <a:ext cx="868680" cy="384048"/>
          </a:xfrm>
          <a:prstGeom prst="rect">
            <a:avLst/>
          </a:prstGeom>
          <a:noFill/>
          <a:ln/>
        </p:spPr>
        <p:txBody>
          <a:bodyPr wrap="square" lIns="0" tIns="0" rIns="0" bIns="0" rtlCol="0" anchor="ctr"/>
          <a:lstStyle/>
          <a:p>
            <a:pPr algn="r" indent="0" marL="0">
              <a:buNone/>
            </a:pPr>
            <a:r>
              <a:rPr lang="en-US" sz="1500" b="1" dirty="0">
                <a:solidFill>
                  <a:srgbClr val="E07B39"/>
                </a:solidFill>
                <a:latin typeface="Cambria" pitchFamily="34" charset="0"/>
                <a:ea typeface="Cambria" pitchFamily="34" charset="-122"/>
                <a:cs typeface="Cambria" pitchFamily="34" charset="-120"/>
              </a:rPr>
              <a:t>62 ms</a:t>
            </a:r>
            <a:endParaRPr lang="en-US" sz="1500" dirty="0"/>
          </a:p>
        </p:txBody>
      </p:sp>
      <p:sp>
        <p:nvSpPr>
          <p:cNvPr id="42" name="Text 40"/>
          <p:cNvSpPr/>
          <p:nvPr/>
        </p:nvSpPr>
        <p:spPr>
          <a:xfrm>
            <a:off x="3995928" y="1152144"/>
            <a:ext cx="2926080" cy="219456"/>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layers given to machine 1 / 2 / 3</a:t>
            </a:r>
            <a:endParaRPr lang="en-US" sz="850" dirty="0"/>
          </a:p>
        </p:txBody>
      </p:sp>
      <p:sp>
        <p:nvSpPr>
          <p:cNvPr id="43" name="Shape 41"/>
          <p:cNvSpPr/>
          <p:nvPr/>
        </p:nvSpPr>
        <p:spPr>
          <a:xfrm>
            <a:off x="7818120" y="1417320"/>
            <a:ext cx="3803904" cy="2139696"/>
          </a:xfrm>
          <a:prstGeom prst="roundRect">
            <a:avLst>
              <a:gd name="adj" fmla="val 2991"/>
            </a:avLst>
          </a:prstGeom>
          <a:solidFill>
            <a:srgbClr val="141821"/>
          </a:solidFill>
          <a:ln w="12700">
            <a:solidFill>
              <a:srgbClr val="FFFFFF"/>
            </a:solidFill>
            <a:prstDash val="solid"/>
          </a:ln>
          <a:effectLst>
            <a:outerShdw sx="100000" sy="100000" kx="0" ky="0" algn="bl" rotWithShape="0" blurRad="127000" dist="25400" dir="5400000">
              <a:srgbClr val="9AA3B2">
                <a:alpha val="28000"/>
              </a:srgbClr>
            </a:outerShdw>
          </a:effectLst>
        </p:spPr>
      </p:sp>
      <p:sp>
        <p:nvSpPr>
          <p:cNvPr id="44" name="Text 42"/>
          <p:cNvSpPr/>
          <p:nvPr/>
        </p:nvSpPr>
        <p:spPr>
          <a:xfrm>
            <a:off x="8092440" y="1627632"/>
            <a:ext cx="3200400" cy="274320"/>
          </a:xfrm>
          <a:prstGeom prst="rect">
            <a:avLst/>
          </a:prstGeom>
          <a:noFill/>
          <a:ln/>
        </p:spPr>
        <p:txBody>
          <a:bodyPr wrap="square" lIns="0" tIns="0" rIns="0" bIns="0" rtlCol="0" anchor="ctr"/>
          <a:lstStyle/>
          <a:p>
            <a:pPr indent="0" marL="0">
              <a:buNone/>
            </a:pPr>
            <a:r>
              <a:rPr lang="en-US" sz="1250" b="1" dirty="0">
                <a:solidFill>
                  <a:srgbClr val="E07B39"/>
                </a:solidFill>
                <a:latin typeface="Calibri" pitchFamily="34" charset="0"/>
                <a:ea typeface="Calibri" pitchFamily="34" charset="-122"/>
                <a:cs typeface="Calibri" pitchFamily="34" charset="-120"/>
              </a:rPr>
              <a:t>It can skip a machine</a:t>
            </a:r>
            <a:endParaRPr lang="en-US" sz="1250" dirty="0"/>
          </a:p>
        </p:txBody>
      </p:sp>
      <p:sp>
        <p:nvSpPr>
          <p:cNvPr id="45" name="Text 43"/>
          <p:cNvSpPr/>
          <p:nvPr/>
        </p:nvSpPr>
        <p:spPr>
          <a:xfrm>
            <a:off x="8092440" y="1975104"/>
            <a:ext cx="3291840" cy="1463040"/>
          </a:xfrm>
          <a:prstGeom prst="rect">
            <a:avLst/>
          </a:prstGeom>
          <a:noFill/>
          <a:ln/>
        </p:spPr>
        <p:txBody>
          <a:bodyPr wrap="square" lIns="0" tIns="0" rIns="0" bIns="0" rtlCol="0" anchor="ctr"/>
          <a:lstStyle/>
          <a:p>
            <a:pPr indent="0" marL="0">
              <a:lnSpc>
                <a:spcPts val="1350"/>
              </a:lnSpc>
              <a:buNone/>
            </a:pPr>
            <a:r>
              <a:rPr lang="en-US" sz="1000" dirty="0">
                <a:solidFill>
                  <a:srgbClr val="AEB6C4"/>
                </a:solidFill>
                <a:latin typeface="Calibri" pitchFamily="34" charset="0"/>
                <a:ea typeface="Calibri" pitchFamily="34" charset="-122"/>
                <a:cs typeface="Calibri" pitchFamily="34" charset="-120"/>
              </a:rPr>
              <a:t>When the network to machine 2 slows to 80 ms, the solver gives it zero layers. A machine with no layers costs nothing at all, so the router skips it and the other two take all 12 layers. Nobody told it to do this - it falls out of the maths.</a:t>
            </a:r>
            <a:endParaRPr lang="en-US" sz="1000" dirty="0"/>
          </a:p>
        </p:txBody>
      </p:sp>
      <p:sp>
        <p:nvSpPr>
          <p:cNvPr id="46" name="Shape 44"/>
          <p:cNvSpPr/>
          <p:nvPr/>
        </p:nvSpPr>
        <p:spPr>
          <a:xfrm>
            <a:off x="7818120" y="3749040"/>
            <a:ext cx="237744" cy="237744"/>
          </a:xfrm>
          <a:prstGeom prst="ellipse">
            <a:avLst/>
          </a:prstGeom>
          <a:solidFill>
            <a:srgbClr val="1F8A80"/>
          </a:solidFill>
          <a:ln w="12700">
            <a:solidFill>
              <a:srgbClr val="333333"/>
            </a:solidFill>
            <a:prstDash val="solid"/>
          </a:ln>
        </p:spPr>
      </p:sp>
      <p:sp>
        <p:nvSpPr>
          <p:cNvPr id="47" name="Text 45"/>
          <p:cNvSpPr/>
          <p:nvPr/>
        </p:nvSpPr>
        <p:spPr>
          <a:xfrm>
            <a:off x="8165592" y="3712464"/>
            <a:ext cx="3291840" cy="237744"/>
          </a:xfrm>
          <a:prstGeom prst="rect">
            <a:avLst/>
          </a:prstGeom>
          <a:noFill/>
          <a:ln/>
        </p:spPr>
        <p:txBody>
          <a:bodyPr wrap="square" lIns="0" tIns="0" rIns="0" bIns="0" rtlCol="0" anchor="ctr"/>
          <a:lstStyle/>
          <a:p>
            <a:pPr indent="0" marL="0">
              <a:buNone/>
            </a:pPr>
            <a:r>
              <a:rPr lang="en-US" sz="1100" b="1" dirty="0">
                <a:solidFill>
                  <a:srgbClr val="141821"/>
                </a:solidFill>
                <a:latin typeface="Calibri" pitchFamily="34" charset="0"/>
                <a:ea typeface="Calibri" pitchFamily="34" charset="-122"/>
                <a:cs typeface="Calibri" pitchFamily="34" charset="-120"/>
              </a:rPr>
              <a:t>It finds the best answer</a:t>
            </a:r>
            <a:endParaRPr lang="en-US" sz="1100" dirty="0"/>
          </a:p>
        </p:txBody>
      </p:sp>
      <p:sp>
        <p:nvSpPr>
          <p:cNvPr id="48" name="Text 46"/>
          <p:cNvSpPr/>
          <p:nvPr/>
        </p:nvSpPr>
        <p:spPr>
          <a:xfrm>
            <a:off x="8165592" y="3959352"/>
            <a:ext cx="3401568" cy="457200"/>
          </a:xfrm>
          <a:prstGeom prst="rect">
            <a:avLst/>
          </a:prstGeom>
          <a:noFill/>
          <a:ln/>
        </p:spPr>
        <p:txBody>
          <a:bodyPr wrap="square" lIns="0" tIns="0" rIns="0" bIns="0" rtlCol="0" anchor="ctr"/>
          <a:lstStyle/>
          <a:p>
            <a:pPr indent="0" marL="0">
              <a:lnSpc>
                <a:spcPts val="1150"/>
              </a:lnSpc>
              <a:buNone/>
            </a:pPr>
            <a:r>
              <a:rPr lang="en-US" sz="900" dirty="0">
                <a:solidFill>
                  <a:srgbClr val="4A5264"/>
                </a:solidFill>
                <a:latin typeface="Calibri" pitchFamily="34" charset="0"/>
                <a:ea typeface="Calibri" pitchFamily="34" charset="-122"/>
                <a:cs typeface="Calibri" pitchFamily="34" charset="-120"/>
              </a:rPr>
              <a:t>The solver matched brute force on 200 random test cases.</a:t>
            </a:r>
            <a:endParaRPr lang="en-US" sz="900" dirty="0"/>
          </a:p>
        </p:txBody>
      </p:sp>
      <p:sp>
        <p:nvSpPr>
          <p:cNvPr id="49" name="Shape 47"/>
          <p:cNvSpPr/>
          <p:nvPr/>
        </p:nvSpPr>
        <p:spPr>
          <a:xfrm>
            <a:off x="7818120" y="4462272"/>
            <a:ext cx="237744" cy="237744"/>
          </a:xfrm>
          <a:prstGeom prst="ellipse">
            <a:avLst/>
          </a:prstGeom>
          <a:solidFill>
            <a:srgbClr val="1F8A80"/>
          </a:solidFill>
          <a:ln w="12700">
            <a:solidFill>
              <a:srgbClr val="333333"/>
            </a:solidFill>
            <a:prstDash val="solid"/>
          </a:ln>
        </p:spPr>
      </p:sp>
      <p:sp>
        <p:nvSpPr>
          <p:cNvPr id="50" name="Text 48"/>
          <p:cNvSpPr/>
          <p:nvPr/>
        </p:nvSpPr>
        <p:spPr>
          <a:xfrm>
            <a:off x="8165592" y="4425696"/>
            <a:ext cx="3291840" cy="237744"/>
          </a:xfrm>
          <a:prstGeom prst="rect">
            <a:avLst/>
          </a:prstGeom>
          <a:noFill/>
          <a:ln/>
        </p:spPr>
        <p:txBody>
          <a:bodyPr wrap="square" lIns="0" tIns="0" rIns="0" bIns="0" rtlCol="0" anchor="ctr"/>
          <a:lstStyle/>
          <a:p>
            <a:pPr indent="0" marL="0">
              <a:buNone/>
            </a:pPr>
            <a:r>
              <a:rPr lang="en-US" sz="1100" b="1" dirty="0">
                <a:solidFill>
                  <a:srgbClr val="141821"/>
                </a:solidFill>
                <a:latin typeface="Calibri" pitchFamily="34" charset="0"/>
                <a:ea typeface="Calibri" pitchFamily="34" charset="-122"/>
                <a:cs typeface="Calibri" pitchFamily="34" charset="-120"/>
              </a:rPr>
              <a:t>It gives the same answers</a:t>
            </a:r>
            <a:endParaRPr lang="en-US" sz="1100" dirty="0"/>
          </a:p>
        </p:txBody>
      </p:sp>
      <p:sp>
        <p:nvSpPr>
          <p:cNvPr id="51" name="Text 49"/>
          <p:cNvSpPr/>
          <p:nvPr/>
        </p:nvSpPr>
        <p:spPr>
          <a:xfrm>
            <a:off x="8165592" y="4672584"/>
            <a:ext cx="3401568" cy="457200"/>
          </a:xfrm>
          <a:prstGeom prst="rect">
            <a:avLst/>
          </a:prstGeom>
          <a:noFill/>
          <a:ln/>
        </p:spPr>
        <p:txBody>
          <a:bodyPr wrap="square" lIns="0" tIns="0" rIns="0" bIns="0" rtlCol="0" anchor="ctr"/>
          <a:lstStyle/>
          <a:p>
            <a:pPr indent="0" marL="0">
              <a:lnSpc>
                <a:spcPts val="1150"/>
              </a:lnSpc>
              <a:buNone/>
            </a:pPr>
            <a:r>
              <a:rPr lang="en-US" sz="900" dirty="0">
                <a:solidFill>
                  <a:srgbClr val="4A5264"/>
                </a:solidFill>
                <a:latin typeface="Calibri" pitchFamily="34" charset="0"/>
                <a:ea typeface="Calibri" pitchFamily="34" charset="-122"/>
                <a:cs typeface="Calibri" pitchFamily="34" charset="-120"/>
              </a:rPr>
              <a:t>GPT-2 split over 3 machines produces exactly the same text as one machine.</a:t>
            </a:r>
            <a:endParaRPr lang="en-US" sz="900" dirty="0"/>
          </a:p>
        </p:txBody>
      </p:sp>
      <p:sp>
        <p:nvSpPr>
          <p:cNvPr id="52" name="Shape 50"/>
          <p:cNvSpPr/>
          <p:nvPr/>
        </p:nvSpPr>
        <p:spPr>
          <a:xfrm>
            <a:off x="7818120" y="5175504"/>
            <a:ext cx="237744" cy="237744"/>
          </a:xfrm>
          <a:prstGeom prst="ellipse">
            <a:avLst/>
          </a:prstGeom>
          <a:solidFill>
            <a:srgbClr val="1F8A80"/>
          </a:solidFill>
          <a:ln w="12700">
            <a:solidFill>
              <a:srgbClr val="333333"/>
            </a:solidFill>
            <a:prstDash val="solid"/>
          </a:ln>
        </p:spPr>
      </p:sp>
      <p:sp>
        <p:nvSpPr>
          <p:cNvPr id="53" name="Text 51"/>
          <p:cNvSpPr/>
          <p:nvPr/>
        </p:nvSpPr>
        <p:spPr>
          <a:xfrm>
            <a:off x="8165592" y="5138928"/>
            <a:ext cx="3291840" cy="237744"/>
          </a:xfrm>
          <a:prstGeom prst="rect">
            <a:avLst/>
          </a:prstGeom>
          <a:noFill/>
          <a:ln/>
        </p:spPr>
        <p:txBody>
          <a:bodyPr wrap="square" lIns="0" tIns="0" rIns="0" bIns="0" rtlCol="0" anchor="ctr"/>
          <a:lstStyle/>
          <a:p>
            <a:pPr indent="0" marL="0">
              <a:buNone/>
            </a:pPr>
            <a:r>
              <a:rPr lang="en-US" sz="1100" b="1" dirty="0">
                <a:solidFill>
                  <a:srgbClr val="141821"/>
                </a:solidFill>
                <a:latin typeface="Calibri" pitchFamily="34" charset="0"/>
                <a:ea typeface="Calibri" pitchFamily="34" charset="-122"/>
                <a:cs typeface="Calibri" pitchFamily="34" charset="-120"/>
              </a:rPr>
              <a:t>How good the estimate is</a:t>
            </a:r>
            <a:endParaRPr lang="en-US" sz="1100" dirty="0"/>
          </a:p>
        </p:txBody>
      </p:sp>
      <p:sp>
        <p:nvSpPr>
          <p:cNvPr id="54" name="Text 52"/>
          <p:cNvSpPr/>
          <p:nvPr/>
        </p:nvSpPr>
        <p:spPr>
          <a:xfrm>
            <a:off x="8165592" y="5385816"/>
            <a:ext cx="3401568" cy="457200"/>
          </a:xfrm>
          <a:prstGeom prst="rect">
            <a:avLst/>
          </a:prstGeom>
          <a:noFill/>
          <a:ln/>
        </p:spPr>
        <p:txBody>
          <a:bodyPr wrap="square" lIns="0" tIns="0" rIns="0" bIns="0" rtlCol="0" anchor="ctr"/>
          <a:lstStyle/>
          <a:p>
            <a:pPr indent="0" marL="0">
              <a:lnSpc>
                <a:spcPts val="1150"/>
              </a:lnSpc>
              <a:buNone/>
            </a:pPr>
            <a:r>
              <a:rPr lang="en-US" sz="900" dirty="0">
                <a:solidFill>
                  <a:srgbClr val="4A5264"/>
                </a:solidFill>
                <a:latin typeface="Calibri" pitchFamily="34" charset="0"/>
                <a:ea typeface="Calibri" pitchFamily="34" charset="-122"/>
                <a:cs typeface="Calibri" pitchFamily="34" charset="-120"/>
              </a:rPr>
              <a:t>Our predicted time is always about 3x lower than the real time. Good for ranking cuts, not for predicting real speed.</a:t>
            </a:r>
            <a:endParaRPr lang="en-US" sz="900" dirty="0"/>
          </a:p>
        </p:txBody>
      </p:sp>
      <p:sp>
        <p:nvSpPr>
          <p:cNvPr id="55" name="Text 53"/>
          <p:cNvSpPr/>
          <p:nvPr/>
        </p:nvSpPr>
        <p:spPr>
          <a:xfrm>
            <a:off x="566928" y="6382512"/>
            <a:ext cx="9692640" cy="274320"/>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Tokens per second, time to the first word, and real idle time come from bench/run.py, which needs a running cluster.</a:t>
            </a:r>
            <a:endParaRPr lang="en-US" sz="950" dirty="0"/>
          </a:p>
        </p:txBody>
      </p:sp>
      <p:sp>
        <p:nvSpPr>
          <p:cNvPr id="56" name="Text 54"/>
          <p:cNvSpPr/>
          <p:nvPr/>
        </p:nvSpPr>
        <p:spPr>
          <a:xfrm>
            <a:off x="11073384" y="6382512"/>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50" b="1" spc="220" kern="0" dirty="0">
                <a:solidFill>
                  <a:srgbClr val="E07B39"/>
                </a:solidFill>
                <a:latin typeface="Calibri" pitchFamily="34" charset="0"/>
                <a:ea typeface="Calibri" pitchFamily="34" charset="-122"/>
                <a:cs typeface="Calibri" pitchFamily="34" charset="-120"/>
              </a:rPr>
              <a:t>COMPARISON</a:t>
            </a:r>
            <a:endParaRPr lang="en-US" sz="1150" dirty="0"/>
          </a:p>
        </p:txBody>
      </p:sp>
      <p:sp>
        <p:nvSpPr>
          <p:cNvPr id="3" name="Text 1"/>
          <p:cNvSpPr/>
          <p:nvPr/>
        </p:nvSpPr>
        <p:spPr>
          <a:xfrm>
            <a:off x="566928" y="566928"/>
            <a:ext cx="11055096" cy="658368"/>
          </a:xfrm>
          <a:prstGeom prst="rect">
            <a:avLst/>
          </a:prstGeom>
          <a:noFill/>
          <a:ln/>
        </p:spPr>
        <p:txBody>
          <a:bodyPr wrap="square" lIns="0" tIns="0" rIns="0" bIns="0" rtlCol="0" anchor="ctr"/>
          <a:lstStyle/>
          <a:p>
            <a:pPr indent="0" marL="0">
              <a:buNone/>
            </a:pPr>
            <a:r>
              <a:rPr lang="en-US" sz="3200" b="1" dirty="0">
                <a:solidFill>
                  <a:srgbClr val="141821"/>
                </a:solidFill>
                <a:latin typeface="Cambria" pitchFamily="34" charset="0"/>
                <a:ea typeface="Cambria" pitchFamily="34" charset="-122"/>
                <a:cs typeface="Cambria" pitchFamily="34" charset="-120"/>
              </a:rPr>
              <a:t>How we compare with the closest systems</a:t>
            </a:r>
            <a:endParaRPr lang="en-US" sz="3200" dirty="0"/>
          </a:p>
        </p:txBody>
      </p:sp>
      <p:sp>
        <p:nvSpPr>
          <p:cNvPr id="4" name="Shape 2"/>
          <p:cNvSpPr/>
          <p:nvPr/>
        </p:nvSpPr>
        <p:spPr>
          <a:xfrm>
            <a:off x="566928" y="1371600"/>
            <a:ext cx="11055096" cy="621792"/>
          </a:xfrm>
          <a:prstGeom prst="roundRect">
            <a:avLst>
              <a:gd name="adj" fmla="val 7353"/>
            </a:avLst>
          </a:prstGeom>
          <a:solidFill>
            <a:srgbClr val="141821"/>
          </a:solidFill>
          <a:ln w="12700">
            <a:solidFill>
              <a:srgbClr val="333333"/>
            </a:solidFill>
            <a:prstDash val="solid"/>
          </a:ln>
        </p:spPr>
      </p:sp>
      <p:sp>
        <p:nvSpPr>
          <p:cNvPr id="5" name="Text 3"/>
          <p:cNvSpPr/>
          <p:nvPr/>
        </p:nvSpPr>
        <p:spPr>
          <a:xfrm>
            <a:off x="566928" y="1371600"/>
            <a:ext cx="2194560" cy="621792"/>
          </a:xfrm>
          <a:prstGeom prst="rect">
            <a:avLst/>
          </a:prstGeom>
          <a:noFill/>
          <a:ln/>
        </p:spPr>
        <p:txBody>
          <a:bodyPr wrap="square" lIns="0" tIns="0" rIns="0" bIns="0" rtlCol="0" anchor="ctr"/>
          <a:lstStyle/>
          <a:p>
            <a:pPr indent="0" marL="0">
              <a:lnSpc>
                <a:spcPts val="1050"/>
              </a:lnSpc>
              <a:buNone/>
            </a:pPr>
            <a:endParaRPr lang="en-US" sz="900" dirty="0"/>
          </a:p>
        </p:txBody>
      </p:sp>
      <p:sp>
        <p:nvSpPr>
          <p:cNvPr id="6" name="Text 4"/>
          <p:cNvSpPr/>
          <p:nvPr/>
        </p:nvSpPr>
        <p:spPr>
          <a:xfrm>
            <a:off x="2788920" y="1371600"/>
            <a:ext cx="1508760" cy="621792"/>
          </a:xfrm>
          <a:prstGeom prst="rect">
            <a:avLst/>
          </a:prstGeom>
          <a:noFill/>
          <a:ln/>
        </p:spPr>
        <p:txBody>
          <a:bodyPr wrap="square" lIns="0" tIns="0" rIns="0" bIns="0" rtlCol="0" anchor="ctr"/>
          <a:lstStyle/>
          <a:p>
            <a:pPr indent="0" marL="0">
              <a:lnSpc>
                <a:spcPts val="1050"/>
              </a:lnSpc>
              <a:buNone/>
            </a:pPr>
            <a:r>
              <a:rPr lang="en-US" sz="900" b="1" dirty="0">
                <a:solidFill>
                  <a:srgbClr val="FFFFFF"/>
                </a:solidFill>
                <a:latin typeface="Calibri" pitchFamily="34" charset="0"/>
                <a:ea typeface="Calibri" pitchFamily="34" charset="-122"/>
                <a:cs typeface="Calibri" pitchFamily="34" charset="-120"/>
              </a:rPr>
              <a:t>EdgeShard</a:t>
            </a:r>
            <a:endParaRPr lang="en-US" sz="900" dirty="0"/>
          </a:p>
          <a:p>
            <a:pPr indent="0" marL="0">
              <a:lnSpc>
                <a:spcPts val="1050"/>
              </a:lnSpc>
              <a:buNone/>
            </a:pPr>
            <a:r>
              <a:rPr lang="en-US" sz="900" b="1" dirty="0">
                <a:solidFill>
                  <a:srgbClr val="FFFFFF"/>
                </a:solidFill>
                <a:latin typeface="Calibri" pitchFamily="34" charset="0"/>
                <a:ea typeface="Calibri" pitchFamily="34" charset="-122"/>
                <a:cs typeface="Calibri" pitchFamily="34" charset="-120"/>
              </a:rPr>
              <a:t>(IoT-J 24)</a:t>
            </a:r>
            <a:endParaRPr lang="en-US" sz="900" dirty="0"/>
          </a:p>
        </p:txBody>
      </p:sp>
      <p:sp>
        <p:nvSpPr>
          <p:cNvPr id="7" name="Text 5"/>
          <p:cNvSpPr/>
          <p:nvPr/>
        </p:nvSpPr>
        <p:spPr>
          <a:xfrm>
            <a:off x="4343400" y="1371600"/>
            <a:ext cx="1600200" cy="621792"/>
          </a:xfrm>
          <a:prstGeom prst="rect">
            <a:avLst/>
          </a:prstGeom>
          <a:noFill/>
          <a:ln/>
        </p:spPr>
        <p:txBody>
          <a:bodyPr wrap="square" lIns="0" tIns="0" rIns="0" bIns="0" rtlCol="0" anchor="ctr"/>
          <a:lstStyle/>
          <a:p>
            <a:pPr indent="0" marL="0">
              <a:lnSpc>
                <a:spcPts val="1050"/>
              </a:lnSpc>
              <a:buNone/>
            </a:pPr>
            <a:r>
              <a:rPr lang="en-US" sz="900" b="1" dirty="0">
                <a:solidFill>
                  <a:srgbClr val="FFFFFF"/>
                </a:solidFill>
                <a:latin typeface="Calibri" pitchFamily="34" charset="0"/>
                <a:ea typeface="Calibri" pitchFamily="34" charset="-122"/>
                <a:cs typeface="Calibri" pitchFamily="34" charset="-120"/>
              </a:rPr>
              <a:t>Galaxy</a:t>
            </a:r>
            <a:endParaRPr lang="en-US" sz="900" dirty="0"/>
          </a:p>
          <a:p>
            <a:pPr indent="0" marL="0">
              <a:lnSpc>
                <a:spcPts val="1050"/>
              </a:lnSpc>
              <a:buNone/>
            </a:pPr>
            <a:r>
              <a:rPr lang="en-US" sz="900" b="1" dirty="0">
                <a:solidFill>
                  <a:srgbClr val="FFFFFF"/>
                </a:solidFill>
                <a:latin typeface="Calibri" pitchFamily="34" charset="0"/>
                <a:ea typeface="Calibri" pitchFamily="34" charset="-122"/>
                <a:cs typeface="Calibri" pitchFamily="34" charset="-120"/>
              </a:rPr>
              <a:t>(INFOCOM 24)</a:t>
            </a:r>
            <a:endParaRPr lang="en-US" sz="900" dirty="0"/>
          </a:p>
        </p:txBody>
      </p:sp>
      <p:sp>
        <p:nvSpPr>
          <p:cNvPr id="8" name="Text 6"/>
          <p:cNvSpPr/>
          <p:nvPr/>
        </p:nvSpPr>
        <p:spPr>
          <a:xfrm>
            <a:off x="5989320" y="1371600"/>
            <a:ext cx="1645920" cy="621792"/>
          </a:xfrm>
          <a:prstGeom prst="rect">
            <a:avLst/>
          </a:prstGeom>
          <a:noFill/>
          <a:ln/>
        </p:spPr>
        <p:txBody>
          <a:bodyPr wrap="square" lIns="0" tIns="0" rIns="0" bIns="0" rtlCol="0" anchor="ctr"/>
          <a:lstStyle/>
          <a:p>
            <a:pPr indent="0" marL="0">
              <a:lnSpc>
                <a:spcPts val="1050"/>
              </a:lnSpc>
              <a:buNone/>
            </a:pPr>
            <a:r>
              <a:rPr lang="en-US" sz="900" b="1" dirty="0">
                <a:solidFill>
                  <a:srgbClr val="FFFFFF"/>
                </a:solidFill>
                <a:latin typeface="Calibri" pitchFamily="34" charset="0"/>
                <a:ea typeface="Calibri" pitchFamily="34" charset="-122"/>
                <a:cs typeface="Calibri" pitchFamily="34" charset="-120"/>
              </a:rPr>
              <a:t>Helix</a:t>
            </a:r>
            <a:endParaRPr lang="en-US" sz="900" dirty="0"/>
          </a:p>
          <a:p>
            <a:pPr indent="0" marL="0">
              <a:lnSpc>
                <a:spcPts val="1050"/>
              </a:lnSpc>
              <a:buNone/>
            </a:pPr>
            <a:r>
              <a:rPr lang="en-US" sz="900" b="1" dirty="0">
                <a:solidFill>
                  <a:srgbClr val="FFFFFF"/>
                </a:solidFill>
                <a:latin typeface="Calibri" pitchFamily="34" charset="0"/>
                <a:ea typeface="Calibri" pitchFamily="34" charset="-122"/>
                <a:cs typeface="Calibri" pitchFamily="34" charset="-120"/>
              </a:rPr>
              <a:t>(ASPLOS 25)</a:t>
            </a:r>
            <a:endParaRPr lang="en-US" sz="900" dirty="0"/>
          </a:p>
        </p:txBody>
      </p:sp>
      <p:sp>
        <p:nvSpPr>
          <p:cNvPr id="9" name="Text 7"/>
          <p:cNvSpPr/>
          <p:nvPr/>
        </p:nvSpPr>
        <p:spPr>
          <a:xfrm>
            <a:off x="7680960" y="1371600"/>
            <a:ext cx="1554480" cy="621792"/>
          </a:xfrm>
          <a:prstGeom prst="rect">
            <a:avLst/>
          </a:prstGeom>
          <a:noFill/>
          <a:ln/>
        </p:spPr>
        <p:txBody>
          <a:bodyPr wrap="square" lIns="0" tIns="0" rIns="0" bIns="0" rtlCol="0" anchor="ctr"/>
          <a:lstStyle/>
          <a:p>
            <a:pPr indent="0" marL="0">
              <a:lnSpc>
                <a:spcPts val="1050"/>
              </a:lnSpc>
              <a:buNone/>
            </a:pPr>
            <a:r>
              <a:rPr lang="en-US" sz="900" b="1" dirty="0">
                <a:solidFill>
                  <a:srgbClr val="FFFFFF"/>
                </a:solidFill>
                <a:latin typeface="Calibri" pitchFamily="34" charset="0"/>
                <a:ea typeface="Calibri" pitchFamily="34" charset="-122"/>
                <a:cs typeface="Calibri" pitchFamily="34" charset="-120"/>
              </a:rPr>
              <a:t>prima.cpp</a:t>
            </a:r>
            <a:endParaRPr lang="en-US" sz="900" dirty="0"/>
          </a:p>
          <a:p>
            <a:pPr indent="0" marL="0">
              <a:lnSpc>
                <a:spcPts val="1050"/>
              </a:lnSpc>
              <a:buNone/>
            </a:pPr>
            <a:r>
              <a:rPr lang="en-US" sz="900" b="1" dirty="0">
                <a:solidFill>
                  <a:srgbClr val="FFFFFF"/>
                </a:solidFill>
                <a:latin typeface="Calibri" pitchFamily="34" charset="0"/>
                <a:ea typeface="Calibri" pitchFamily="34" charset="-122"/>
                <a:cs typeface="Calibri" pitchFamily="34" charset="-120"/>
              </a:rPr>
              <a:t>(2025)</a:t>
            </a:r>
            <a:endParaRPr lang="en-US" sz="900" dirty="0"/>
          </a:p>
        </p:txBody>
      </p:sp>
      <p:sp>
        <p:nvSpPr>
          <p:cNvPr id="10" name="Text 8"/>
          <p:cNvSpPr/>
          <p:nvPr/>
        </p:nvSpPr>
        <p:spPr>
          <a:xfrm>
            <a:off x="9281160" y="1371600"/>
            <a:ext cx="2340864" cy="621792"/>
          </a:xfrm>
          <a:prstGeom prst="rect">
            <a:avLst/>
          </a:prstGeom>
          <a:noFill/>
          <a:ln/>
        </p:spPr>
        <p:txBody>
          <a:bodyPr wrap="square" lIns="0" tIns="0" rIns="0" bIns="0" rtlCol="0" anchor="ctr"/>
          <a:lstStyle/>
          <a:p>
            <a:pPr indent="0" marL="0">
              <a:lnSpc>
                <a:spcPts val="1050"/>
              </a:lnSpc>
              <a:buNone/>
            </a:pPr>
            <a:r>
              <a:rPr lang="en-US" sz="900" b="1" dirty="0">
                <a:solidFill>
                  <a:srgbClr val="E07B39"/>
                </a:solidFill>
                <a:latin typeface="Calibri" pitchFamily="34" charset="0"/>
                <a:ea typeface="Calibri" pitchFamily="34" charset="-122"/>
                <a:cs typeface="Calibri" pitchFamily="34" charset="-120"/>
              </a:rPr>
              <a:t>KubeEdgeInfer</a:t>
            </a:r>
            <a:endParaRPr lang="en-US" sz="900" dirty="0"/>
          </a:p>
        </p:txBody>
      </p:sp>
      <p:sp>
        <p:nvSpPr>
          <p:cNvPr id="11" name="Shape 9"/>
          <p:cNvSpPr/>
          <p:nvPr/>
        </p:nvSpPr>
        <p:spPr>
          <a:xfrm>
            <a:off x="566928" y="2048256"/>
            <a:ext cx="11055096" cy="457200"/>
          </a:xfrm>
          <a:prstGeom prst="rect">
            <a:avLst/>
          </a:prstGeom>
          <a:solidFill>
            <a:srgbClr val="F7F8FA"/>
          </a:solidFill>
          <a:ln w="12700">
            <a:solidFill>
              <a:srgbClr val="333333"/>
            </a:solidFill>
            <a:prstDash val="solid"/>
          </a:ln>
        </p:spPr>
      </p:sp>
      <p:sp>
        <p:nvSpPr>
          <p:cNvPr id="12" name="Text 10"/>
          <p:cNvSpPr/>
          <p:nvPr/>
        </p:nvSpPr>
        <p:spPr>
          <a:xfrm>
            <a:off x="566928" y="2048256"/>
            <a:ext cx="2194560" cy="457200"/>
          </a:xfrm>
          <a:prstGeom prst="rect">
            <a:avLst/>
          </a:prstGeom>
          <a:noFill/>
          <a:ln/>
        </p:spPr>
        <p:txBody>
          <a:bodyPr wrap="square" lIns="0" tIns="0" rIns="0" bIns="0" rtlCol="0" anchor="ctr"/>
          <a:lstStyle/>
          <a:p>
            <a:pPr indent="0" marL="0">
              <a:buNone/>
            </a:pPr>
            <a:r>
              <a:rPr lang="en-US" sz="950" b="1" dirty="0">
                <a:solidFill>
                  <a:srgbClr val="141821"/>
                </a:solidFill>
                <a:latin typeface="Calibri" pitchFamily="34" charset="0"/>
                <a:ea typeface="Calibri" pitchFamily="34" charset="-122"/>
                <a:cs typeface="Calibri" pitchFamily="34" charset="-120"/>
              </a:rPr>
              <a:t>How the model is split</a:t>
            </a:r>
            <a:endParaRPr lang="en-US" sz="950" dirty="0"/>
          </a:p>
        </p:txBody>
      </p:sp>
      <p:sp>
        <p:nvSpPr>
          <p:cNvPr id="13" name="Text 11"/>
          <p:cNvSpPr/>
          <p:nvPr/>
        </p:nvSpPr>
        <p:spPr>
          <a:xfrm>
            <a:off x="2788920" y="2048256"/>
            <a:ext cx="1508760" cy="457200"/>
          </a:xfrm>
          <a:prstGeom prst="rect">
            <a:avLst/>
          </a:prstGeom>
          <a:noFill/>
          <a:ln/>
        </p:spPr>
        <p:txBody>
          <a:bodyPr wrap="square" lIns="0" tIns="0" rIns="0" bIns="0" rtlCol="0" anchor="ctr"/>
          <a:lstStyle/>
          <a:p>
            <a:pPr indent="0" marL="0">
              <a:buNone/>
            </a:pPr>
            <a:r>
              <a:rPr lang="en-US" sz="950" dirty="0">
                <a:solidFill>
                  <a:srgbClr val="4A5264"/>
                </a:solidFill>
                <a:latin typeface="Calibri" pitchFamily="34" charset="0"/>
                <a:ea typeface="Calibri" pitchFamily="34" charset="-122"/>
                <a:cs typeface="Calibri" pitchFamily="34" charset="-120"/>
              </a:rPr>
              <a:t>by layer</a:t>
            </a:r>
            <a:endParaRPr lang="en-US" sz="950" dirty="0"/>
          </a:p>
        </p:txBody>
      </p:sp>
      <p:sp>
        <p:nvSpPr>
          <p:cNvPr id="14" name="Text 12"/>
          <p:cNvSpPr/>
          <p:nvPr/>
        </p:nvSpPr>
        <p:spPr>
          <a:xfrm>
            <a:off x="4343400" y="2048256"/>
            <a:ext cx="1600200" cy="457200"/>
          </a:xfrm>
          <a:prstGeom prst="rect">
            <a:avLst/>
          </a:prstGeom>
          <a:noFill/>
          <a:ln/>
        </p:spPr>
        <p:txBody>
          <a:bodyPr wrap="square" lIns="0" tIns="0" rIns="0" bIns="0" rtlCol="0" anchor="ctr"/>
          <a:lstStyle/>
          <a:p>
            <a:pPr indent="0" marL="0">
              <a:buNone/>
            </a:pPr>
            <a:r>
              <a:rPr lang="en-US" sz="950" dirty="0">
                <a:solidFill>
                  <a:srgbClr val="4A5264"/>
                </a:solidFill>
                <a:latin typeface="Calibri" pitchFamily="34" charset="0"/>
                <a:ea typeface="Calibri" pitchFamily="34" charset="-122"/>
                <a:cs typeface="Calibri" pitchFamily="34" charset="-120"/>
              </a:rPr>
              <a:t>inside layers</a:t>
            </a:r>
            <a:endParaRPr lang="en-US" sz="950" dirty="0"/>
          </a:p>
        </p:txBody>
      </p:sp>
      <p:sp>
        <p:nvSpPr>
          <p:cNvPr id="15" name="Text 13"/>
          <p:cNvSpPr/>
          <p:nvPr/>
        </p:nvSpPr>
        <p:spPr>
          <a:xfrm>
            <a:off x="5989320" y="2048256"/>
            <a:ext cx="1645920" cy="457200"/>
          </a:xfrm>
          <a:prstGeom prst="rect">
            <a:avLst/>
          </a:prstGeom>
          <a:noFill/>
          <a:ln/>
        </p:spPr>
        <p:txBody>
          <a:bodyPr wrap="square" lIns="0" tIns="0" rIns="0" bIns="0" rtlCol="0" anchor="ctr"/>
          <a:lstStyle/>
          <a:p>
            <a:pPr indent="0" marL="0">
              <a:buNone/>
            </a:pPr>
            <a:r>
              <a:rPr lang="en-US" sz="950" dirty="0">
                <a:solidFill>
                  <a:srgbClr val="4A5264"/>
                </a:solidFill>
                <a:latin typeface="Calibri" pitchFamily="34" charset="0"/>
                <a:ea typeface="Calibri" pitchFamily="34" charset="-122"/>
                <a:cs typeface="Calibri" pitchFamily="34" charset="-120"/>
              </a:rPr>
              <a:t>by layer + routing</a:t>
            </a:r>
            <a:endParaRPr lang="en-US" sz="950" dirty="0"/>
          </a:p>
        </p:txBody>
      </p:sp>
      <p:sp>
        <p:nvSpPr>
          <p:cNvPr id="16" name="Text 14"/>
          <p:cNvSpPr/>
          <p:nvPr/>
        </p:nvSpPr>
        <p:spPr>
          <a:xfrm>
            <a:off x="7680960" y="2048256"/>
            <a:ext cx="1554480" cy="457200"/>
          </a:xfrm>
          <a:prstGeom prst="rect">
            <a:avLst/>
          </a:prstGeom>
          <a:noFill/>
          <a:ln/>
        </p:spPr>
        <p:txBody>
          <a:bodyPr wrap="square" lIns="0" tIns="0" rIns="0" bIns="0" rtlCol="0" anchor="ctr"/>
          <a:lstStyle/>
          <a:p>
            <a:pPr indent="0" marL="0">
              <a:buNone/>
            </a:pPr>
            <a:r>
              <a:rPr lang="en-US" sz="950" dirty="0">
                <a:solidFill>
                  <a:srgbClr val="4A5264"/>
                </a:solidFill>
                <a:latin typeface="Calibri" pitchFamily="34" charset="0"/>
                <a:ea typeface="Calibri" pitchFamily="34" charset="-122"/>
                <a:cs typeface="Calibri" pitchFamily="34" charset="-120"/>
              </a:rPr>
              <a:t>ring of layers</a:t>
            </a:r>
            <a:endParaRPr lang="en-US" sz="950" dirty="0"/>
          </a:p>
        </p:txBody>
      </p:sp>
      <p:sp>
        <p:nvSpPr>
          <p:cNvPr id="17" name="Text 15"/>
          <p:cNvSpPr/>
          <p:nvPr/>
        </p:nvSpPr>
        <p:spPr>
          <a:xfrm>
            <a:off x="9281160" y="2048256"/>
            <a:ext cx="2340864" cy="457200"/>
          </a:xfrm>
          <a:prstGeom prst="rect">
            <a:avLst/>
          </a:prstGeom>
          <a:noFill/>
          <a:ln/>
        </p:spPr>
        <p:txBody>
          <a:bodyPr wrap="square" lIns="0" tIns="0" rIns="0" bIns="0" rtlCol="0" anchor="ctr"/>
          <a:lstStyle/>
          <a:p>
            <a:pPr indent="0" marL="0">
              <a:buNone/>
            </a:pPr>
            <a:r>
              <a:rPr lang="en-US" sz="950" b="1" dirty="0">
                <a:solidFill>
                  <a:srgbClr val="1F8A80"/>
                </a:solidFill>
                <a:latin typeface="Calibri" pitchFamily="34" charset="0"/>
                <a:ea typeface="Calibri" pitchFamily="34" charset="-122"/>
                <a:cs typeface="Calibri" pitchFamily="34" charset="-120"/>
              </a:rPr>
              <a:t>by layer</a:t>
            </a:r>
            <a:endParaRPr lang="en-US" sz="950" dirty="0"/>
          </a:p>
        </p:txBody>
      </p:sp>
      <p:sp>
        <p:nvSpPr>
          <p:cNvPr id="18" name="Text 16"/>
          <p:cNvSpPr/>
          <p:nvPr/>
        </p:nvSpPr>
        <p:spPr>
          <a:xfrm>
            <a:off x="566928" y="2532888"/>
            <a:ext cx="2194560" cy="457200"/>
          </a:xfrm>
          <a:prstGeom prst="rect">
            <a:avLst/>
          </a:prstGeom>
          <a:noFill/>
          <a:ln/>
        </p:spPr>
        <p:txBody>
          <a:bodyPr wrap="square" lIns="0" tIns="0" rIns="0" bIns="0" rtlCol="0" anchor="ctr"/>
          <a:lstStyle/>
          <a:p>
            <a:pPr indent="0" marL="0">
              <a:buNone/>
            </a:pPr>
            <a:r>
              <a:rPr lang="en-US" sz="950" b="1" dirty="0">
                <a:solidFill>
                  <a:srgbClr val="141821"/>
                </a:solidFill>
                <a:latin typeface="Calibri" pitchFamily="34" charset="0"/>
                <a:ea typeface="Calibri" pitchFamily="34" charset="-122"/>
                <a:cs typeface="Calibri" pitchFamily="34" charset="-120"/>
              </a:rPr>
              <a:t>How the cut is chosen</a:t>
            </a:r>
            <a:endParaRPr lang="en-US" sz="950" dirty="0"/>
          </a:p>
        </p:txBody>
      </p:sp>
      <p:sp>
        <p:nvSpPr>
          <p:cNvPr id="19" name="Text 17"/>
          <p:cNvSpPr/>
          <p:nvPr/>
        </p:nvSpPr>
        <p:spPr>
          <a:xfrm>
            <a:off x="2788920" y="2532888"/>
            <a:ext cx="1508760" cy="457200"/>
          </a:xfrm>
          <a:prstGeom prst="rect">
            <a:avLst/>
          </a:prstGeom>
          <a:noFill/>
          <a:ln/>
        </p:spPr>
        <p:txBody>
          <a:bodyPr wrap="square" lIns="0" tIns="0" rIns="0" bIns="0" rtlCol="0" anchor="ctr"/>
          <a:lstStyle/>
          <a:p>
            <a:pPr indent="0" marL="0">
              <a:buNone/>
            </a:pPr>
            <a:r>
              <a:rPr lang="en-US" sz="950" dirty="0">
                <a:solidFill>
                  <a:srgbClr val="4A5264"/>
                </a:solidFill>
                <a:latin typeface="Calibri" pitchFamily="34" charset="0"/>
                <a:ea typeface="Calibri" pitchFamily="34" charset="-122"/>
                <a:cs typeface="Calibri" pitchFamily="34" charset="-120"/>
              </a:rPr>
              <a:t>exact solver</a:t>
            </a:r>
            <a:endParaRPr lang="en-US" sz="950" dirty="0"/>
          </a:p>
        </p:txBody>
      </p:sp>
      <p:sp>
        <p:nvSpPr>
          <p:cNvPr id="20" name="Text 18"/>
          <p:cNvSpPr/>
          <p:nvPr/>
        </p:nvSpPr>
        <p:spPr>
          <a:xfrm>
            <a:off x="4343400" y="2532888"/>
            <a:ext cx="1600200" cy="457200"/>
          </a:xfrm>
          <a:prstGeom prst="rect">
            <a:avLst/>
          </a:prstGeom>
          <a:noFill/>
          <a:ln/>
        </p:spPr>
        <p:txBody>
          <a:bodyPr wrap="square" lIns="0" tIns="0" rIns="0" bIns="0" rtlCol="0" anchor="ctr"/>
          <a:lstStyle/>
          <a:p>
            <a:pPr indent="0" marL="0">
              <a:buNone/>
            </a:pPr>
            <a:r>
              <a:rPr lang="en-US" sz="950" dirty="0">
                <a:solidFill>
                  <a:srgbClr val="4A5264"/>
                </a:solidFill>
                <a:latin typeface="Calibri" pitchFamily="34" charset="0"/>
                <a:ea typeface="Calibri" pitchFamily="34" charset="-122"/>
                <a:cs typeface="Calibri" pitchFamily="34" charset="-120"/>
              </a:rPr>
              <a:t>rule of thumb</a:t>
            </a:r>
            <a:endParaRPr lang="en-US" sz="950" dirty="0"/>
          </a:p>
        </p:txBody>
      </p:sp>
      <p:sp>
        <p:nvSpPr>
          <p:cNvPr id="21" name="Text 19"/>
          <p:cNvSpPr/>
          <p:nvPr/>
        </p:nvSpPr>
        <p:spPr>
          <a:xfrm>
            <a:off x="5989320" y="2532888"/>
            <a:ext cx="1645920" cy="457200"/>
          </a:xfrm>
          <a:prstGeom prst="rect">
            <a:avLst/>
          </a:prstGeom>
          <a:noFill/>
          <a:ln/>
        </p:spPr>
        <p:txBody>
          <a:bodyPr wrap="square" lIns="0" tIns="0" rIns="0" bIns="0" rtlCol="0" anchor="ctr"/>
          <a:lstStyle/>
          <a:p>
            <a:pPr indent="0" marL="0">
              <a:buNone/>
            </a:pPr>
            <a:r>
              <a:rPr lang="en-US" sz="950" dirty="0">
                <a:solidFill>
                  <a:srgbClr val="4A5264"/>
                </a:solidFill>
                <a:latin typeface="Calibri" pitchFamily="34" charset="0"/>
                <a:ea typeface="Calibri" pitchFamily="34" charset="-122"/>
                <a:cs typeface="Calibri" pitchFamily="34" charset="-120"/>
              </a:rPr>
              <a:t>heavy solver</a:t>
            </a:r>
            <a:endParaRPr lang="en-US" sz="950" dirty="0"/>
          </a:p>
        </p:txBody>
      </p:sp>
      <p:sp>
        <p:nvSpPr>
          <p:cNvPr id="22" name="Text 20"/>
          <p:cNvSpPr/>
          <p:nvPr/>
        </p:nvSpPr>
        <p:spPr>
          <a:xfrm>
            <a:off x="7680960" y="2532888"/>
            <a:ext cx="1554480" cy="457200"/>
          </a:xfrm>
          <a:prstGeom prst="rect">
            <a:avLst/>
          </a:prstGeom>
          <a:noFill/>
          <a:ln/>
        </p:spPr>
        <p:txBody>
          <a:bodyPr wrap="square" lIns="0" tIns="0" rIns="0" bIns="0" rtlCol="0" anchor="ctr"/>
          <a:lstStyle/>
          <a:p>
            <a:pPr indent="0" marL="0">
              <a:buNone/>
            </a:pPr>
            <a:r>
              <a:rPr lang="en-US" sz="950" dirty="0">
                <a:solidFill>
                  <a:srgbClr val="4A5264"/>
                </a:solidFill>
                <a:latin typeface="Calibri" pitchFamily="34" charset="0"/>
                <a:ea typeface="Calibri" pitchFamily="34" charset="-122"/>
                <a:cs typeface="Calibri" pitchFamily="34" charset="-120"/>
              </a:rPr>
              <a:t>custom scheduler</a:t>
            </a:r>
            <a:endParaRPr lang="en-US" sz="950" dirty="0"/>
          </a:p>
        </p:txBody>
      </p:sp>
      <p:sp>
        <p:nvSpPr>
          <p:cNvPr id="23" name="Text 21"/>
          <p:cNvSpPr/>
          <p:nvPr/>
        </p:nvSpPr>
        <p:spPr>
          <a:xfrm>
            <a:off x="9281160" y="2532888"/>
            <a:ext cx="2340864" cy="457200"/>
          </a:xfrm>
          <a:prstGeom prst="rect">
            <a:avLst/>
          </a:prstGeom>
          <a:noFill/>
          <a:ln/>
        </p:spPr>
        <p:txBody>
          <a:bodyPr wrap="square" lIns="0" tIns="0" rIns="0" bIns="0" rtlCol="0" anchor="ctr"/>
          <a:lstStyle/>
          <a:p>
            <a:pPr indent="0" marL="0">
              <a:buNone/>
            </a:pPr>
            <a:r>
              <a:rPr lang="en-US" sz="950" b="1" dirty="0">
                <a:solidFill>
                  <a:srgbClr val="1F8A80"/>
                </a:solidFill>
                <a:latin typeface="Calibri" pitchFamily="34" charset="0"/>
                <a:ea typeface="Calibri" pitchFamily="34" charset="-122"/>
                <a:cs typeface="Calibri" pitchFamily="34" charset="-120"/>
              </a:rPr>
              <a:t>exact solver</a:t>
            </a:r>
            <a:endParaRPr lang="en-US" sz="950" dirty="0"/>
          </a:p>
        </p:txBody>
      </p:sp>
      <p:sp>
        <p:nvSpPr>
          <p:cNvPr id="24" name="Shape 22"/>
          <p:cNvSpPr/>
          <p:nvPr/>
        </p:nvSpPr>
        <p:spPr>
          <a:xfrm>
            <a:off x="566928" y="3017520"/>
            <a:ext cx="11055096" cy="457200"/>
          </a:xfrm>
          <a:prstGeom prst="rect">
            <a:avLst/>
          </a:prstGeom>
          <a:solidFill>
            <a:srgbClr val="F7F8FA"/>
          </a:solidFill>
          <a:ln w="12700">
            <a:solidFill>
              <a:srgbClr val="333333"/>
            </a:solidFill>
            <a:prstDash val="solid"/>
          </a:ln>
        </p:spPr>
      </p:sp>
      <p:sp>
        <p:nvSpPr>
          <p:cNvPr id="25" name="Text 23"/>
          <p:cNvSpPr/>
          <p:nvPr/>
        </p:nvSpPr>
        <p:spPr>
          <a:xfrm>
            <a:off x="566928" y="3017520"/>
            <a:ext cx="2194560" cy="457200"/>
          </a:xfrm>
          <a:prstGeom prst="rect">
            <a:avLst/>
          </a:prstGeom>
          <a:noFill/>
          <a:ln/>
        </p:spPr>
        <p:txBody>
          <a:bodyPr wrap="square" lIns="0" tIns="0" rIns="0" bIns="0" rtlCol="0" anchor="ctr"/>
          <a:lstStyle/>
          <a:p>
            <a:pPr indent="0" marL="0">
              <a:buNone/>
            </a:pPr>
            <a:r>
              <a:rPr lang="en-US" sz="950" b="1" dirty="0">
                <a:solidFill>
                  <a:srgbClr val="141821"/>
                </a:solidFill>
                <a:latin typeface="Calibri" pitchFamily="34" charset="0"/>
                <a:ea typeface="Calibri" pitchFamily="34" charset="-122"/>
                <a:cs typeface="Calibri" pitchFamily="34" charset="-120"/>
              </a:rPr>
              <a:t>Where its numbers come from</a:t>
            </a:r>
            <a:endParaRPr lang="en-US" sz="950" dirty="0"/>
          </a:p>
        </p:txBody>
      </p:sp>
      <p:sp>
        <p:nvSpPr>
          <p:cNvPr id="26" name="Text 24"/>
          <p:cNvSpPr/>
          <p:nvPr/>
        </p:nvSpPr>
        <p:spPr>
          <a:xfrm>
            <a:off x="2788920" y="3017520"/>
            <a:ext cx="1508760" cy="457200"/>
          </a:xfrm>
          <a:prstGeom prst="rect">
            <a:avLst/>
          </a:prstGeom>
          <a:noFill/>
          <a:ln/>
        </p:spPr>
        <p:txBody>
          <a:bodyPr wrap="square" lIns="0" tIns="0" rIns="0" bIns="0" rtlCol="0" anchor="ctr"/>
          <a:lstStyle/>
          <a:p>
            <a:pPr indent="0" marL="0">
              <a:buNone/>
            </a:pPr>
            <a:r>
              <a:rPr lang="en-US" sz="950" dirty="0">
                <a:solidFill>
                  <a:srgbClr val="4A5264"/>
                </a:solidFill>
                <a:latin typeface="Calibri" pitchFamily="34" charset="0"/>
                <a:ea typeface="Calibri" pitchFamily="34" charset="-122"/>
                <a:cs typeface="Calibri" pitchFamily="34" charset="-120"/>
              </a:rPr>
              <a:t>measured before</a:t>
            </a:r>
            <a:endParaRPr lang="en-US" sz="950" dirty="0"/>
          </a:p>
        </p:txBody>
      </p:sp>
      <p:sp>
        <p:nvSpPr>
          <p:cNvPr id="27" name="Text 25"/>
          <p:cNvSpPr/>
          <p:nvPr/>
        </p:nvSpPr>
        <p:spPr>
          <a:xfrm>
            <a:off x="4343400" y="3017520"/>
            <a:ext cx="1600200" cy="457200"/>
          </a:xfrm>
          <a:prstGeom prst="rect">
            <a:avLst/>
          </a:prstGeom>
          <a:noFill/>
          <a:ln/>
        </p:spPr>
        <p:txBody>
          <a:bodyPr wrap="square" lIns="0" tIns="0" rIns="0" bIns="0" rtlCol="0" anchor="ctr"/>
          <a:lstStyle/>
          <a:p>
            <a:pPr indent="0" marL="0">
              <a:buNone/>
            </a:pPr>
            <a:r>
              <a:rPr lang="en-US" sz="950" dirty="0">
                <a:solidFill>
                  <a:srgbClr val="4A5264"/>
                </a:solidFill>
                <a:latin typeface="Calibri" pitchFamily="34" charset="0"/>
                <a:ea typeface="Calibri" pitchFamily="34" charset="-122"/>
                <a:cs typeface="Calibri" pitchFamily="34" charset="-120"/>
              </a:rPr>
              <a:t>measured before</a:t>
            </a:r>
            <a:endParaRPr lang="en-US" sz="950" dirty="0"/>
          </a:p>
        </p:txBody>
      </p:sp>
      <p:sp>
        <p:nvSpPr>
          <p:cNvPr id="28" name="Text 26"/>
          <p:cNvSpPr/>
          <p:nvPr/>
        </p:nvSpPr>
        <p:spPr>
          <a:xfrm>
            <a:off x="5989320" y="3017520"/>
            <a:ext cx="1645920" cy="457200"/>
          </a:xfrm>
          <a:prstGeom prst="rect">
            <a:avLst/>
          </a:prstGeom>
          <a:noFill/>
          <a:ln/>
        </p:spPr>
        <p:txBody>
          <a:bodyPr wrap="square" lIns="0" tIns="0" rIns="0" bIns="0" rtlCol="0" anchor="ctr"/>
          <a:lstStyle/>
          <a:p>
            <a:pPr indent="0" marL="0">
              <a:buNone/>
            </a:pPr>
            <a:r>
              <a:rPr lang="en-US" sz="950" dirty="0">
                <a:solidFill>
                  <a:srgbClr val="4A5264"/>
                </a:solidFill>
                <a:latin typeface="Calibri" pitchFamily="34" charset="0"/>
                <a:ea typeface="Calibri" pitchFamily="34" charset="-122"/>
                <a:cs typeface="Calibri" pitchFamily="34" charset="-120"/>
              </a:rPr>
              <a:t>measured before</a:t>
            </a:r>
            <a:endParaRPr lang="en-US" sz="950" dirty="0"/>
          </a:p>
        </p:txBody>
      </p:sp>
      <p:sp>
        <p:nvSpPr>
          <p:cNvPr id="29" name="Text 27"/>
          <p:cNvSpPr/>
          <p:nvPr/>
        </p:nvSpPr>
        <p:spPr>
          <a:xfrm>
            <a:off x="7680960" y="3017520"/>
            <a:ext cx="1554480" cy="457200"/>
          </a:xfrm>
          <a:prstGeom prst="rect">
            <a:avLst/>
          </a:prstGeom>
          <a:noFill/>
          <a:ln/>
        </p:spPr>
        <p:txBody>
          <a:bodyPr wrap="square" lIns="0" tIns="0" rIns="0" bIns="0" rtlCol="0" anchor="ctr"/>
          <a:lstStyle/>
          <a:p>
            <a:pPr indent="0" marL="0">
              <a:buNone/>
            </a:pPr>
            <a:r>
              <a:rPr lang="en-US" sz="950" dirty="0">
                <a:solidFill>
                  <a:srgbClr val="4A5264"/>
                </a:solidFill>
                <a:latin typeface="Calibri" pitchFamily="34" charset="0"/>
                <a:ea typeface="Calibri" pitchFamily="34" charset="-122"/>
                <a:cs typeface="Calibri" pitchFamily="34" charset="-120"/>
              </a:rPr>
              <a:t>device specs</a:t>
            </a:r>
            <a:endParaRPr lang="en-US" sz="950" dirty="0"/>
          </a:p>
        </p:txBody>
      </p:sp>
      <p:sp>
        <p:nvSpPr>
          <p:cNvPr id="30" name="Text 28"/>
          <p:cNvSpPr/>
          <p:nvPr/>
        </p:nvSpPr>
        <p:spPr>
          <a:xfrm>
            <a:off x="9281160" y="3017520"/>
            <a:ext cx="2340864" cy="457200"/>
          </a:xfrm>
          <a:prstGeom prst="rect">
            <a:avLst/>
          </a:prstGeom>
          <a:noFill/>
          <a:ln/>
        </p:spPr>
        <p:txBody>
          <a:bodyPr wrap="square" lIns="0" tIns="0" rIns="0" bIns="0" rtlCol="0" anchor="ctr"/>
          <a:lstStyle/>
          <a:p>
            <a:pPr indent="0" marL="0">
              <a:buNone/>
            </a:pPr>
            <a:r>
              <a:rPr lang="en-US" sz="950" b="1" dirty="0">
                <a:solidFill>
                  <a:srgbClr val="1F8A80"/>
                </a:solidFill>
                <a:latin typeface="Calibri" pitchFamily="34" charset="0"/>
                <a:ea typeface="Calibri" pitchFamily="34" charset="-122"/>
                <a:cs typeface="Calibri" pitchFamily="34" charset="-120"/>
              </a:rPr>
              <a:t>kernel + GPU, live</a:t>
            </a:r>
            <a:endParaRPr lang="en-US" sz="950" dirty="0"/>
          </a:p>
        </p:txBody>
      </p:sp>
      <p:sp>
        <p:nvSpPr>
          <p:cNvPr id="31" name="Text 29"/>
          <p:cNvSpPr/>
          <p:nvPr/>
        </p:nvSpPr>
        <p:spPr>
          <a:xfrm>
            <a:off x="566928" y="3502152"/>
            <a:ext cx="2194560" cy="457200"/>
          </a:xfrm>
          <a:prstGeom prst="rect">
            <a:avLst/>
          </a:prstGeom>
          <a:noFill/>
          <a:ln/>
        </p:spPr>
        <p:txBody>
          <a:bodyPr wrap="square" lIns="0" tIns="0" rIns="0" bIns="0" rtlCol="0" anchor="ctr"/>
          <a:lstStyle/>
          <a:p>
            <a:pPr indent="0" marL="0">
              <a:buNone/>
            </a:pPr>
            <a:r>
              <a:rPr lang="en-US" sz="950" b="1" dirty="0">
                <a:solidFill>
                  <a:srgbClr val="141821"/>
                </a:solidFill>
                <a:latin typeface="Calibri" pitchFamily="34" charset="0"/>
                <a:ea typeface="Calibri" pitchFamily="34" charset="-122"/>
                <a:cs typeface="Calibri" pitchFamily="34" charset="-120"/>
              </a:rPr>
              <a:t>Re-cuts while running</a:t>
            </a:r>
            <a:endParaRPr lang="en-US" sz="950" dirty="0"/>
          </a:p>
        </p:txBody>
      </p:sp>
      <p:sp>
        <p:nvSpPr>
          <p:cNvPr id="32" name="Text 30"/>
          <p:cNvSpPr/>
          <p:nvPr/>
        </p:nvSpPr>
        <p:spPr>
          <a:xfrm>
            <a:off x="2788920" y="3502152"/>
            <a:ext cx="1508760" cy="457200"/>
          </a:xfrm>
          <a:prstGeom prst="rect">
            <a:avLst/>
          </a:prstGeom>
          <a:noFill/>
          <a:ln/>
        </p:spPr>
        <p:txBody>
          <a:bodyPr wrap="square" lIns="0" tIns="0" rIns="0" bIns="0" rtlCol="0" anchor="ctr"/>
          <a:lstStyle/>
          <a:p>
            <a:pPr indent="0" marL="0">
              <a:buNone/>
            </a:pPr>
            <a:r>
              <a:rPr lang="en-US" sz="950" dirty="0">
                <a:solidFill>
                  <a:srgbClr val="4A5264"/>
                </a:solidFill>
                <a:latin typeface="Calibri" pitchFamily="34" charset="0"/>
                <a:ea typeface="Calibri" pitchFamily="34" charset="-122"/>
                <a:cs typeface="Calibri" pitchFamily="34" charset="-120"/>
              </a:rPr>
              <a:t>no</a:t>
            </a:r>
            <a:endParaRPr lang="en-US" sz="950" dirty="0"/>
          </a:p>
        </p:txBody>
      </p:sp>
      <p:sp>
        <p:nvSpPr>
          <p:cNvPr id="33" name="Text 31"/>
          <p:cNvSpPr/>
          <p:nvPr/>
        </p:nvSpPr>
        <p:spPr>
          <a:xfrm>
            <a:off x="4343400" y="3502152"/>
            <a:ext cx="1600200" cy="457200"/>
          </a:xfrm>
          <a:prstGeom prst="rect">
            <a:avLst/>
          </a:prstGeom>
          <a:noFill/>
          <a:ln/>
        </p:spPr>
        <p:txBody>
          <a:bodyPr wrap="square" lIns="0" tIns="0" rIns="0" bIns="0" rtlCol="0" anchor="ctr"/>
          <a:lstStyle/>
          <a:p>
            <a:pPr indent="0" marL="0">
              <a:buNone/>
            </a:pPr>
            <a:r>
              <a:rPr lang="en-US" sz="950" dirty="0">
                <a:solidFill>
                  <a:srgbClr val="4A5264"/>
                </a:solidFill>
                <a:latin typeface="Calibri" pitchFamily="34" charset="0"/>
                <a:ea typeface="Calibri" pitchFamily="34" charset="-122"/>
                <a:cs typeface="Calibri" pitchFamily="34" charset="-120"/>
              </a:rPr>
              <a:t>no</a:t>
            </a:r>
            <a:endParaRPr lang="en-US" sz="950" dirty="0"/>
          </a:p>
        </p:txBody>
      </p:sp>
      <p:sp>
        <p:nvSpPr>
          <p:cNvPr id="34" name="Text 32"/>
          <p:cNvSpPr/>
          <p:nvPr/>
        </p:nvSpPr>
        <p:spPr>
          <a:xfrm>
            <a:off x="5989320" y="3502152"/>
            <a:ext cx="1645920" cy="457200"/>
          </a:xfrm>
          <a:prstGeom prst="rect">
            <a:avLst/>
          </a:prstGeom>
          <a:noFill/>
          <a:ln/>
        </p:spPr>
        <p:txBody>
          <a:bodyPr wrap="square" lIns="0" tIns="0" rIns="0" bIns="0" rtlCol="0" anchor="ctr"/>
          <a:lstStyle/>
          <a:p>
            <a:pPr indent="0" marL="0">
              <a:buNone/>
            </a:pPr>
            <a:r>
              <a:rPr lang="en-US" sz="950" dirty="0">
                <a:solidFill>
                  <a:srgbClr val="4A5264"/>
                </a:solidFill>
                <a:latin typeface="Calibri" pitchFamily="34" charset="0"/>
                <a:ea typeface="Calibri" pitchFamily="34" charset="-122"/>
                <a:cs typeface="Calibri" pitchFamily="34" charset="-120"/>
              </a:rPr>
              <a:t>only routing</a:t>
            </a:r>
            <a:endParaRPr lang="en-US" sz="950" dirty="0"/>
          </a:p>
        </p:txBody>
      </p:sp>
      <p:sp>
        <p:nvSpPr>
          <p:cNvPr id="35" name="Text 33"/>
          <p:cNvSpPr/>
          <p:nvPr/>
        </p:nvSpPr>
        <p:spPr>
          <a:xfrm>
            <a:off x="7680960" y="3502152"/>
            <a:ext cx="1554480" cy="457200"/>
          </a:xfrm>
          <a:prstGeom prst="rect">
            <a:avLst/>
          </a:prstGeom>
          <a:noFill/>
          <a:ln/>
        </p:spPr>
        <p:txBody>
          <a:bodyPr wrap="square" lIns="0" tIns="0" rIns="0" bIns="0" rtlCol="0" anchor="ctr"/>
          <a:lstStyle/>
          <a:p>
            <a:pPr indent="0" marL="0">
              <a:buNone/>
            </a:pPr>
            <a:r>
              <a:rPr lang="en-US" sz="950" dirty="0">
                <a:solidFill>
                  <a:srgbClr val="4A5264"/>
                </a:solidFill>
                <a:latin typeface="Calibri" pitchFamily="34" charset="0"/>
                <a:ea typeface="Calibri" pitchFamily="34" charset="-122"/>
                <a:cs typeface="Calibri" pitchFamily="34" charset="-120"/>
              </a:rPr>
              <a:t>no</a:t>
            </a:r>
            <a:endParaRPr lang="en-US" sz="950" dirty="0"/>
          </a:p>
        </p:txBody>
      </p:sp>
      <p:sp>
        <p:nvSpPr>
          <p:cNvPr id="36" name="Text 34"/>
          <p:cNvSpPr/>
          <p:nvPr/>
        </p:nvSpPr>
        <p:spPr>
          <a:xfrm>
            <a:off x="9281160" y="3502152"/>
            <a:ext cx="2340864" cy="457200"/>
          </a:xfrm>
          <a:prstGeom prst="rect">
            <a:avLst/>
          </a:prstGeom>
          <a:noFill/>
          <a:ln/>
        </p:spPr>
        <p:txBody>
          <a:bodyPr wrap="square" lIns="0" tIns="0" rIns="0" bIns="0" rtlCol="0" anchor="ctr"/>
          <a:lstStyle/>
          <a:p>
            <a:pPr indent="0" marL="0">
              <a:buNone/>
            </a:pPr>
            <a:r>
              <a:rPr lang="en-US" sz="950" b="1" dirty="0">
                <a:solidFill>
                  <a:srgbClr val="1F8A80"/>
                </a:solidFill>
                <a:latin typeface="Calibri" pitchFamily="34" charset="0"/>
                <a:ea typeface="Calibri" pitchFamily="34" charset="-122"/>
                <a:cs typeface="Calibri" pitchFamily="34" charset="-120"/>
              </a:rPr>
              <a:t>every 2 seconds</a:t>
            </a:r>
            <a:endParaRPr lang="en-US" sz="950" dirty="0"/>
          </a:p>
        </p:txBody>
      </p:sp>
      <p:sp>
        <p:nvSpPr>
          <p:cNvPr id="37" name="Shape 35"/>
          <p:cNvSpPr/>
          <p:nvPr/>
        </p:nvSpPr>
        <p:spPr>
          <a:xfrm>
            <a:off x="566928" y="3986784"/>
            <a:ext cx="11055096" cy="457200"/>
          </a:xfrm>
          <a:prstGeom prst="rect">
            <a:avLst/>
          </a:prstGeom>
          <a:solidFill>
            <a:srgbClr val="F7F8FA"/>
          </a:solidFill>
          <a:ln w="12700">
            <a:solidFill>
              <a:srgbClr val="333333"/>
            </a:solidFill>
            <a:prstDash val="solid"/>
          </a:ln>
        </p:spPr>
      </p:sp>
      <p:sp>
        <p:nvSpPr>
          <p:cNvPr id="38" name="Text 36"/>
          <p:cNvSpPr/>
          <p:nvPr/>
        </p:nvSpPr>
        <p:spPr>
          <a:xfrm>
            <a:off x="566928" y="3986784"/>
            <a:ext cx="2194560" cy="457200"/>
          </a:xfrm>
          <a:prstGeom prst="rect">
            <a:avLst/>
          </a:prstGeom>
          <a:noFill/>
          <a:ln/>
        </p:spPr>
        <p:txBody>
          <a:bodyPr wrap="square" lIns="0" tIns="0" rIns="0" bIns="0" rtlCol="0" anchor="ctr"/>
          <a:lstStyle/>
          <a:p>
            <a:pPr indent="0" marL="0">
              <a:buNone/>
            </a:pPr>
            <a:r>
              <a:rPr lang="en-US" sz="950" b="1" dirty="0">
                <a:solidFill>
                  <a:srgbClr val="141821"/>
                </a:solidFill>
                <a:latin typeface="Calibri" pitchFamily="34" charset="0"/>
                <a:ea typeface="Calibri" pitchFamily="34" charset="-122"/>
                <a:cs typeface="Calibri" pitchFamily="34" charset="-120"/>
              </a:rPr>
              <a:t>Reacts to machines getting hot</a:t>
            </a:r>
            <a:endParaRPr lang="en-US" sz="950" dirty="0"/>
          </a:p>
        </p:txBody>
      </p:sp>
      <p:sp>
        <p:nvSpPr>
          <p:cNvPr id="39" name="Text 37"/>
          <p:cNvSpPr/>
          <p:nvPr/>
        </p:nvSpPr>
        <p:spPr>
          <a:xfrm>
            <a:off x="2788920" y="3986784"/>
            <a:ext cx="1508760" cy="457200"/>
          </a:xfrm>
          <a:prstGeom prst="rect">
            <a:avLst/>
          </a:prstGeom>
          <a:noFill/>
          <a:ln/>
        </p:spPr>
        <p:txBody>
          <a:bodyPr wrap="square" lIns="0" tIns="0" rIns="0" bIns="0" rtlCol="0" anchor="ctr"/>
          <a:lstStyle/>
          <a:p>
            <a:pPr indent="0" marL="0">
              <a:buNone/>
            </a:pPr>
            <a:r>
              <a:rPr lang="en-US" sz="950" dirty="0">
                <a:solidFill>
                  <a:srgbClr val="4A5264"/>
                </a:solidFill>
                <a:latin typeface="Calibri" pitchFamily="34" charset="0"/>
                <a:ea typeface="Calibri" pitchFamily="34" charset="-122"/>
                <a:cs typeface="Calibri" pitchFamily="34" charset="-120"/>
              </a:rPr>
              <a:t>no</a:t>
            </a:r>
            <a:endParaRPr lang="en-US" sz="950" dirty="0"/>
          </a:p>
        </p:txBody>
      </p:sp>
      <p:sp>
        <p:nvSpPr>
          <p:cNvPr id="40" name="Text 38"/>
          <p:cNvSpPr/>
          <p:nvPr/>
        </p:nvSpPr>
        <p:spPr>
          <a:xfrm>
            <a:off x="4343400" y="3986784"/>
            <a:ext cx="1600200" cy="457200"/>
          </a:xfrm>
          <a:prstGeom prst="rect">
            <a:avLst/>
          </a:prstGeom>
          <a:noFill/>
          <a:ln/>
        </p:spPr>
        <p:txBody>
          <a:bodyPr wrap="square" lIns="0" tIns="0" rIns="0" bIns="0" rtlCol="0" anchor="ctr"/>
          <a:lstStyle/>
          <a:p>
            <a:pPr indent="0" marL="0">
              <a:buNone/>
            </a:pPr>
            <a:r>
              <a:rPr lang="en-US" sz="950" dirty="0">
                <a:solidFill>
                  <a:srgbClr val="4A5264"/>
                </a:solidFill>
                <a:latin typeface="Calibri" pitchFamily="34" charset="0"/>
                <a:ea typeface="Calibri" pitchFamily="34" charset="-122"/>
                <a:cs typeface="Calibri" pitchFamily="34" charset="-120"/>
              </a:rPr>
              <a:t>no</a:t>
            </a:r>
            <a:endParaRPr lang="en-US" sz="950" dirty="0"/>
          </a:p>
        </p:txBody>
      </p:sp>
      <p:sp>
        <p:nvSpPr>
          <p:cNvPr id="41" name="Text 39"/>
          <p:cNvSpPr/>
          <p:nvPr/>
        </p:nvSpPr>
        <p:spPr>
          <a:xfrm>
            <a:off x="5989320" y="3986784"/>
            <a:ext cx="1645920" cy="457200"/>
          </a:xfrm>
          <a:prstGeom prst="rect">
            <a:avLst/>
          </a:prstGeom>
          <a:noFill/>
          <a:ln/>
        </p:spPr>
        <p:txBody>
          <a:bodyPr wrap="square" lIns="0" tIns="0" rIns="0" bIns="0" rtlCol="0" anchor="ctr"/>
          <a:lstStyle/>
          <a:p>
            <a:pPr indent="0" marL="0">
              <a:buNone/>
            </a:pPr>
            <a:r>
              <a:rPr lang="en-US" sz="950" dirty="0">
                <a:solidFill>
                  <a:srgbClr val="4A5264"/>
                </a:solidFill>
                <a:latin typeface="Calibri" pitchFamily="34" charset="0"/>
                <a:ea typeface="Calibri" pitchFamily="34" charset="-122"/>
                <a:cs typeface="Calibri" pitchFamily="34" charset="-120"/>
              </a:rPr>
              <a:t>no</a:t>
            </a:r>
            <a:endParaRPr lang="en-US" sz="950" dirty="0"/>
          </a:p>
        </p:txBody>
      </p:sp>
      <p:sp>
        <p:nvSpPr>
          <p:cNvPr id="42" name="Text 40"/>
          <p:cNvSpPr/>
          <p:nvPr/>
        </p:nvSpPr>
        <p:spPr>
          <a:xfrm>
            <a:off x="7680960" y="3986784"/>
            <a:ext cx="1554480" cy="457200"/>
          </a:xfrm>
          <a:prstGeom prst="rect">
            <a:avLst/>
          </a:prstGeom>
          <a:noFill/>
          <a:ln/>
        </p:spPr>
        <p:txBody>
          <a:bodyPr wrap="square" lIns="0" tIns="0" rIns="0" bIns="0" rtlCol="0" anchor="ctr"/>
          <a:lstStyle/>
          <a:p>
            <a:pPr indent="0" marL="0">
              <a:buNone/>
            </a:pPr>
            <a:r>
              <a:rPr lang="en-US" sz="950" dirty="0">
                <a:solidFill>
                  <a:srgbClr val="4A5264"/>
                </a:solidFill>
                <a:latin typeface="Calibri" pitchFamily="34" charset="0"/>
                <a:ea typeface="Calibri" pitchFamily="34" charset="-122"/>
                <a:cs typeface="Calibri" pitchFamily="34" charset="-120"/>
              </a:rPr>
              <a:t>no</a:t>
            </a:r>
            <a:endParaRPr lang="en-US" sz="950" dirty="0"/>
          </a:p>
        </p:txBody>
      </p:sp>
      <p:sp>
        <p:nvSpPr>
          <p:cNvPr id="43" name="Text 41"/>
          <p:cNvSpPr/>
          <p:nvPr/>
        </p:nvSpPr>
        <p:spPr>
          <a:xfrm>
            <a:off x="9281160" y="3986784"/>
            <a:ext cx="2340864" cy="457200"/>
          </a:xfrm>
          <a:prstGeom prst="rect">
            <a:avLst/>
          </a:prstGeom>
          <a:noFill/>
          <a:ln/>
        </p:spPr>
        <p:txBody>
          <a:bodyPr wrap="square" lIns="0" tIns="0" rIns="0" bIns="0" rtlCol="0" anchor="ctr"/>
          <a:lstStyle/>
          <a:p>
            <a:pPr indent="0" marL="0">
              <a:buNone/>
            </a:pPr>
            <a:r>
              <a:rPr lang="en-US" sz="950" b="1" dirty="0">
                <a:solidFill>
                  <a:srgbClr val="1F8A80"/>
                </a:solidFill>
                <a:latin typeface="Calibri" pitchFamily="34" charset="0"/>
                <a:ea typeface="Calibri" pitchFamily="34" charset="-122"/>
                <a:cs typeface="Calibri" pitchFamily="34" charset="-120"/>
              </a:rPr>
              <a:t>yes</a:t>
            </a:r>
            <a:endParaRPr lang="en-US" sz="950" dirty="0"/>
          </a:p>
        </p:txBody>
      </p:sp>
      <p:sp>
        <p:nvSpPr>
          <p:cNvPr id="44" name="Text 42"/>
          <p:cNvSpPr/>
          <p:nvPr/>
        </p:nvSpPr>
        <p:spPr>
          <a:xfrm>
            <a:off x="566928" y="4471416"/>
            <a:ext cx="2194560" cy="457200"/>
          </a:xfrm>
          <a:prstGeom prst="rect">
            <a:avLst/>
          </a:prstGeom>
          <a:noFill/>
          <a:ln/>
        </p:spPr>
        <p:txBody>
          <a:bodyPr wrap="square" lIns="0" tIns="0" rIns="0" bIns="0" rtlCol="0" anchor="ctr"/>
          <a:lstStyle/>
          <a:p>
            <a:pPr indent="0" marL="0">
              <a:buNone/>
            </a:pPr>
            <a:r>
              <a:rPr lang="en-US" sz="950" b="1" dirty="0">
                <a:solidFill>
                  <a:srgbClr val="141821"/>
                </a:solidFill>
                <a:latin typeface="Calibri" pitchFamily="34" charset="0"/>
                <a:ea typeface="Calibri" pitchFamily="34" charset="-122"/>
                <a:cs typeface="Calibri" pitchFamily="34" charset="-120"/>
              </a:rPr>
              <a:t>Survives a machine dying</a:t>
            </a:r>
            <a:endParaRPr lang="en-US" sz="950" dirty="0"/>
          </a:p>
        </p:txBody>
      </p:sp>
      <p:sp>
        <p:nvSpPr>
          <p:cNvPr id="45" name="Text 43"/>
          <p:cNvSpPr/>
          <p:nvPr/>
        </p:nvSpPr>
        <p:spPr>
          <a:xfrm>
            <a:off x="2788920" y="4471416"/>
            <a:ext cx="1508760" cy="457200"/>
          </a:xfrm>
          <a:prstGeom prst="rect">
            <a:avLst/>
          </a:prstGeom>
          <a:noFill/>
          <a:ln/>
        </p:spPr>
        <p:txBody>
          <a:bodyPr wrap="square" lIns="0" tIns="0" rIns="0" bIns="0" rtlCol="0" anchor="ctr"/>
          <a:lstStyle/>
          <a:p>
            <a:pPr indent="0" marL="0">
              <a:buNone/>
            </a:pPr>
            <a:r>
              <a:rPr lang="en-US" sz="950" dirty="0">
                <a:solidFill>
                  <a:srgbClr val="4A5264"/>
                </a:solidFill>
                <a:latin typeface="Calibri" pitchFamily="34" charset="0"/>
                <a:ea typeface="Calibri" pitchFamily="34" charset="-122"/>
                <a:cs typeface="Calibri" pitchFamily="34" charset="-120"/>
              </a:rPr>
              <a:t>no</a:t>
            </a:r>
            <a:endParaRPr lang="en-US" sz="950" dirty="0"/>
          </a:p>
        </p:txBody>
      </p:sp>
      <p:sp>
        <p:nvSpPr>
          <p:cNvPr id="46" name="Text 44"/>
          <p:cNvSpPr/>
          <p:nvPr/>
        </p:nvSpPr>
        <p:spPr>
          <a:xfrm>
            <a:off x="4343400" y="4471416"/>
            <a:ext cx="1600200" cy="457200"/>
          </a:xfrm>
          <a:prstGeom prst="rect">
            <a:avLst/>
          </a:prstGeom>
          <a:noFill/>
          <a:ln/>
        </p:spPr>
        <p:txBody>
          <a:bodyPr wrap="square" lIns="0" tIns="0" rIns="0" bIns="0" rtlCol="0" anchor="ctr"/>
          <a:lstStyle/>
          <a:p>
            <a:pPr indent="0" marL="0">
              <a:buNone/>
            </a:pPr>
            <a:r>
              <a:rPr lang="en-US" sz="950" dirty="0">
                <a:solidFill>
                  <a:srgbClr val="4A5264"/>
                </a:solidFill>
                <a:latin typeface="Calibri" pitchFamily="34" charset="0"/>
                <a:ea typeface="Calibri" pitchFamily="34" charset="-122"/>
                <a:cs typeface="Calibri" pitchFamily="34" charset="-120"/>
              </a:rPr>
              <a:t>no</a:t>
            </a:r>
            <a:endParaRPr lang="en-US" sz="950" dirty="0"/>
          </a:p>
        </p:txBody>
      </p:sp>
      <p:sp>
        <p:nvSpPr>
          <p:cNvPr id="47" name="Text 45"/>
          <p:cNvSpPr/>
          <p:nvPr/>
        </p:nvSpPr>
        <p:spPr>
          <a:xfrm>
            <a:off x="5989320" y="4471416"/>
            <a:ext cx="1645920" cy="457200"/>
          </a:xfrm>
          <a:prstGeom prst="rect">
            <a:avLst/>
          </a:prstGeom>
          <a:noFill/>
          <a:ln/>
        </p:spPr>
        <p:txBody>
          <a:bodyPr wrap="square" lIns="0" tIns="0" rIns="0" bIns="0" rtlCol="0" anchor="ctr"/>
          <a:lstStyle/>
          <a:p>
            <a:pPr indent="0" marL="0">
              <a:buNone/>
            </a:pPr>
            <a:r>
              <a:rPr lang="en-US" sz="950" dirty="0">
                <a:solidFill>
                  <a:srgbClr val="4A5264"/>
                </a:solidFill>
                <a:latin typeface="Calibri" pitchFamily="34" charset="0"/>
                <a:ea typeface="Calibri" pitchFamily="34" charset="-122"/>
                <a:cs typeface="Calibri" pitchFamily="34" charset="-120"/>
              </a:rPr>
              <a:t>by keeping copies</a:t>
            </a:r>
            <a:endParaRPr lang="en-US" sz="950" dirty="0"/>
          </a:p>
        </p:txBody>
      </p:sp>
      <p:sp>
        <p:nvSpPr>
          <p:cNvPr id="48" name="Text 46"/>
          <p:cNvSpPr/>
          <p:nvPr/>
        </p:nvSpPr>
        <p:spPr>
          <a:xfrm>
            <a:off x="7680960" y="4471416"/>
            <a:ext cx="1554480" cy="457200"/>
          </a:xfrm>
          <a:prstGeom prst="rect">
            <a:avLst/>
          </a:prstGeom>
          <a:noFill/>
          <a:ln/>
        </p:spPr>
        <p:txBody>
          <a:bodyPr wrap="square" lIns="0" tIns="0" rIns="0" bIns="0" rtlCol="0" anchor="ctr"/>
          <a:lstStyle/>
          <a:p>
            <a:pPr indent="0" marL="0">
              <a:buNone/>
            </a:pPr>
            <a:r>
              <a:rPr lang="en-US" sz="950" dirty="0">
                <a:solidFill>
                  <a:srgbClr val="4A5264"/>
                </a:solidFill>
                <a:latin typeface="Calibri" pitchFamily="34" charset="0"/>
                <a:ea typeface="Calibri" pitchFamily="34" charset="-122"/>
                <a:cs typeface="Calibri" pitchFamily="34" charset="-120"/>
              </a:rPr>
              <a:t>no</a:t>
            </a:r>
            <a:endParaRPr lang="en-US" sz="950" dirty="0"/>
          </a:p>
        </p:txBody>
      </p:sp>
      <p:sp>
        <p:nvSpPr>
          <p:cNvPr id="49" name="Text 47"/>
          <p:cNvSpPr/>
          <p:nvPr/>
        </p:nvSpPr>
        <p:spPr>
          <a:xfrm>
            <a:off x="9281160" y="4471416"/>
            <a:ext cx="2340864" cy="457200"/>
          </a:xfrm>
          <a:prstGeom prst="rect">
            <a:avLst/>
          </a:prstGeom>
          <a:noFill/>
          <a:ln/>
        </p:spPr>
        <p:txBody>
          <a:bodyPr wrap="square" lIns="0" tIns="0" rIns="0" bIns="0" rtlCol="0" anchor="ctr"/>
          <a:lstStyle/>
          <a:p>
            <a:pPr indent="0" marL="0">
              <a:buNone/>
            </a:pPr>
            <a:r>
              <a:rPr lang="en-US" sz="950" b="1" dirty="0">
                <a:solidFill>
                  <a:srgbClr val="1F8A80"/>
                </a:solidFill>
                <a:latin typeface="Calibri" pitchFamily="34" charset="0"/>
                <a:ea typeface="Calibri" pitchFamily="34" charset="-122"/>
                <a:cs typeface="Calibri" pitchFamily="34" charset="-120"/>
              </a:rPr>
              <a:t>yes, within 3 seconds</a:t>
            </a:r>
            <a:endParaRPr lang="en-US" sz="950" dirty="0"/>
          </a:p>
        </p:txBody>
      </p:sp>
      <p:sp>
        <p:nvSpPr>
          <p:cNvPr id="50" name="Shape 48"/>
          <p:cNvSpPr/>
          <p:nvPr/>
        </p:nvSpPr>
        <p:spPr>
          <a:xfrm>
            <a:off x="566928" y="4956048"/>
            <a:ext cx="11055096" cy="457200"/>
          </a:xfrm>
          <a:prstGeom prst="rect">
            <a:avLst/>
          </a:prstGeom>
          <a:solidFill>
            <a:srgbClr val="F7F8FA"/>
          </a:solidFill>
          <a:ln w="12700">
            <a:solidFill>
              <a:srgbClr val="333333"/>
            </a:solidFill>
            <a:prstDash val="solid"/>
          </a:ln>
        </p:spPr>
      </p:sp>
      <p:sp>
        <p:nvSpPr>
          <p:cNvPr id="51" name="Text 49"/>
          <p:cNvSpPr/>
          <p:nvPr/>
        </p:nvSpPr>
        <p:spPr>
          <a:xfrm>
            <a:off x="566928" y="4956048"/>
            <a:ext cx="2194560" cy="457200"/>
          </a:xfrm>
          <a:prstGeom prst="rect">
            <a:avLst/>
          </a:prstGeom>
          <a:noFill/>
          <a:ln/>
        </p:spPr>
        <p:txBody>
          <a:bodyPr wrap="square" lIns="0" tIns="0" rIns="0" bIns="0" rtlCol="0" anchor="ctr"/>
          <a:lstStyle/>
          <a:p>
            <a:pPr indent="0" marL="0">
              <a:buNone/>
            </a:pPr>
            <a:r>
              <a:rPr lang="en-US" sz="950" b="1" dirty="0">
                <a:solidFill>
                  <a:srgbClr val="141821"/>
                </a:solidFill>
                <a:latin typeface="Calibri" pitchFamily="34" charset="0"/>
                <a:ea typeface="Calibri" pitchFamily="34" charset="-122"/>
                <a:cs typeface="Calibri" pitchFamily="34" charset="-120"/>
              </a:rPr>
              <a:t>What it runs on</a:t>
            </a:r>
            <a:endParaRPr lang="en-US" sz="950" dirty="0"/>
          </a:p>
        </p:txBody>
      </p:sp>
      <p:sp>
        <p:nvSpPr>
          <p:cNvPr id="52" name="Text 50"/>
          <p:cNvSpPr/>
          <p:nvPr/>
        </p:nvSpPr>
        <p:spPr>
          <a:xfrm>
            <a:off x="2788920" y="4956048"/>
            <a:ext cx="1508760" cy="457200"/>
          </a:xfrm>
          <a:prstGeom prst="rect">
            <a:avLst/>
          </a:prstGeom>
          <a:noFill/>
          <a:ln/>
        </p:spPr>
        <p:txBody>
          <a:bodyPr wrap="square" lIns="0" tIns="0" rIns="0" bIns="0" rtlCol="0" anchor="ctr"/>
          <a:lstStyle/>
          <a:p>
            <a:pPr indent="0" marL="0">
              <a:buNone/>
            </a:pPr>
            <a:r>
              <a:rPr lang="en-US" sz="950" dirty="0">
                <a:solidFill>
                  <a:srgbClr val="4A5264"/>
                </a:solidFill>
                <a:latin typeface="Calibri" pitchFamily="34" charset="0"/>
                <a:ea typeface="Calibri" pitchFamily="34" charset="-122"/>
                <a:cs typeface="Calibri" pitchFamily="34" charset="-120"/>
              </a:rPr>
              <a:t>15 small devices</a:t>
            </a:r>
            <a:endParaRPr lang="en-US" sz="950" dirty="0"/>
          </a:p>
        </p:txBody>
      </p:sp>
      <p:sp>
        <p:nvSpPr>
          <p:cNvPr id="53" name="Text 51"/>
          <p:cNvSpPr/>
          <p:nvPr/>
        </p:nvSpPr>
        <p:spPr>
          <a:xfrm>
            <a:off x="4343400" y="4956048"/>
            <a:ext cx="1600200" cy="457200"/>
          </a:xfrm>
          <a:prstGeom prst="rect">
            <a:avLst/>
          </a:prstGeom>
          <a:noFill/>
          <a:ln/>
        </p:spPr>
        <p:txBody>
          <a:bodyPr wrap="square" lIns="0" tIns="0" rIns="0" bIns="0" rtlCol="0" anchor="ctr"/>
          <a:lstStyle/>
          <a:p>
            <a:pPr indent="0" marL="0">
              <a:buNone/>
            </a:pPr>
            <a:r>
              <a:rPr lang="en-US" sz="950" dirty="0">
                <a:solidFill>
                  <a:srgbClr val="4A5264"/>
                </a:solidFill>
                <a:latin typeface="Calibri" pitchFamily="34" charset="0"/>
                <a:ea typeface="Calibri" pitchFamily="34" charset="-122"/>
                <a:cs typeface="Calibri" pitchFamily="34" charset="-120"/>
              </a:rPr>
              <a:t>small devices</a:t>
            </a:r>
            <a:endParaRPr lang="en-US" sz="950" dirty="0"/>
          </a:p>
        </p:txBody>
      </p:sp>
      <p:sp>
        <p:nvSpPr>
          <p:cNvPr id="54" name="Text 52"/>
          <p:cNvSpPr/>
          <p:nvPr/>
        </p:nvSpPr>
        <p:spPr>
          <a:xfrm>
            <a:off x="5989320" y="4956048"/>
            <a:ext cx="1645920" cy="457200"/>
          </a:xfrm>
          <a:prstGeom prst="rect">
            <a:avLst/>
          </a:prstGeom>
          <a:noFill/>
          <a:ln/>
        </p:spPr>
        <p:txBody>
          <a:bodyPr wrap="square" lIns="0" tIns="0" rIns="0" bIns="0" rtlCol="0" anchor="ctr"/>
          <a:lstStyle/>
          <a:p>
            <a:pPr indent="0" marL="0">
              <a:buNone/>
            </a:pPr>
            <a:r>
              <a:rPr lang="en-US" sz="950" dirty="0">
                <a:solidFill>
                  <a:srgbClr val="4A5264"/>
                </a:solidFill>
                <a:latin typeface="Calibri" pitchFamily="34" charset="0"/>
                <a:ea typeface="Calibri" pitchFamily="34" charset="-122"/>
                <a:cs typeface="Calibri" pitchFamily="34" charset="-120"/>
              </a:rPr>
              <a:t>24-42 GPU servers</a:t>
            </a:r>
            <a:endParaRPr lang="en-US" sz="950" dirty="0"/>
          </a:p>
        </p:txBody>
      </p:sp>
      <p:sp>
        <p:nvSpPr>
          <p:cNvPr id="55" name="Text 53"/>
          <p:cNvSpPr/>
          <p:nvPr/>
        </p:nvSpPr>
        <p:spPr>
          <a:xfrm>
            <a:off x="7680960" y="4956048"/>
            <a:ext cx="1554480" cy="457200"/>
          </a:xfrm>
          <a:prstGeom prst="rect">
            <a:avLst/>
          </a:prstGeom>
          <a:noFill/>
          <a:ln/>
        </p:spPr>
        <p:txBody>
          <a:bodyPr wrap="square" lIns="0" tIns="0" rIns="0" bIns="0" rtlCol="0" anchor="ctr"/>
          <a:lstStyle/>
          <a:p>
            <a:pPr indent="0" marL="0">
              <a:buNone/>
            </a:pPr>
            <a:r>
              <a:rPr lang="en-US" sz="950" dirty="0">
                <a:solidFill>
                  <a:srgbClr val="4A5264"/>
                </a:solidFill>
                <a:latin typeface="Calibri" pitchFamily="34" charset="0"/>
                <a:ea typeface="Calibri" pitchFamily="34" charset="-122"/>
                <a:cs typeface="Calibri" pitchFamily="34" charset="-120"/>
              </a:rPr>
              <a:t>home machines</a:t>
            </a:r>
            <a:endParaRPr lang="en-US" sz="950" dirty="0"/>
          </a:p>
        </p:txBody>
      </p:sp>
      <p:sp>
        <p:nvSpPr>
          <p:cNvPr id="56" name="Text 54"/>
          <p:cNvSpPr/>
          <p:nvPr/>
        </p:nvSpPr>
        <p:spPr>
          <a:xfrm>
            <a:off x="9281160" y="4956048"/>
            <a:ext cx="2340864" cy="457200"/>
          </a:xfrm>
          <a:prstGeom prst="rect">
            <a:avLst/>
          </a:prstGeom>
          <a:noFill/>
          <a:ln/>
        </p:spPr>
        <p:txBody>
          <a:bodyPr wrap="square" lIns="0" tIns="0" rIns="0" bIns="0" rtlCol="0" anchor="ctr"/>
          <a:lstStyle/>
          <a:p>
            <a:pPr indent="0" marL="0">
              <a:buNone/>
            </a:pPr>
            <a:r>
              <a:rPr lang="en-US" sz="950" b="1" dirty="0">
                <a:solidFill>
                  <a:srgbClr val="1F8A80"/>
                </a:solidFill>
                <a:latin typeface="Calibri" pitchFamily="34" charset="0"/>
                <a:ea typeface="Calibri" pitchFamily="34" charset="-122"/>
                <a:cs typeface="Calibri" pitchFamily="34" charset="-120"/>
              </a:rPr>
              <a:t>laptops + GPU boxes</a:t>
            </a:r>
            <a:endParaRPr lang="en-US" sz="950" dirty="0"/>
          </a:p>
        </p:txBody>
      </p:sp>
      <p:sp>
        <p:nvSpPr>
          <p:cNvPr id="57" name="Text 55"/>
          <p:cNvSpPr/>
          <p:nvPr/>
        </p:nvSpPr>
        <p:spPr>
          <a:xfrm>
            <a:off x="566928" y="5440680"/>
            <a:ext cx="2194560" cy="457200"/>
          </a:xfrm>
          <a:prstGeom prst="rect">
            <a:avLst/>
          </a:prstGeom>
          <a:noFill/>
          <a:ln/>
        </p:spPr>
        <p:txBody>
          <a:bodyPr wrap="square" lIns="0" tIns="0" rIns="0" bIns="0" rtlCol="0" anchor="ctr"/>
          <a:lstStyle/>
          <a:p>
            <a:pPr indent="0" marL="0">
              <a:buNone/>
            </a:pPr>
            <a:r>
              <a:rPr lang="en-US" sz="950" b="1" dirty="0">
                <a:solidFill>
                  <a:srgbClr val="141821"/>
                </a:solidFill>
                <a:latin typeface="Calibri" pitchFamily="34" charset="0"/>
                <a:ea typeface="Calibri" pitchFamily="34" charset="-122"/>
                <a:cs typeface="Calibri" pitchFamily="34" charset="-120"/>
              </a:rPr>
              <a:t>Improvement they report</a:t>
            </a:r>
            <a:endParaRPr lang="en-US" sz="950" dirty="0"/>
          </a:p>
        </p:txBody>
      </p:sp>
      <p:sp>
        <p:nvSpPr>
          <p:cNvPr id="58" name="Text 56"/>
          <p:cNvSpPr/>
          <p:nvPr/>
        </p:nvSpPr>
        <p:spPr>
          <a:xfrm>
            <a:off x="2788920" y="5440680"/>
            <a:ext cx="1508760" cy="457200"/>
          </a:xfrm>
          <a:prstGeom prst="rect">
            <a:avLst/>
          </a:prstGeom>
          <a:noFill/>
          <a:ln/>
        </p:spPr>
        <p:txBody>
          <a:bodyPr wrap="square" lIns="0" tIns="0" rIns="0" bIns="0" rtlCol="0" anchor="ctr"/>
          <a:lstStyle/>
          <a:p>
            <a:pPr indent="0" marL="0">
              <a:buNone/>
            </a:pPr>
            <a:r>
              <a:rPr lang="en-US" sz="950" dirty="0">
                <a:solidFill>
                  <a:srgbClr val="4A5264"/>
                </a:solidFill>
                <a:latin typeface="Calibri" pitchFamily="34" charset="0"/>
                <a:ea typeface="Calibri" pitchFamily="34" charset="-122"/>
                <a:cs typeface="Calibri" pitchFamily="34" charset="-120"/>
              </a:rPr>
              <a:t>50% less delay</a:t>
            </a:r>
            <a:endParaRPr lang="en-US" sz="950" dirty="0"/>
          </a:p>
        </p:txBody>
      </p:sp>
      <p:sp>
        <p:nvSpPr>
          <p:cNvPr id="59" name="Text 57"/>
          <p:cNvSpPr/>
          <p:nvPr/>
        </p:nvSpPr>
        <p:spPr>
          <a:xfrm>
            <a:off x="4343400" y="5440680"/>
            <a:ext cx="1600200" cy="457200"/>
          </a:xfrm>
          <a:prstGeom prst="rect">
            <a:avLst/>
          </a:prstGeom>
          <a:noFill/>
          <a:ln/>
        </p:spPr>
        <p:txBody>
          <a:bodyPr wrap="square" lIns="0" tIns="0" rIns="0" bIns="0" rtlCol="0" anchor="ctr"/>
          <a:lstStyle/>
          <a:p>
            <a:pPr indent="0" marL="0">
              <a:buNone/>
            </a:pPr>
            <a:r>
              <a:rPr lang="en-US" sz="950" dirty="0">
                <a:solidFill>
                  <a:srgbClr val="4A5264"/>
                </a:solidFill>
                <a:latin typeface="Calibri" pitchFamily="34" charset="0"/>
                <a:ea typeface="Calibri" pitchFamily="34" charset="-122"/>
                <a:cs typeface="Calibri" pitchFamily="34" charset="-120"/>
              </a:rPr>
              <a:t>2.5x less delay</a:t>
            </a:r>
            <a:endParaRPr lang="en-US" sz="950" dirty="0"/>
          </a:p>
        </p:txBody>
      </p:sp>
      <p:sp>
        <p:nvSpPr>
          <p:cNvPr id="60" name="Text 58"/>
          <p:cNvSpPr/>
          <p:nvPr/>
        </p:nvSpPr>
        <p:spPr>
          <a:xfrm>
            <a:off x="5989320" y="5440680"/>
            <a:ext cx="1645920" cy="457200"/>
          </a:xfrm>
          <a:prstGeom prst="rect">
            <a:avLst/>
          </a:prstGeom>
          <a:noFill/>
          <a:ln/>
        </p:spPr>
        <p:txBody>
          <a:bodyPr wrap="square" lIns="0" tIns="0" rIns="0" bIns="0" rtlCol="0" anchor="ctr"/>
          <a:lstStyle/>
          <a:p>
            <a:pPr indent="0" marL="0">
              <a:buNone/>
            </a:pPr>
            <a:r>
              <a:rPr lang="en-US" sz="950" dirty="0">
                <a:solidFill>
                  <a:srgbClr val="4A5264"/>
                </a:solidFill>
                <a:latin typeface="Calibri" pitchFamily="34" charset="0"/>
                <a:ea typeface="Calibri" pitchFamily="34" charset="-122"/>
                <a:cs typeface="Calibri" pitchFamily="34" charset="-120"/>
              </a:rPr>
              <a:t>3.3x more work</a:t>
            </a:r>
            <a:endParaRPr lang="en-US" sz="950" dirty="0"/>
          </a:p>
        </p:txBody>
      </p:sp>
      <p:sp>
        <p:nvSpPr>
          <p:cNvPr id="61" name="Text 59"/>
          <p:cNvSpPr/>
          <p:nvPr/>
        </p:nvSpPr>
        <p:spPr>
          <a:xfrm>
            <a:off x="7680960" y="5440680"/>
            <a:ext cx="1554480" cy="457200"/>
          </a:xfrm>
          <a:prstGeom prst="rect">
            <a:avLst/>
          </a:prstGeom>
          <a:noFill/>
          <a:ln/>
        </p:spPr>
        <p:txBody>
          <a:bodyPr wrap="square" lIns="0" tIns="0" rIns="0" bIns="0" rtlCol="0" anchor="ctr"/>
          <a:lstStyle/>
          <a:p>
            <a:pPr indent="0" marL="0">
              <a:buNone/>
            </a:pPr>
            <a:r>
              <a:rPr lang="en-US" sz="950" dirty="0">
                <a:solidFill>
                  <a:srgbClr val="4A5264"/>
                </a:solidFill>
                <a:latin typeface="Calibri" pitchFamily="34" charset="0"/>
                <a:ea typeface="Calibri" pitchFamily="34" charset="-122"/>
                <a:cs typeface="Calibri" pitchFamily="34" charset="-120"/>
              </a:rPr>
              <a:t>5-17x faster words</a:t>
            </a:r>
            <a:endParaRPr lang="en-US" sz="950" dirty="0"/>
          </a:p>
        </p:txBody>
      </p:sp>
      <p:sp>
        <p:nvSpPr>
          <p:cNvPr id="62" name="Text 60"/>
          <p:cNvSpPr/>
          <p:nvPr/>
        </p:nvSpPr>
        <p:spPr>
          <a:xfrm>
            <a:off x="9281160" y="5440680"/>
            <a:ext cx="2340864" cy="457200"/>
          </a:xfrm>
          <a:prstGeom prst="rect">
            <a:avLst/>
          </a:prstGeom>
          <a:noFill/>
          <a:ln/>
        </p:spPr>
        <p:txBody>
          <a:bodyPr wrap="square" lIns="0" tIns="0" rIns="0" bIns="0" rtlCol="0" anchor="ctr"/>
          <a:lstStyle/>
          <a:p>
            <a:pPr indent="0" marL="0">
              <a:buNone/>
            </a:pPr>
            <a:r>
              <a:rPr lang="en-US" sz="950" b="1" dirty="0">
                <a:solidFill>
                  <a:srgbClr val="1F8A80"/>
                </a:solidFill>
                <a:latin typeface="Calibri" pitchFamily="34" charset="0"/>
                <a:ea typeface="Calibri" pitchFamily="34" charset="-122"/>
                <a:cs typeface="Calibri" pitchFamily="34" charset="-120"/>
              </a:rPr>
              <a:t>49-66% better*</a:t>
            </a:r>
            <a:endParaRPr lang="en-US" sz="950" dirty="0"/>
          </a:p>
        </p:txBody>
      </p:sp>
      <p:sp>
        <p:nvSpPr>
          <p:cNvPr id="63" name="Shape 61"/>
          <p:cNvSpPr/>
          <p:nvPr/>
        </p:nvSpPr>
        <p:spPr>
          <a:xfrm>
            <a:off x="9189720" y="1371600"/>
            <a:ext cx="2432304" cy="4535424"/>
          </a:xfrm>
          <a:prstGeom prst="roundRect">
            <a:avLst>
              <a:gd name="adj" fmla="val 1880"/>
            </a:avLst>
          </a:prstGeom>
          <a:solidFill>
            <a:srgbClr val="1F8A80">
              <a:alpha val="7000"/>
            </a:srgbClr>
          </a:solidFill>
          <a:ln w="15875">
            <a:solidFill>
              <a:srgbClr val="1F8A80"/>
            </a:solidFill>
            <a:prstDash val="solid"/>
          </a:ln>
        </p:spPr>
      </p:sp>
      <p:sp>
        <p:nvSpPr>
          <p:cNvPr id="64" name="Text 62"/>
          <p:cNvSpPr/>
          <p:nvPr/>
        </p:nvSpPr>
        <p:spPr>
          <a:xfrm>
            <a:off x="566928" y="6382512"/>
            <a:ext cx="9692640" cy="274320"/>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 We measure how slow the busiest machine gets, against a fixed cut and a measure-once version of our own system. That is not the same measurement as the other columns.</a:t>
            </a:r>
            <a:endParaRPr lang="en-US" sz="950" dirty="0"/>
          </a:p>
        </p:txBody>
      </p:sp>
      <p:sp>
        <p:nvSpPr>
          <p:cNvPr id="65" name="Text 63"/>
          <p:cNvSpPr/>
          <p:nvPr/>
        </p:nvSpPr>
        <p:spPr>
          <a:xfrm>
            <a:off x="11073384" y="6382512"/>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821"/>
        </a:solidFill>
      </p:bgPr>
    </p:bg>
    <p:spTree>
      <p:nvGrpSpPr>
        <p:cNvPr id="1" name=""/>
        <p:cNvGrpSpPr/>
        <p:nvPr/>
      </p:nvGrpSpPr>
      <p:grpSpPr>
        <a:xfrm>
          <a:off x="0" y="0"/>
          <a:ext cx="0" cy="0"/>
          <a:chOff x="0" y="0"/>
          <a:chExt cx="0" cy="0"/>
        </a:xfrm>
      </p:grpSpPr>
      <p:sp>
        <p:nvSpPr>
          <p:cNvPr id="2" name="Shape 0"/>
          <p:cNvSpPr/>
          <p:nvPr/>
        </p:nvSpPr>
        <p:spPr>
          <a:xfrm>
            <a:off x="-1280160" y="4206240"/>
            <a:ext cx="4023360" cy="4023360"/>
          </a:xfrm>
          <a:prstGeom prst="ellipse">
            <a:avLst/>
          </a:prstGeom>
          <a:solidFill>
            <a:srgbClr val="232A38"/>
          </a:solidFill>
          <a:ln w="12700">
            <a:solidFill>
              <a:srgbClr val="333333"/>
            </a:solidFill>
            <a:prstDash val="solid"/>
          </a:ln>
        </p:spPr>
      </p:sp>
      <p:sp>
        <p:nvSpPr>
          <p:cNvPr id="3" name="Text 1"/>
          <p:cNvSpPr/>
          <p:nvPr/>
        </p:nvSpPr>
        <p:spPr>
          <a:xfrm>
            <a:off x="566928" y="658368"/>
            <a:ext cx="7315200" cy="274320"/>
          </a:xfrm>
          <a:prstGeom prst="rect">
            <a:avLst/>
          </a:prstGeom>
          <a:noFill/>
          <a:ln/>
        </p:spPr>
        <p:txBody>
          <a:bodyPr wrap="square" lIns="0" tIns="0" rIns="0" bIns="0" rtlCol="0" anchor="ctr"/>
          <a:lstStyle/>
          <a:p>
            <a:pPr indent="0" marL="0">
              <a:buNone/>
            </a:pPr>
            <a:r>
              <a:rPr lang="en-US" sz="1150" b="1" spc="260" kern="0" dirty="0">
                <a:solidFill>
                  <a:srgbClr val="E07B39"/>
                </a:solidFill>
                <a:latin typeface="Calibri" pitchFamily="34" charset="0"/>
                <a:ea typeface="Calibri" pitchFamily="34" charset="-122"/>
                <a:cs typeface="Calibri" pitchFamily="34" charset="-120"/>
              </a:rPr>
              <a:t>CONCLUSION</a:t>
            </a:r>
            <a:endParaRPr lang="en-US" sz="1150" dirty="0"/>
          </a:p>
        </p:txBody>
      </p:sp>
      <p:sp>
        <p:nvSpPr>
          <p:cNvPr id="4" name="Text 2"/>
          <p:cNvSpPr/>
          <p:nvPr/>
        </p:nvSpPr>
        <p:spPr>
          <a:xfrm>
            <a:off x="566928" y="1097280"/>
            <a:ext cx="7589520" cy="1234440"/>
          </a:xfrm>
          <a:prstGeom prst="rect">
            <a:avLst/>
          </a:prstGeom>
          <a:noFill/>
          <a:ln/>
        </p:spPr>
        <p:txBody>
          <a:bodyPr wrap="square" lIns="0" tIns="0" rIns="0" bIns="0" rtlCol="0" anchor="ctr"/>
          <a:lstStyle/>
          <a:p>
            <a:pPr indent="0" marL="0">
              <a:lnSpc>
                <a:spcPts val="3600"/>
              </a:lnSpc>
              <a:buNone/>
            </a:pPr>
            <a:r>
              <a:rPr lang="en-US" sz="2800" b="1" dirty="0">
                <a:solidFill>
                  <a:srgbClr val="FFFFFF"/>
                </a:solidFill>
                <a:latin typeface="Cambria" pitchFamily="34" charset="0"/>
                <a:ea typeface="Cambria" pitchFamily="34" charset="-122"/>
                <a:cs typeface="Cambria" pitchFamily="34" charset="-120"/>
              </a:rPr>
              <a:t>Where to cut the model is a decision you should keep making, not one you make once.</a:t>
            </a:r>
            <a:endParaRPr lang="en-US" sz="2800" dirty="0"/>
          </a:p>
        </p:txBody>
      </p:sp>
      <p:sp>
        <p:nvSpPr>
          <p:cNvPr id="5" name="Text 3"/>
          <p:cNvSpPr/>
          <p:nvPr/>
        </p:nvSpPr>
        <p:spPr>
          <a:xfrm>
            <a:off x="566928" y="2432304"/>
            <a:ext cx="7589520" cy="1188720"/>
          </a:xfrm>
          <a:prstGeom prst="rect">
            <a:avLst/>
          </a:prstGeom>
          <a:noFill/>
          <a:ln/>
        </p:spPr>
        <p:txBody>
          <a:bodyPr wrap="square" lIns="0" tIns="0" rIns="0" bIns="0" rtlCol="0" anchor="ctr"/>
          <a:lstStyle/>
          <a:p>
            <a:pPr indent="0" marL="0">
              <a:lnSpc>
                <a:spcPts val="2000"/>
              </a:lnSpc>
              <a:buNone/>
            </a:pPr>
            <a:r>
              <a:rPr lang="en-US" sz="1300" dirty="0">
                <a:solidFill>
                  <a:srgbClr val="AEB6C4"/>
                </a:solidFill>
                <a:latin typeface="Calibri" pitchFamily="34" charset="0"/>
                <a:ea typeface="Calibri" pitchFamily="34" charset="-122"/>
                <a:cs typeface="Calibri" pitchFamily="34" charset="-120"/>
              </a:rPr>
              <a:t>We keep a standard, exact solver running all the time. It is fed by network delays read from the kernel and by real temperature readings, and it moves layers on a live system with no restart. On a set of ordinary machines, that is the difference between a plan that was right once and a plan that stays right.</a:t>
            </a:r>
            <a:endParaRPr lang="en-US" sz="1300" dirty="0"/>
          </a:p>
        </p:txBody>
      </p:sp>
      <p:sp>
        <p:nvSpPr>
          <p:cNvPr id="6" name="Shape 4"/>
          <p:cNvSpPr/>
          <p:nvPr/>
        </p:nvSpPr>
        <p:spPr>
          <a:xfrm>
            <a:off x="566928" y="3913632"/>
            <a:ext cx="310896" cy="310896"/>
          </a:xfrm>
          <a:prstGeom prst="ellipse">
            <a:avLst/>
          </a:prstGeom>
          <a:solidFill>
            <a:srgbClr val="E07B39"/>
          </a:solidFill>
          <a:ln w="12700">
            <a:solidFill>
              <a:srgbClr val="E07B39"/>
            </a:solidFill>
            <a:prstDash val="solid"/>
          </a:ln>
        </p:spPr>
      </p:sp>
      <p:sp>
        <p:nvSpPr>
          <p:cNvPr id="7" name="Text 5"/>
          <p:cNvSpPr/>
          <p:nvPr/>
        </p:nvSpPr>
        <p:spPr>
          <a:xfrm>
            <a:off x="566928" y="3913632"/>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8" name="Text 6"/>
          <p:cNvSpPr/>
          <p:nvPr/>
        </p:nvSpPr>
        <p:spPr>
          <a:xfrm>
            <a:off x="1005840" y="3895344"/>
            <a:ext cx="694944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exact answer is cheap</a:t>
            </a:r>
            <a:endParaRPr lang="en-US" sz="1200" dirty="0"/>
          </a:p>
        </p:txBody>
      </p:sp>
      <p:sp>
        <p:nvSpPr>
          <p:cNvPr id="9" name="Text 7"/>
          <p:cNvSpPr/>
          <p:nvPr/>
        </p:nvSpPr>
        <p:spPr>
          <a:xfrm>
            <a:off x="1005840" y="4160520"/>
            <a:ext cx="7040880" cy="402336"/>
          </a:xfrm>
          <a:prstGeom prst="rect">
            <a:avLst/>
          </a:prstGeom>
          <a:noFill/>
          <a:ln/>
        </p:spPr>
        <p:txBody>
          <a:bodyPr wrap="square" lIns="0" tIns="0" rIns="0" bIns="0" rtlCol="0" anchor="ctr"/>
          <a:lstStyle/>
          <a:p>
            <a:pPr indent="0" marL="0">
              <a:lnSpc>
                <a:spcPts val="1250"/>
              </a:lnSpc>
              <a:buNone/>
            </a:pPr>
            <a:r>
              <a:rPr lang="en-US" sz="1000" dirty="0">
                <a:solidFill>
                  <a:srgbClr val="9AA3B4"/>
                </a:solidFill>
                <a:latin typeface="Calibri" pitchFamily="34" charset="0"/>
                <a:ea typeface="Calibri" pitchFamily="34" charset="-122"/>
                <a:cs typeface="Calibri" pitchFamily="34" charset="-120"/>
              </a:rPr>
              <a:t>Working out the best cut takes microseconds. There is no reason to do it only once.</a:t>
            </a:r>
            <a:endParaRPr lang="en-US" sz="1000" dirty="0"/>
          </a:p>
        </p:txBody>
      </p:sp>
      <p:sp>
        <p:nvSpPr>
          <p:cNvPr id="10" name="Shape 8"/>
          <p:cNvSpPr/>
          <p:nvPr/>
        </p:nvSpPr>
        <p:spPr>
          <a:xfrm>
            <a:off x="566928" y="4700016"/>
            <a:ext cx="310896" cy="310896"/>
          </a:xfrm>
          <a:prstGeom prst="ellipse">
            <a:avLst/>
          </a:prstGeom>
          <a:solidFill>
            <a:srgbClr val="1F8A80"/>
          </a:solidFill>
          <a:ln w="12700">
            <a:solidFill>
              <a:srgbClr val="1F8A80"/>
            </a:solidFill>
            <a:prstDash val="solid"/>
          </a:ln>
        </p:spPr>
      </p:sp>
      <p:sp>
        <p:nvSpPr>
          <p:cNvPr id="11" name="Text 9"/>
          <p:cNvSpPr/>
          <p:nvPr/>
        </p:nvSpPr>
        <p:spPr>
          <a:xfrm>
            <a:off x="566928" y="4700016"/>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2" name="Text 10"/>
          <p:cNvSpPr/>
          <p:nvPr/>
        </p:nvSpPr>
        <p:spPr>
          <a:xfrm>
            <a:off x="1005840" y="4681728"/>
            <a:ext cx="694944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brakes are what make it usable</a:t>
            </a:r>
            <a:endParaRPr lang="en-US" sz="1200" dirty="0"/>
          </a:p>
        </p:txBody>
      </p:sp>
      <p:sp>
        <p:nvSpPr>
          <p:cNvPr id="13" name="Text 11"/>
          <p:cNvSpPr/>
          <p:nvPr/>
        </p:nvSpPr>
        <p:spPr>
          <a:xfrm>
            <a:off x="1005840" y="4946904"/>
            <a:ext cx="7040880" cy="402336"/>
          </a:xfrm>
          <a:prstGeom prst="rect">
            <a:avLst/>
          </a:prstGeom>
          <a:noFill/>
          <a:ln/>
        </p:spPr>
        <p:txBody>
          <a:bodyPr wrap="square" lIns="0" tIns="0" rIns="0" bIns="0" rtlCol="0" anchor="ctr"/>
          <a:lstStyle/>
          <a:p>
            <a:pPr indent="0" marL="0">
              <a:lnSpc>
                <a:spcPts val="1250"/>
              </a:lnSpc>
              <a:buNone/>
            </a:pPr>
            <a:r>
              <a:rPr lang="en-US" sz="1000" dirty="0">
                <a:solidFill>
                  <a:srgbClr val="9AA3B4"/>
                </a:solidFill>
                <a:latin typeface="Calibri" pitchFamily="34" charset="0"/>
                <a:ea typeface="Calibri" pitchFamily="34" charset="-122"/>
                <a:cs typeface="Calibri" pitchFamily="34" charset="-120"/>
              </a:rPr>
              <a:t>One 'must be clearly better' rule and one 'wait a bit' rule handle heat, network and machine failure all the same way.</a:t>
            </a:r>
            <a:endParaRPr lang="en-US" sz="1000" dirty="0"/>
          </a:p>
        </p:txBody>
      </p:sp>
      <p:sp>
        <p:nvSpPr>
          <p:cNvPr id="14" name="Shape 12"/>
          <p:cNvSpPr/>
          <p:nvPr/>
        </p:nvSpPr>
        <p:spPr>
          <a:xfrm>
            <a:off x="566928" y="5486400"/>
            <a:ext cx="310896" cy="310896"/>
          </a:xfrm>
          <a:prstGeom prst="ellipse">
            <a:avLst/>
          </a:prstGeom>
          <a:solidFill>
            <a:srgbClr val="1F8A80"/>
          </a:solidFill>
          <a:ln w="12700">
            <a:solidFill>
              <a:srgbClr val="1F8A80"/>
            </a:solidFill>
            <a:prstDash val="solid"/>
          </a:ln>
        </p:spPr>
      </p:sp>
      <p:sp>
        <p:nvSpPr>
          <p:cNvPr id="15" name="Text 13"/>
          <p:cNvSpPr/>
          <p:nvPr/>
        </p:nvSpPr>
        <p:spPr>
          <a:xfrm>
            <a:off x="566928" y="5486400"/>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6" name="Text 14"/>
          <p:cNvSpPr/>
          <p:nvPr/>
        </p:nvSpPr>
        <p:spPr>
          <a:xfrm>
            <a:off x="1005840" y="5468112"/>
            <a:ext cx="694944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Kernel measuring is free</a:t>
            </a:r>
            <a:endParaRPr lang="en-US" sz="1200" dirty="0"/>
          </a:p>
        </p:txBody>
      </p:sp>
      <p:sp>
        <p:nvSpPr>
          <p:cNvPr id="17" name="Text 15"/>
          <p:cNvSpPr/>
          <p:nvPr/>
        </p:nvSpPr>
        <p:spPr>
          <a:xfrm>
            <a:off x="1005840" y="5733288"/>
            <a:ext cx="7040880" cy="402336"/>
          </a:xfrm>
          <a:prstGeom prst="rect">
            <a:avLst/>
          </a:prstGeom>
          <a:noFill/>
          <a:ln/>
        </p:spPr>
        <p:txBody>
          <a:bodyPr wrap="square" lIns="0" tIns="0" rIns="0" bIns="0" rtlCol="0" anchor="ctr"/>
          <a:lstStyle/>
          <a:p>
            <a:pPr indent="0" marL="0">
              <a:lnSpc>
                <a:spcPts val="1250"/>
              </a:lnSpc>
              <a:buNone/>
            </a:pPr>
            <a:r>
              <a:rPr lang="en-US" sz="1000" dirty="0">
                <a:solidFill>
                  <a:srgbClr val="9AA3B4"/>
                </a:solidFill>
                <a:latin typeface="Calibri" pitchFamily="34" charset="0"/>
                <a:ea typeface="Calibri" pitchFamily="34" charset="-122"/>
                <a:cs typeface="Calibri" pitchFamily="34" charset="-120"/>
              </a:rPr>
              <a:t>eBPF sees what really went over the network, not what the program thinks it sent.</a:t>
            </a:r>
            <a:endParaRPr lang="en-US" sz="1000" dirty="0"/>
          </a:p>
        </p:txBody>
      </p:sp>
      <p:sp>
        <p:nvSpPr>
          <p:cNvPr id="18" name="Shape 16"/>
          <p:cNvSpPr/>
          <p:nvPr/>
        </p:nvSpPr>
        <p:spPr>
          <a:xfrm>
            <a:off x="8458200" y="2432304"/>
            <a:ext cx="3163824" cy="3584448"/>
          </a:xfrm>
          <a:prstGeom prst="roundRect">
            <a:avLst>
              <a:gd name="adj" fmla="val 2312"/>
            </a:avLst>
          </a:prstGeom>
          <a:solidFill>
            <a:srgbClr val="232A38"/>
          </a:solidFill>
          <a:ln w="12700">
            <a:solidFill>
              <a:srgbClr val="3A4356"/>
            </a:solidFill>
            <a:prstDash val="solid"/>
          </a:ln>
        </p:spPr>
      </p:sp>
      <p:sp>
        <p:nvSpPr>
          <p:cNvPr id="19" name="Text 17"/>
          <p:cNvSpPr/>
          <p:nvPr/>
        </p:nvSpPr>
        <p:spPr>
          <a:xfrm>
            <a:off x="8732520" y="2651760"/>
            <a:ext cx="2651760" cy="274320"/>
          </a:xfrm>
          <a:prstGeom prst="rect">
            <a:avLst/>
          </a:prstGeom>
          <a:noFill/>
          <a:ln/>
        </p:spPr>
        <p:txBody>
          <a:bodyPr wrap="square" lIns="0" tIns="0" rIns="0" bIns="0" rtlCol="0" anchor="ctr"/>
          <a:lstStyle/>
          <a:p>
            <a:pPr indent="0" marL="0">
              <a:buNone/>
            </a:pPr>
            <a:r>
              <a:rPr lang="en-US" sz="1200" b="1" dirty="0">
                <a:solidFill>
                  <a:srgbClr val="E07B39"/>
                </a:solidFill>
                <a:latin typeface="Calibri" pitchFamily="34" charset="0"/>
                <a:ea typeface="Calibri" pitchFamily="34" charset="-122"/>
                <a:cs typeface="Calibri" pitchFamily="34" charset="-120"/>
              </a:rPr>
              <a:t>Next steps</a:t>
            </a:r>
            <a:endParaRPr lang="en-US" sz="1200" dirty="0"/>
          </a:p>
        </p:txBody>
      </p:sp>
      <p:sp>
        <p:nvSpPr>
          <p:cNvPr id="20" name="Shape 18"/>
          <p:cNvSpPr/>
          <p:nvPr/>
        </p:nvSpPr>
        <p:spPr>
          <a:xfrm>
            <a:off x="8732520" y="3090672"/>
            <a:ext cx="100584" cy="100584"/>
          </a:xfrm>
          <a:prstGeom prst="ellipse">
            <a:avLst/>
          </a:prstGeom>
          <a:solidFill>
            <a:srgbClr val="1F8A80"/>
          </a:solidFill>
          <a:ln w="12700">
            <a:solidFill>
              <a:srgbClr val="333333"/>
            </a:solidFill>
            <a:prstDash val="solid"/>
          </a:ln>
        </p:spPr>
      </p:sp>
      <p:sp>
        <p:nvSpPr>
          <p:cNvPr id="21" name="Text 19"/>
          <p:cNvSpPr/>
          <p:nvPr/>
        </p:nvSpPr>
        <p:spPr>
          <a:xfrm>
            <a:off x="8951976" y="3035808"/>
            <a:ext cx="2487168" cy="658368"/>
          </a:xfrm>
          <a:prstGeom prst="rect">
            <a:avLst/>
          </a:prstGeom>
          <a:noFill/>
          <a:ln/>
        </p:spPr>
        <p:txBody>
          <a:bodyPr wrap="square" lIns="0" tIns="0" rIns="0" bIns="0" rtlCol="0" anchor="ctr"/>
          <a:lstStyle/>
          <a:p>
            <a:pPr indent="0" marL="0">
              <a:lnSpc>
                <a:spcPts val="1250"/>
              </a:lnSpc>
              <a:buNone/>
            </a:pPr>
            <a:r>
              <a:rPr lang="en-US" sz="950" dirty="0">
                <a:solidFill>
                  <a:srgbClr val="AEB6C4"/>
                </a:solidFill>
                <a:latin typeface="Calibri" pitchFamily="34" charset="0"/>
                <a:ea typeface="Calibri" pitchFamily="34" charset="-122"/>
                <a:cs typeface="Calibri" pitchFamily="34" charset="-120"/>
              </a:rPr>
              <a:t>Support a Llama-size model, so two 8 GB cards can hold a real modern model between them.</a:t>
            </a:r>
            <a:endParaRPr lang="en-US" sz="950" dirty="0"/>
          </a:p>
        </p:txBody>
      </p:sp>
      <p:sp>
        <p:nvSpPr>
          <p:cNvPr id="22" name="Shape 20"/>
          <p:cNvSpPr/>
          <p:nvPr/>
        </p:nvSpPr>
        <p:spPr>
          <a:xfrm>
            <a:off x="8732520" y="3822192"/>
            <a:ext cx="100584" cy="100584"/>
          </a:xfrm>
          <a:prstGeom prst="ellipse">
            <a:avLst/>
          </a:prstGeom>
          <a:solidFill>
            <a:srgbClr val="1F8A80"/>
          </a:solidFill>
          <a:ln w="12700">
            <a:solidFill>
              <a:srgbClr val="333333"/>
            </a:solidFill>
            <a:prstDash val="solid"/>
          </a:ln>
        </p:spPr>
      </p:sp>
      <p:sp>
        <p:nvSpPr>
          <p:cNvPr id="23" name="Text 21"/>
          <p:cNvSpPr/>
          <p:nvPr/>
        </p:nvSpPr>
        <p:spPr>
          <a:xfrm>
            <a:off x="8951976" y="3767328"/>
            <a:ext cx="2487168" cy="658368"/>
          </a:xfrm>
          <a:prstGeom prst="rect">
            <a:avLst/>
          </a:prstGeom>
          <a:noFill/>
          <a:ln/>
        </p:spPr>
        <p:txBody>
          <a:bodyPr wrap="square" lIns="0" tIns="0" rIns="0" bIns="0" rtlCol="0" anchor="ctr"/>
          <a:lstStyle/>
          <a:p>
            <a:pPr indent="0" marL="0">
              <a:lnSpc>
                <a:spcPts val="1250"/>
              </a:lnSpc>
              <a:buNone/>
            </a:pPr>
            <a:r>
              <a:rPr lang="en-US" sz="950" dirty="0">
                <a:solidFill>
                  <a:srgbClr val="AEB6C4"/>
                </a:solidFill>
                <a:latin typeface="Calibri" pitchFamily="34" charset="0"/>
                <a:ea typeface="Calibri" pitchFamily="34" charset="-122"/>
                <a:cs typeface="Calibri" pitchFamily="34" charset="-120"/>
              </a:rPr>
              <a:t>Run heavy load for a long time, to see a GPU really slow down instead of flat lines.</a:t>
            </a:r>
            <a:endParaRPr lang="en-US" sz="950" dirty="0"/>
          </a:p>
        </p:txBody>
      </p:sp>
      <p:sp>
        <p:nvSpPr>
          <p:cNvPr id="24" name="Shape 22"/>
          <p:cNvSpPr/>
          <p:nvPr/>
        </p:nvSpPr>
        <p:spPr>
          <a:xfrm>
            <a:off x="8732520" y="4553712"/>
            <a:ext cx="100584" cy="100584"/>
          </a:xfrm>
          <a:prstGeom prst="ellipse">
            <a:avLst/>
          </a:prstGeom>
          <a:solidFill>
            <a:srgbClr val="1F8A80"/>
          </a:solidFill>
          <a:ln w="12700">
            <a:solidFill>
              <a:srgbClr val="333333"/>
            </a:solidFill>
            <a:prstDash val="solid"/>
          </a:ln>
        </p:spPr>
      </p:sp>
      <p:sp>
        <p:nvSpPr>
          <p:cNvPr id="25" name="Text 23"/>
          <p:cNvSpPr/>
          <p:nvPr/>
        </p:nvSpPr>
        <p:spPr>
          <a:xfrm>
            <a:off x="8951976" y="4498848"/>
            <a:ext cx="2487168" cy="658368"/>
          </a:xfrm>
          <a:prstGeom prst="rect">
            <a:avLst/>
          </a:prstGeom>
          <a:noFill/>
          <a:ln/>
        </p:spPr>
        <p:txBody>
          <a:bodyPr wrap="square" lIns="0" tIns="0" rIns="0" bIns="0" rtlCol="0" anchor="ctr"/>
          <a:lstStyle/>
          <a:p>
            <a:pPr indent="0" marL="0">
              <a:lnSpc>
                <a:spcPts val="1250"/>
              </a:lnSpc>
              <a:buNone/>
            </a:pPr>
            <a:r>
              <a:rPr lang="en-US" sz="950" dirty="0">
                <a:solidFill>
                  <a:srgbClr val="AEB6C4"/>
                </a:solidFill>
                <a:latin typeface="Calibri" pitchFamily="34" charset="0"/>
                <a:ea typeface="Calibri" pitchFamily="34" charset="-122"/>
                <a:cs typeface="Calibri" pitchFamily="34" charset="-120"/>
              </a:rPr>
              <a:t>Allow cuts that are not one solid block per machine, as in arXiv:2505.02533.</a:t>
            </a:r>
            <a:endParaRPr lang="en-US" sz="950" dirty="0"/>
          </a:p>
        </p:txBody>
      </p:sp>
      <p:sp>
        <p:nvSpPr>
          <p:cNvPr id="26" name="Shape 24"/>
          <p:cNvSpPr/>
          <p:nvPr/>
        </p:nvSpPr>
        <p:spPr>
          <a:xfrm>
            <a:off x="8732520" y="5285232"/>
            <a:ext cx="100584" cy="100584"/>
          </a:xfrm>
          <a:prstGeom prst="ellipse">
            <a:avLst/>
          </a:prstGeom>
          <a:solidFill>
            <a:srgbClr val="1F8A80"/>
          </a:solidFill>
          <a:ln w="12700">
            <a:solidFill>
              <a:srgbClr val="333333"/>
            </a:solidFill>
            <a:prstDash val="solid"/>
          </a:ln>
        </p:spPr>
      </p:sp>
      <p:sp>
        <p:nvSpPr>
          <p:cNvPr id="27" name="Text 25"/>
          <p:cNvSpPr/>
          <p:nvPr/>
        </p:nvSpPr>
        <p:spPr>
          <a:xfrm>
            <a:off x="8951976" y="5230368"/>
            <a:ext cx="2487168" cy="658368"/>
          </a:xfrm>
          <a:prstGeom prst="rect">
            <a:avLst/>
          </a:prstGeom>
          <a:noFill/>
          <a:ln/>
        </p:spPr>
        <p:txBody>
          <a:bodyPr wrap="square" lIns="0" tIns="0" rIns="0" bIns="0" rtlCol="0" anchor="ctr"/>
          <a:lstStyle/>
          <a:p>
            <a:pPr indent="0" marL="0">
              <a:lnSpc>
                <a:spcPts val="1250"/>
              </a:lnSpc>
              <a:buNone/>
            </a:pPr>
            <a:r>
              <a:rPr lang="en-US" sz="950" dirty="0">
                <a:solidFill>
                  <a:srgbClr val="AEB6C4"/>
                </a:solidFill>
                <a:latin typeface="Calibri" pitchFamily="34" charset="0"/>
                <a:ea typeface="Calibri" pitchFamily="34" charset="-122"/>
                <a:cs typeface="Calibri" pitchFamily="34" charset="-120"/>
              </a:rPr>
              <a:t>Calibrate the cost estimate so it predicts real speed, not only the right ranking.</a:t>
            </a:r>
            <a:endParaRPr lang="en-US" sz="950" dirty="0"/>
          </a:p>
        </p:txBody>
      </p:sp>
      <p:sp>
        <p:nvSpPr>
          <p:cNvPr id="28" name="Text 26"/>
          <p:cNvSpPr/>
          <p:nvPr/>
        </p:nvSpPr>
        <p:spPr>
          <a:xfrm>
            <a:off x="11073384" y="6382512"/>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50" b="1" spc="220" kern="0" dirty="0">
                <a:solidFill>
                  <a:srgbClr val="E07B39"/>
                </a:solidFill>
                <a:latin typeface="Calibri" pitchFamily="34" charset="0"/>
                <a:ea typeface="Calibri" pitchFamily="34" charset="-122"/>
                <a:cs typeface="Calibri" pitchFamily="34" charset="-120"/>
              </a:rPr>
              <a:t>REFERENCES</a:t>
            </a:r>
            <a:endParaRPr lang="en-US" sz="1150" dirty="0"/>
          </a:p>
        </p:txBody>
      </p:sp>
      <p:sp>
        <p:nvSpPr>
          <p:cNvPr id="3" name="Text 1"/>
          <p:cNvSpPr/>
          <p:nvPr/>
        </p:nvSpPr>
        <p:spPr>
          <a:xfrm>
            <a:off x="566928" y="566928"/>
            <a:ext cx="11055096" cy="658368"/>
          </a:xfrm>
          <a:prstGeom prst="rect">
            <a:avLst/>
          </a:prstGeom>
          <a:noFill/>
          <a:ln/>
        </p:spPr>
        <p:txBody>
          <a:bodyPr wrap="square" lIns="0" tIns="0" rIns="0" bIns="0" rtlCol="0" anchor="ctr"/>
          <a:lstStyle/>
          <a:p>
            <a:pPr indent="0" marL="0">
              <a:buNone/>
            </a:pPr>
            <a:r>
              <a:rPr lang="en-US" sz="3200" b="1" dirty="0">
                <a:solidFill>
                  <a:srgbClr val="141821"/>
                </a:solidFill>
                <a:latin typeface="Cambria" pitchFamily="34" charset="0"/>
                <a:ea typeface="Cambria" pitchFamily="34" charset="-122"/>
                <a:cs typeface="Cambria" pitchFamily="34" charset="-120"/>
              </a:rPr>
              <a:t>All works cited</a:t>
            </a:r>
            <a:endParaRPr lang="en-US" sz="3200" dirty="0"/>
          </a:p>
        </p:txBody>
      </p:sp>
      <p:sp>
        <p:nvSpPr>
          <p:cNvPr id="4" name="Shape 2"/>
          <p:cNvSpPr/>
          <p:nvPr/>
        </p:nvSpPr>
        <p:spPr>
          <a:xfrm>
            <a:off x="566928" y="1371600"/>
            <a:ext cx="11055096" cy="429768"/>
          </a:xfrm>
          <a:prstGeom prst="rect">
            <a:avLst/>
          </a:prstGeom>
          <a:solidFill>
            <a:srgbClr val="F7F8FA"/>
          </a:solidFill>
          <a:ln w="12700">
            <a:solidFill>
              <a:srgbClr val="333333"/>
            </a:solidFill>
            <a:prstDash val="solid"/>
          </a:ln>
        </p:spPr>
      </p:sp>
      <p:sp>
        <p:nvSpPr>
          <p:cNvPr id="5" name="Text 3"/>
          <p:cNvSpPr/>
          <p:nvPr/>
        </p:nvSpPr>
        <p:spPr>
          <a:xfrm>
            <a:off x="768096" y="1371600"/>
            <a:ext cx="10652760" cy="429768"/>
          </a:xfrm>
          <a:prstGeom prst="rect">
            <a:avLst/>
          </a:prstGeom>
          <a:noFill/>
          <a:ln/>
        </p:spPr>
        <p:txBody>
          <a:bodyPr wrap="square" lIns="0" tIns="0" rIns="0" bIns="0" rtlCol="0" anchor="ctr"/>
          <a:lstStyle/>
          <a:p>
            <a:pPr indent="0" marL="0">
              <a:buNone/>
            </a:pPr>
            <a:r>
              <a:rPr lang="en-US" sz="950" dirty="0">
                <a:solidFill>
                  <a:srgbClr val="3E4658"/>
                </a:solidFill>
                <a:latin typeface="Calibri" pitchFamily="34" charset="0"/>
                <a:ea typeface="Calibri" pitchFamily="34" charset="-122"/>
                <a:cs typeface="Calibri" pitchFamily="34" charset="-120"/>
              </a:rPr>
              <a:t>[1]  EdgeShard: Efficient LLM Inference via Collaborative Edge Computing. M. Zhang, J. Cao, X. Shen, Z. Cui. IEEE Internet of Things Journal, 2024. arXiv:2405.14371.</a:t>
            </a:r>
            <a:endParaRPr lang="en-US" sz="950" dirty="0"/>
          </a:p>
        </p:txBody>
      </p:sp>
      <p:sp>
        <p:nvSpPr>
          <p:cNvPr id="6" name="Text 4"/>
          <p:cNvSpPr/>
          <p:nvPr/>
        </p:nvSpPr>
        <p:spPr>
          <a:xfrm>
            <a:off x="768096" y="1828800"/>
            <a:ext cx="10652760" cy="429768"/>
          </a:xfrm>
          <a:prstGeom prst="rect">
            <a:avLst/>
          </a:prstGeom>
          <a:noFill/>
          <a:ln/>
        </p:spPr>
        <p:txBody>
          <a:bodyPr wrap="square" lIns="0" tIns="0" rIns="0" bIns="0" rtlCol="0" anchor="ctr"/>
          <a:lstStyle/>
          <a:p>
            <a:pPr indent="0" marL="0">
              <a:buNone/>
            </a:pPr>
            <a:r>
              <a:rPr lang="en-US" sz="950" dirty="0">
                <a:solidFill>
                  <a:srgbClr val="3E4658"/>
                </a:solidFill>
                <a:latin typeface="Calibri" pitchFamily="34" charset="0"/>
                <a:ea typeface="Calibri" pitchFamily="34" charset="-122"/>
                <a:cs typeface="Calibri" pitchFamily="34" charset="-120"/>
              </a:rPr>
              <a:t>[2]  Galaxy: A Resource-Efficient Collaborative Edge AI System for In-situ Transformer Inference. IEEE INFOCOM, 2024. arXiv:2405.17245.</a:t>
            </a:r>
            <a:endParaRPr lang="en-US" sz="950" dirty="0"/>
          </a:p>
        </p:txBody>
      </p:sp>
      <p:sp>
        <p:nvSpPr>
          <p:cNvPr id="7" name="Shape 5"/>
          <p:cNvSpPr/>
          <p:nvPr/>
        </p:nvSpPr>
        <p:spPr>
          <a:xfrm>
            <a:off x="566928" y="2286000"/>
            <a:ext cx="11055096" cy="429768"/>
          </a:xfrm>
          <a:prstGeom prst="rect">
            <a:avLst/>
          </a:prstGeom>
          <a:solidFill>
            <a:srgbClr val="F7F8FA"/>
          </a:solidFill>
          <a:ln w="12700">
            <a:solidFill>
              <a:srgbClr val="333333"/>
            </a:solidFill>
            <a:prstDash val="solid"/>
          </a:ln>
        </p:spPr>
      </p:sp>
      <p:sp>
        <p:nvSpPr>
          <p:cNvPr id="8" name="Text 6"/>
          <p:cNvSpPr/>
          <p:nvPr/>
        </p:nvSpPr>
        <p:spPr>
          <a:xfrm>
            <a:off x="768096" y="2286000"/>
            <a:ext cx="10652760" cy="429768"/>
          </a:xfrm>
          <a:prstGeom prst="rect">
            <a:avLst/>
          </a:prstGeom>
          <a:noFill/>
          <a:ln/>
        </p:spPr>
        <p:txBody>
          <a:bodyPr wrap="square" lIns="0" tIns="0" rIns="0" bIns="0" rtlCol="0" anchor="ctr"/>
          <a:lstStyle/>
          <a:p>
            <a:pPr indent="0" marL="0">
              <a:buNone/>
            </a:pPr>
            <a:r>
              <a:rPr lang="en-US" sz="950" dirty="0">
                <a:solidFill>
                  <a:srgbClr val="3E4658"/>
                </a:solidFill>
                <a:latin typeface="Calibri" pitchFamily="34" charset="0"/>
                <a:ea typeface="Calibri" pitchFamily="34" charset="-122"/>
                <a:cs typeface="Calibri" pitchFamily="34" charset="-120"/>
              </a:rPr>
              <a:t>[3]  Helix: Serving Large Language Models over Heterogeneous GPUs and Network via Max-Flow. ACM ASPLOS, 2025. arXiv:2406.01566.</a:t>
            </a:r>
            <a:endParaRPr lang="en-US" sz="950" dirty="0"/>
          </a:p>
        </p:txBody>
      </p:sp>
      <p:sp>
        <p:nvSpPr>
          <p:cNvPr id="9" name="Text 7"/>
          <p:cNvSpPr/>
          <p:nvPr/>
        </p:nvSpPr>
        <p:spPr>
          <a:xfrm>
            <a:off x="768096" y="2743200"/>
            <a:ext cx="10652760" cy="429768"/>
          </a:xfrm>
          <a:prstGeom prst="rect">
            <a:avLst/>
          </a:prstGeom>
          <a:noFill/>
          <a:ln/>
        </p:spPr>
        <p:txBody>
          <a:bodyPr wrap="square" lIns="0" tIns="0" rIns="0" bIns="0" rtlCol="0" anchor="ctr"/>
          <a:lstStyle/>
          <a:p>
            <a:pPr indent="0" marL="0">
              <a:buNone/>
            </a:pPr>
            <a:r>
              <a:rPr lang="en-US" sz="950" dirty="0">
                <a:solidFill>
                  <a:srgbClr val="3E4658"/>
                </a:solidFill>
                <a:latin typeface="Calibri" pitchFamily="34" charset="0"/>
                <a:ea typeface="Calibri" pitchFamily="34" charset="-122"/>
                <a:cs typeface="Calibri" pitchFamily="34" charset="-120"/>
              </a:rPr>
              <a:t>[4]  TPI-LLM: Serving 70B-scale LLMs Efficiently on Low-resource Edge Devices. 2024. arXiv:2410.00531.</a:t>
            </a:r>
            <a:endParaRPr lang="en-US" sz="950" dirty="0"/>
          </a:p>
        </p:txBody>
      </p:sp>
      <p:sp>
        <p:nvSpPr>
          <p:cNvPr id="10" name="Shape 8"/>
          <p:cNvSpPr/>
          <p:nvPr/>
        </p:nvSpPr>
        <p:spPr>
          <a:xfrm>
            <a:off x="566928" y="3200400"/>
            <a:ext cx="11055096" cy="429768"/>
          </a:xfrm>
          <a:prstGeom prst="rect">
            <a:avLst/>
          </a:prstGeom>
          <a:solidFill>
            <a:srgbClr val="F7F8FA"/>
          </a:solidFill>
          <a:ln w="12700">
            <a:solidFill>
              <a:srgbClr val="333333"/>
            </a:solidFill>
            <a:prstDash val="solid"/>
          </a:ln>
        </p:spPr>
      </p:sp>
      <p:sp>
        <p:nvSpPr>
          <p:cNvPr id="11" name="Text 9"/>
          <p:cNvSpPr/>
          <p:nvPr/>
        </p:nvSpPr>
        <p:spPr>
          <a:xfrm>
            <a:off x="768096" y="3200400"/>
            <a:ext cx="10652760" cy="429768"/>
          </a:xfrm>
          <a:prstGeom prst="rect">
            <a:avLst/>
          </a:prstGeom>
          <a:noFill/>
          <a:ln/>
        </p:spPr>
        <p:txBody>
          <a:bodyPr wrap="square" lIns="0" tIns="0" rIns="0" bIns="0" rtlCol="0" anchor="ctr"/>
          <a:lstStyle/>
          <a:p>
            <a:pPr indent="0" marL="0">
              <a:buNone/>
            </a:pPr>
            <a:r>
              <a:rPr lang="en-US" sz="950" dirty="0">
                <a:solidFill>
                  <a:srgbClr val="3E4658"/>
                </a:solidFill>
                <a:latin typeface="Calibri" pitchFamily="34" charset="0"/>
                <a:ea typeface="Calibri" pitchFamily="34" charset="-122"/>
                <a:cs typeface="Calibri" pitchFamily="34" charset="-120"/>
              </a:rPr>
              <a:t>[5]  Prima.cpp: Fast 30-70B LLM Inference on Heterogeneous and Low-Resource Home Clusters. 2025. arXiv:2504.08791.</a:t>
            </a:r>
            <a:endParaRPr lang="en-US" sz="950" dirty="0"/>
          </a:p>
        </p:txBody>
      </p:sp>
      <p:sp>
        <p:nvSpPr>
          <p:cNvPr id="12" name="Text 10"/>
          <p:cNvSpPr/>
          <p:nvPr/>
        </p:nvSpPr>
        <p:spPr>
          <a:xfrm>
            <a:off x="768096" y="3657600"/>
            <a:ext cx="10652760" cy="429768"/>
          </a:xfrm>
          <a:prstGeom prst="rect">
            <a:avLst/>
          </a:prstGeom>
          <a:noFill/>
          <a:ln/>
        </p:spPr>
        <p:txBody>
          <a:bodyPr wrap="square" lIns="0" tIns="0" rIns="0" bIns="0" rtlCol="0" anchor="ctr"/>
          <a:lstStyle/>
          <a:p>
            <a:pPr indent="0" marL="0">
              <a:buNone/>
            </a:pPr>
            <a:r>
              <a:rPr lang="en-US" sz="950" dirty="0">
                <a:solidFill>
                  <a:srgbClr val="3E4658"/>
                </a:solidFill>
                <a:latin typeface="Calibri" pitchFamily="34" charset="0"/>
                <a:ea typeface="Calibri" pitchFamily="34" charset="-122"/>
                <a:cs typeface="Calibri" pitchFamily="34" charset="-120"/>
              </a:rPr>
              <a:t>[6]  Large Language Model Partitioning for Low-Latency Inference at the Edge. 2025. arXiv:2505.02533.</a:t>
            </a:r>
            <a:endParaRPr lang="en-US" sz="950" dirty="0"/>
          </a:p>
        </p:txBody>
      </p:sp>
      <p:sp>
        <p:nvSpPr>
          <p:cNvPr id="13" name="Shape 11"/>
          <p:cNvSpPr/>
          <p:nvPr/>
        </p:nvSpPr>
        <p:spPr>
          <a:xfrm>
            <a:off x="566928" y="4114800"/>
            <a:ext cx="11055096" cy="429768"/>
          </a:xfrm>
          <a:prstGeom prst="rect">
            <a:avLst/>
          </a:prstGeom>
          <a:solidFill>
            <a:srgbClr val="F7F8FA"/>
          </a:solidFill>
          <a:ln w="12700">
            <a:solidFill>
              <a:srgbClr val="333333"/>
            </a:solidFill>
            <a:prstDash val="solid"/>
          </a:ln>
        </p:spPr>
      </p:sp>
      <p:sp>
        <p:nvSpPr>
          <p:cNvPr id="14" name="Text 12"/>
          <p:cNvSpPr/>
          <p:nvPr/>
        </p:nvSpPr>
        <p:spPr>
          <a:xfrm>
            <a:off x="768096" y="4114800"/>
            <a:ext cx="10652760" cy="429768"/>
          </a:xfrm>
          <a:prstGeom prst="rect">
            <a:avLst/>
          </a:prstGeom>
          <a:noFill/>
          <a:ln/>
        </p:spPr>
        <p:txBody>
          <a:bodyPr wrap="square" lIns="0" tIns="0" rIns="0" bIns="0" rtlCol="0" anchor="ctr"/>
          <a:lstStyle/>
          <a:p>
            <a:pPr indent="0" marL="0">
              <a:buNone/>
            </a:pPr>
            <a:r>
              <a:rPr lang="en-US" sz="950" dirty="0">
                <a:solidFill>
                  <a:srgbClr val="3E4658"/>
                </a:solidFill>
                <a:latin typeface="Calibri" pitchFamily="34" charset="0"/>
                <a:ea typeface="Calibri" pitchFamily="34" charset="-122"/>
                <a:cs typeface="Calibri" pitchFamily="34" charset="-120"/>
              </a:rPr>
              <a:t>[7]  Parallax: Efficient LLM Inference Service over Decentralized Environment. 2025. arXiv:2509.26182.</a:t>
            </a:r>
            <a:endParaRPr lang="en-US" sz="950" dirty="0"/>
          </a:p>
        </p:txBody>
      </p:sp>
      <p:sp>
        <p:nvSpPr>
          <p:cNvPr id="15" name="Text 13"/>
          <p:cNvSpPr/>
          <p:nvPr/>
        </p:nvSpPr>
        <p:spPr>
          <a:xfrm>
            <a:off x="768096" y="4572000"/>
            <a:ext cx="10652760" cy="429768"/>
          </a:xfrm>
          <a:prstGeom prst="rect">
            <a:avLst/>
          </a:prstGeom>
          <a:noFill/>
          <a:ln/>
        </p:spPr>
        <p:txBody>
          <a:bodyPr wrap="square" lIns="0" tIns="0" rIns="0" bIns="0" rtlCol="0" anchor="ctr"/>
          <a:lstStyle/>
          <a:p>
            <a:pPr indent="0" marL="0">
              <a:buNone/>
            </a:pPr>
            <a:r>
              <a:rPr lang="en-US" sz="950" dirty="0">
                <a:solidFill>
                  <a:srgbClr val="3E4658"/>
                </a:solidFill>
                <a:latin typeface="Calibri" pitchFamily="34" charset="0"/>
                <a:ea typeface="Calibri" pitchFamily="34" charset="-122"/>
                <a:cs typeface="Calibri" pitchFamily="34" charset="-120"/>
              </a:rPr>
              <a:t>[8]  Adaptive layer splitting for wireless large language model inference in edge computing: a model-based reinforcement learning approach. Frontiers of Information Technology &amp; Electronic Engineering, Springer, 2025. doi:10.1631/FITEE.2400468.</a:t>
            </a:r>
            <a:endParaRPr lang="en-US" sz="950" dirty="0"/>
          </a:p>
        </p:txBody>
      </p:sp>
      <p:sp>
        <p:nvSpPr>
          <p:cNvPr id="16" name="Shape 14"/>
          <p:cNvSpPr/>
          <p:nvPr/>
        </p:nvSpPr>
        <p:spPr>
          <a:xfrm>
            <a:off x="566928" y="5029200"/>
            <a:ext cx="11055096" cy="429768"/>
          </a:xfrm>
          <a:prstGeom prst="rect">
            <a:avLst/>
          </a:prstGeom>
          <a:solidFill>
            <a:srgbClr val="F7F8FA"/>
          </a:solidFill>
          <a:ln w="12700">
            <a:solidFill>
              <a:srgbClr val="333333"/>
            </a:solidFill>
            <a:prstDash val="solid"/>
          </a:ln>
        </p:spPr>
      </p:sp>
      <p:sp>
        <p:nvSpPr>
          <p:cNvPr id="17" name="Text 15"/>
          <p:cNvSpPr/>
          <p:nvPr/>
        </p:nvSpPr>
        <p:spPr>
          <a:xfrm>
            <a:off x="768096" y="5029200"/>
            <a:ext cx="10652760" cy="429768"/>
          </a:xfrm>
          <a:prstGeom prst="rect">
            <a:avLst/>
          </a:prstGeom>
          <a:noFill/>
          <a:ln/>
        </p:spPr>
        <p:txBody>
          <a:bodyPr wrap="square" lIns="0" tIns="0" rIns="0" bIns="0" rtlCol="0" anchor="ctr"/>
          <a:lstStyle/>
          <a:p>
            <a:pPr indent="0" marL="0">
              <a:buNone/>
            </a:pPr>
            <a:r>
              <a:rPr lang="en-US" sz="950" dirty="0">
                <a:solidFill>
                  <a:srgbClr val="3E4658"/>
                </a:solidFill>
                <a:latin typeface="Calibri" pitchFamily="34" charset="0"/>
                <a:ea typeface="Calibri" pitchFamily="34" charset="-122"/>
                <a:cs typeface="Calibri" pitchFamily="34" charset="-120"/>
              </a:rPr>
              <a:t>[9]  Distributed LLMs and Multimodal Large Language Models: A Survey on Advances, Challenges, and Future Directions. 2025. arXiv:2503.16585.</a:t>
            </a:r>
            <a:endParaRPr lang="en-US" sz="950" dirty="0"/>
          </a:p>
        </p:txBody>
      </p:sp>
      <p:sp>
        <p:nvSpPr>
          <p:cNvPr id="18" name="Text 16"/>
          <p:cNvSpPr/>
          <p:nvPr/>
        </p:nvSpPr>
        <p:spPr>
          <a:xfrm>
            <a:off x="768096" y="5486400"/>
            <a:ext cx="10652760" cy="429768"/>
          </a:xfrm>
          <a:prstGeom prst="rect">
            <a:avLst/>
          </a:prstGeom>
          <a:noFill/>
          <a:ln/>
        </p:spPr>
        <p:txBody>
          <a:bodyPr wrap="square" lIns="0" tIns="0" rIns="0" bIns="0" rtlCol="0" anchor="ctr"/>
          <a:lstStyle/>
          <a:p>
            <a:pPr indent="0" marL="0">
              <a:buNone/>
            </a:pPr>
            <a:r>
              <a:rPr lang="en-US" sz="950" dirty="0">
                <a:solidFill>
                  <a:srgbClr val="3E4658"/>
                </a:solidFill>
                <a:latin typeface="Calibri" pitchFamily="34" charset="0"/>
                <a:ea typeface="Calibri" pitchFamily="34" charset="-122"/>
                <a:cs typeface="Calibri" pitchFamily="34" charset="-120"/>
              </a:rPr>
              <a:t>[10] Towards Agentic OS: An LLM Agent Framework for Linux Schedulers. 2025. arXiv:2509.01245.</a:t>
            </a:r>
            <a:endParaRPr lang="en-US" sz="950" dirty="0"/>
          </a:p>
        </p:txBody>
      </p:sp>
      <p:sp>
        <p:nvSpPr>
          <p:cNvPr id="19" name="Text 17"/>
          <p:cNvSpPr/>
          <p:nvPr/>
        </p:nvSpPr>
        <p:spPr>
          <a:xfrm>
            <a:off x="566928" y="6080760"/>
            <a:ext cx="10607040"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Tools used: cilium/ebpf · Kubernetes controller-runtime · NVIDIA NVML · k3s · Hugging Face Transformers (GPT-2).</a:t>
            </a:r>
            <a:endParaRPr lang="en-US" sz="900" dirty="0"/>
          </a:p>
        </p:txBody>
      </p:sp>
      <p:sp>
        <p:nvSpPr>
          <p:cNvPr id="20" name="Text 18"/>
          <p:cNvSpPr/>
          <p:nvPr/>
        </p:nvSpPr>
        <p:spPr>
          <a:xfrm>
            <a:off x="11073384" y="6382512"/>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KubeEdgeInfer</dc:title>
  <dc:subject>PptxGenJS Presentation</dc:subject>
  <dc:creator>KubeEdgeInfer</dc:creator>
  <cp:lastModifiedBy>KubeEdgeInfer</cp:lastModifiedBy>
  <cp:revision>1</cp:revision>
  <dcterms:created xsi:type="dcterms:W3CDTF">2026-08-17T06:06:13Z</dcterms:created>
  <dcterms:modified xsi:type="dcterms:W3CDTF">2026-08-17T06:06:13Z</dcterms:modified>
</cp:coreProperties>
</file>