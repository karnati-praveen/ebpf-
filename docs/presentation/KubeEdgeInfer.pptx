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182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41821"/>
                </a:solidFill>
                <a:latin typeface="Calibri"/>
              </a:rPr>
              <a:t>Per-token bottleneck cost (ms) -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KubeEdgeInfer (live telemetry)</c:v>
                </c:pt>
              </c:strCache>
            </c:strRef>
          </c:tx>
          <c:spPr>
            <a:solidFill>
              <a:srgbClr val="1F8A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4A526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Thermal
throttle</c:v>
                  </c:pt>
                  <c:pt idx="2">
                    <c:v>Network
degradation</c:v>
                  </c:pt>
                  <c:pt idx="3">
                    <c:v>Thermal +
network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52</c:v>
                </c:pt>
                <c:pt idx="2">
                  <c:v>62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Profile-once (offline profiling)</c:v>
                </c:pt>
              </c:strCache>
            </c:strRef>
          </c:tx>
          <c:spPr>
            <a:solidFill>
              <a:srgbClr val="E07B3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4A526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Thermal
throttle</c:v>
                  </c:pt>
                  <c:pt idx="2">
                    <c:v>Network
degradation</c:v>
                  </c:pt>
                  <c:pt idx="3">
                    <c:v>Thermal +
network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42</c:v>
                </c:pt>
                <c:pt idx="1">
                  <c:v>102</c:v>
                </c:pt>
                <c:pt idx="2">
                  <c:v>122</c:v>
                </c:pt>
                <c:pt idx="3">
                  <c:v>182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Static equal split</c:v>
                </c:pt>
              </c:strCache>
            </c:strRef>
          </c:tx>
          <c:spPr>
            <a:solidFill>
              <a:srgbClr val="B6BDC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4A526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Thermal
throttle</c:v>
                  </c:pt>
                  <c:pt idx="2">
                    <c:v>Network
degradation</c:v>
                  </c:pt>
                  <c:pt idx="3">
                    <c:v>Thermal +
network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42</c:v>
                </c:pt>
                <c:pt idx="1">
                  <c:v>102</c:v>
                </c:pt>
                <c:pt idx="2">
                  <c:v>122</c:v>
                </c:pt>
                <c:pt idx="3">
                  <c:v>182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4A526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4A526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12700" cap="flat">
              <a:solidFill>
                <a:srgbClr val="E8EA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26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A526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in author, institution and date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problem: the split decision is made once, but the hardware it was made for does not stay still.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row: what the paper contributes, and the specific limitation KubeEdgeInfer addresses.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row: what the paper contributes, and the specific limitation KubeEdgeInfer addresses.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gap slide: every column has one of the four capabilities, none has all of them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problem formally, then break it into the four sub-problems that map onto the four loop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that the DP itself is classical - the novelty is the loop it sits inside and the telemetry that feeds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loop left to right, then emphasise that the dashed return arrow is what the related work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DP is textbook. The contribution on this slide is the hysteresis that makes re-solving safe to do continuously.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that the eBPF layer is genuinely loaded into the kernel; only the GPU reader has a simulated option.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DP's own objective values, reproducible with `go run ./bench/dpsim`. Profile-once matches static here because the pre-fault cluster is homogeneous - it differs only in that it still heals on node loss.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netem row is the most interesting result: the exact optimiser drops a node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careful and honest here: the gain column measures different quantities across systems. Say so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one-line thesis, then the honest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works, all 2024-2025.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371600"/>
            <a:ext cx="5120640" cy="5120640"/>
          </a:xfrm>
          <a:prstGeom prst="ellipse">
            <a:avLst/>
          </a:prstGeom>
          <a:solidFill>
            <a:srgbClr val="232A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840480"/>
            <a:ext cx="2743200" cy="2743200"/>
          </a:xfrm>
          <a:prstGeom prst="ellipse">
            <a:avLst/>
          </a:prstGeom>
          <a:solidFill>
            <a:srgbClr val="232A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4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KUBEEDGEINFER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82880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Closed-Loop, eBPF-Driven Kubernetes Framework for Heterogeneous Distributed LLM Inference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03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B9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one-time model split into a continuous, self-correcting decision driven by kernel-level measurements.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4800600"/>
            <a:ext cx="1828800" cy="402336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80060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eBPF / CO-RE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23744" y="4800600"/>
            <a:ext cx="1828800" cy="402336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23744" y="480060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operator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1828800" cy="402336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80060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parallelism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37376" y="4800600"/>
            <a:ext cx="1828800" cy="402336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480060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edge hardware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6928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Presentation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1081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  •  Institution:  •  Date: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LLM inference is a moving target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858000" cy="1298448"/>
          </a:xfrm>
          <a:prstGeom prst="roundRect">
            <a:avLst>
              <a:gd name="adj" fmla="val 4930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55648"/>
            <a:ext cx="310896" cy="310896"/>
          </a:xfrm>
          <a:prstGeom prst="ellipse">
            <a:avLst/>
          </a:prstGeom>
          <a:solidFill>
            <a:srgbClr val="1F8A80"/>
          </a:solidFill>
          <a:ln w="12700">
            <a:solidFill>
              <a:srgbClr val="1F8A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280160" y="168249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split at all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280160" y="1993392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7B+ model does not fit on one consumer device. Pipeline parallelism spreads contiguous layer ranges across several machines, so the split point is the central performance decision.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962656"/>
            <a:ext cx="6858000" cy="1298448"/>
          </a:xfrm>
          <a:prstGeom prst="roundRect">
            <a:avLst>
              <a:gd name="adj" fmla="val 4930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41248" y="3236976"/>
            <a:ext cx="310896" cy="310896"/>
          </a:xfrm>
          <a:prstGeom prst="ellipse">
            <a:avLst/>
          </a:prstGeom>
          <a:solidFill>
            <a:srgbClr val="1F8A80"/>
          </a:solidFill>
          <a:ln w="12700">
            <a:solidFill>
              <a:srgbClr val="1F8A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280160" y="316382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edge is different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280160" y="347472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schedulers assume stable, homogeneous, well-cooled nodes. An edge cluster is laptops and hobby GPU boxes on WiFi: they thermally throttle, their links wander, and they disappear.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443984"/>
            <a:ext cx="6858000" cy="1298448"/>
          </a:xfrm>
          <a:prstGeom prst="roundRect">
            <a:avLst>
              <a:gd name="adj" fmla="val 4930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4718304"/>
            <a:ext cx="310896" cy="310896"/>
          </a:xfrm>
          <a:prstGeom prst="ellipse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18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280160" y="46451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existing frameworks do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280160" y="4956048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profile once, solve the placement problem once, and never revisit it. The plan is optimal for the machine state at t = 0 and progressively wrong afterwards.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882128" y="1481328"/>
            <a:ext cx="3739896" cy="4224528"/>
          </a:xfrm>
          <a:prstGeom prst="roundRect">
            <a:avLst>
              <a:gd name="adj" fmla="val 1711"/>
            </a:avLst>
          </a:prstGeom>
          <a:solidFill>
            <a:srgbClr val="141821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56448" y="17556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156448" y="21579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2.4x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8156448" y="270662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bottleneck-stage cost inflicted by a single throttled node under a frozen split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156448" y="33649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4.3x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8156448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degraded link and a throttled GPU coincide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156448" y="45720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156448" y="512064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served once a node dies and nothing re-plans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partitioner-level evaluation on slide 11 (12 layers, 3 stages).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(1 OF 2)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Partitioning and placement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11055096" cy="877824"/>
          </a:xfrm>
          <a:prstGeom prst="roundRect">
            <a:avLst>
              <a:gd name="adj" fmla="val 7292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EdgeShard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185623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IoT-J, 2024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04825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arXiv:2405.14371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36976" y="1563624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device selection + layer partition by dynamic programming across collaborative edge devices. Up to 50% latency reduction, 2x throughput on Llama2 over 15 physical devices.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626096" y="1828800"/>
            <a:ext cx="118872" cy="118872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45552" y="1563624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device speed and bandwidth offline; the DP runs on that static profile.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414016"/>
            <a:ext cx="11055096" cy="877824"/>
          </a:xfrm>
          <a:prstGeom prst="roundRect">
            <a:avLst>
              <a:gd name="adj" fmla="val 7292"/>
            </a:avLst>
          </a:prstGeom>
          <a:solidFill>
            <a:srgbClr val="F7F8F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2542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04672" y="282549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INFOCOM, 2024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" y="30175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arXiv:2405.17245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236976" y="2532888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tensor/sequence parallelism for in-situ Transformer inference, with heterogeneity-aware planning and tile-based compute/communication overlap. Up to 2.5x lower latency.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096" y="2798064"/>
            <a:ext cx="118872" cy="118872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45552" y="2532888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is a one-shot offline step; no runtime re-planning under drift.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3383280"/>
            <a:ext cx="11055096" cy="877824"/>
          </a:xfrm>
          <a:prstGeom prst="roundRect">
            <a:avLst>
              <a:gd name="adj" fmla="val 7292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04672" y="35112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Helix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04672" y="37947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ASPLOS, 2025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04672" y="3986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arXiv:2406.01566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236976" y="3502152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heterogeneous GPU serving as max-flow on a weighted graph and solves placement + request scheduling jointly by MILP. Up to 3.3x throughput on 24-42 node clusters.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626096" y="3767328"/>
            <a:ext cx="118872" cy="118872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45552" y="3502152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Datacenter-scale GPUs; MILP is too heavy for a seconds-scale control loop.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352544"/>
            <a:ext cx="11055096" cy="877824"/>
          </a:xfrm>
          <a:prstGeom prst="roundRect">
            <a:avLst>
              <a:gd name="adj" fmla="val 7292"/>
            </a:avLst>
          </a:prstGeom>
          <a:solidFill>
            <a:srgbClr val="F7F8F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04672" y="4480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TPI-LLM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4672" y="476402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arXiv, 2024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4672" y="49560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arXiv:2410.00531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236976" y="4471416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Argues tensor parallelism beats pipeline on low-resource devices; sliding-window memory scheduler and star-based allreduce keep 70B-scale weights moving through small RAM.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26096" y="4736592"/>
            <a:ext cx="118872" cy="118872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45552" y="4471416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Optimises memory and collectives, not adaptation to node degradation.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6928" y="5321808"/>
            <a:ext cx="11055096" cy="877824"/>
          </a:xfrm>
          <a:prstGeom prst="roundRect">
            <a:avLst>
              <a:gd name="adj" fmla="val 7292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04672" y="54498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prima.cpp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04672" y="57332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arXiv, 2025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04672" y="59253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arXiv:2504.08791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236976" y="5440680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30-70B inference on real home clusters: Halda scheduler co-optimises CPU/GPU workload and device selection; pipelined-ring parallelism hides disk I/O. 5-17x lower TPOT than llama.cpp.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26096" y="5705856"/>
            <a:ext cx="118872" cy="118872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45552" y="5440680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is decided at load time from static device capability.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45552" y="11978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 relevant to this work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36976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66928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works published 2024-2025; full citations on slide 15.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(2 OF 2)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Adaptation, decentralisation, and eBPF as control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11055096" cy="877824"/>
          </a:xfrm>
          <a:prstGeom prst="roundRect">
            <a:avLst>
              <a:gd name="adj" fmla="val 7292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Partitioning at the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185623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arXiv, 2025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04825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arXiv:2505.02533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36976" y="1563624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Partitions the decoder at attention-head granularity, co-locating each head with its K/V cache and migrating heads when memory tightens. Within 15-20% of an exact solver.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626096" y="1828800"/>
            <a:ext cx="118872" cy="118872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45552" y="1563624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is triggered by memory pressure only - not thermal or network state.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414016"/>
            <a:ext cx="11055096" cy="877824"/>
          </a:xfrm>
          <a:prstGeom prst="roundRect">
            <a:avLst>
              <a:gd name="adj" fmla="val 7292"/>
            </a:avLst>
          </a:prstGeom>
          <a:solidFill>
            <a:srgbClr val="F7F8F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2542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Parallax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04672" y="282549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arXiv, 2025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" y="30175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arXiv:2509.26182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236976" y="2532888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service over a decentralised pool of volunteer, non-uniform machines, addressing placement and routing without a central trusted cluster.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096" y="2798064"/>
            <a:ext cx="118872" cy="118872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45552" y="2532888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Decentralised placement, but no kernel-level measurement substrate.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3383280"/>
            <a:ext cx="11055096" cy="877824"/>
          </a:xfrm>
          <a:prstGeom prst="roundRect">
            <a:avLst>
              <a:gd name="adj" fmla="val 7292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04672" y="35112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Layer Splitting (MBRL)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04672" y="37947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FITEE, Springer, 2025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04672" y="3986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doi:10.1631/FITEE.2400468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236976" y="3502152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 reinforcement learning chooses the split point for wireless LLM inference as channel quality varies - explicitly an adaptive, not one-shot, formulation.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626096" y="3767328"/>
            <a:ext cx="118872" cy="118872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45552" y="3502152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policy needs training and gives no optimality guarantee; single split point.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352544"/>
            <a:ext cx="11055096" cy="877824"/>
          </a:xfrm>
          <a:prstGeom prst="roundRect">
            <a:avLst>
              <a:gd name="adj" fmla="val 7292"/>
            </a:avLst>
          </a:prstGeom>
          <a:solidFill>
            <a:srgbClr val="F7F8F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04672" y="4480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LLMs &amp; MLLMs Survey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4672" y="476402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arXiv, 2025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4672" y="49560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arXiv:2503.16585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236976" y="4471416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of distributed inference across advances, challenges and directions; names dynamic adaptation under heterogeneity as an open problem.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26096" y="4736592"/>
            <a:ext cx="118872" cy="118872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45552" y="4471416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gap this work targets rather than filling it.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6928" y="5321808"/>
            <a:ext cx="11055096" cy="877824"/>
          </a:xfrm>
          <a:prstGeom prst="roundRect">
            <a:avLst>
              <a:gd name="adj" fmla="val 7292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04672" y="54498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OS / sched_ext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04672" y="57332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arXiv, 2025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04672" y="59253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arXiv:2509.01245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236976" y="5440680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Linux schedulers loaded at runtime as eBPF programs (sched_ext, Linux 6.12) - evidence that eBPF is becoming a control substrate, not only an observability one.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26096" y="5705856"/>
            <a:ext cx="118872" cy="118872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45552" y="5440680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CPU tasks on one host; no notion of a distributed model pipeline.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45552" y="11978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 relevant to this work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36976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66928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works published 2024-2025; full citations on slide 15.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literature stops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055096" cy="621792"/>
          </a:xfrm>
          <a:prstGeom prst="roundRect">
            <a:avLst>
              <a:gd name="adj" fmla="val 7353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3040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703320" y="1463040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serving</a:t>
            </a:r>
            <a:endParaRPr lang="en-US" sz="950" dirty="0"/>
          </a:p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(Helix)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257800" y="1463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partitioning</a:t>
            </a:r>
            <a:endParaRPr lang="en-US" sz="950" dirty="0"/>
          </a:p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(EdgeShard, Galaxy, prima.cpp)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726680" y="1463040"/>
            <a:ext cx="18105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splitting</a:t>
            </a:r>
            <a:endParaRPr lang="en-US" sz="950" dirty="0"/>
          </a:p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(MBRL, head-level)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601200" y="146304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KubeEdgeInfer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2103120"/>
            <a:ext cx="11055096" cy="530352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03120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Heterogeneity-aware placement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03320" y="21031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57800" y="210312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26680" y="2103120"/>
            <a:ext cx="1810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0" y="210312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" y="2670048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optimum for a snapshot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703320" y="2670048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57800" y="26700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26680" y="2670048"/>
            <a:ext cx="1810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(learned / heuristic)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601200" y="26700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DP, unit-tested vs brute force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3236976"/>
            <a:ext cx="11055096" cy="530352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236976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Re-plans while serving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3236976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routing only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257800" y="323697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26680" y="3236976"/>
            <a:ext cx="1810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601200" y="323697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every 2 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3803904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Kernel-measured network input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03320" y="3803904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7800" y="38039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user-space probes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6680" y="3803904"/>
            <a:ext cx="1810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estimate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601200" y="380390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eBPF tp_btf/tcp_probe sRTT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4370832"/>
            <a:ext cx="11055096" cy="530352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370832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/ throttle input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703320" y="4370832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57800" y="437083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726680" y="4370832"/>
            <a:ext cx="1810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1200" y="437083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NVML or /sys/class/thermal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6928" y="4937760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node loss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703320" y="49377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25780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726680" y="4937760"/>
            <a:ext cx="1810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601200" y="49377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heartbeat-forced repartition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5504688"/>
            <a:ext cx="11055096" cy="530352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" y="5504688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without restart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703320" y="5504688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257800" y="550468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26680" y="5504688"/>
            <a:ext cx="1810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601200" y="55046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hot reassign, generation-fenced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9509760" y="1463040"/>
            <a:ext cx="2112264" cy="4553712"/>
          </a:xfrm>
          <a:prstGeom prst="roundRect">
            <a:avLst>
              <a:gd name="adj" fmla="val 2165"/>
            </a:avLst>
          </a:prstGeom>
          <a:solidFill>
            <a:srgbClr val="1F8A80">
              <a:alpha val="8000"/>
            </a:srgbClr>
          </a:solidFill>
          <a:ln w="15875">
            <a:solidFill>
              <a:srgbClr val="1F8A8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6928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system closes the loop from kernel-level measurement back to the layer split while inference is running.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097280"/>
            <a:ext cx="4206240" cy="4206240"/>
          </a:xfrm>
          <a:prstGeom prst="ellipse">
            <a:avLst/>
          </a:prstGeom>
          <a:solidFill>
            <a:srgbClr val="232A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N transformer layers and K heterogeneous edge nodes whose compute speed, link latency and liveness all vary during inference, continuously maintain a contiguous layer assignment that minimises the bottleneck stage - without restarting the pipeline.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3246120"/>
            <a:ext cx="310896" cy="310896"/>
          </a:xfrm>
          <a:prstGeom prst="ellipse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05840" y="32278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354787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per-flow latency and per-node thermal state cheaply and without instrumenting the inference code.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98848" y="3246120"/>
            <a:ext cx="310896" cy="310896"/>
          </a:xfrm>
          <a:prstGeom prst="ellipse">
            <a:avLst/>
          </a:prstGeom>
          <a:solidFill>
            <a:srgbClr val="1F8A80"/>
          </a:solidFill>
          <a:ln w="12700">
            <a:solidFill>
              <a:srgbClr val="1F8A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32278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354787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the placement exactly at telemetry rate, and suppress oscillation when the measurement is merely noisy.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4617720"/>
            <a:ext cx="310896" cy="310896"/>
          </a:xfrm>
          <a:prstGeom prst="ellipse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617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05840" y="4599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491947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layer ranges between live workers without dropping in-flight requests or restarting pods.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498848" y="4617720"/>
            <a:ext cx="310896" cy="310896"/>
          </a:xfrm>
          <a:prstGeom prst="ellipse">
            <a:avLst/>
          </a:prstGeom>
          <a:solidFill>
            <a:srgbClr val="1F8A80"/>
          </a:solidFill>
          <a:ln w="12700">
            <a:solidFill>
              <a:srgbClr val="1F8A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4617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37760" y="4599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491947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node loss and redistribute its layers across the survivors automatically.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686800" y="3063240"/>
            <a:ext cx="2926080" cy="2743200"/>
          </a:xfrm>
          <a:prstGeom prst="roundRect">
            <a:avLst>
              <a:gd name="adj" fmla="val 2667"/>
            </a:avLst>
          </a:prstGeom>
          <a:solidFill>
            <a:srgbClr val="232A38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0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61188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2C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Commodity Linux only.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2C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datacenter interconnect, no vendor telemetry agent, no change to the model code, and no assumption that a node stays alive.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5577840" cy="1316736"/>
          </a:xfrm>
          <a:prstGeom prst="roundRect">
            <a:avLst>
              <a:gd name="adj" fmla="val 4861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00784"/>
            <a:ext cx="310896" cy="310896"/>
          </a:xfrm>
          <a:prstGeom prst="ellipse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00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261872" y="16276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telemetry as a scheduling input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261872" y="1947672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CO-RE eBPF programs (tp_btf/tcp_probe, fentry/tcp_sendmsg) feed per-flow smoothed RTT straight into a model-placement decision. Prior edge-LLM systems use user-space probes or offline profiles; none drives the partitioner from the kernel's own TCP state.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2926080"/>
            <a:ext cx="5577840" cy="1316736"/>
          </a:xfrm>
          <a:prstGeom prst="roundRect">
            <a:avLst>
              <a:gd name="adj" fmla="val 4861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182112"/>
            <a:ext cx="310896" cy="310896"/>
          </a:xfrm>
          <a:prstGeom prst="ellipse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182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261872" y="310896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loop, not a one-shot plan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61872" y="3429000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WATCH-DECIDE-ACT-HEAL runs every 2 s for the lifetime of the deployment. The split is a continuously maintained control variable rather than a deployment-time constant.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66928" y="4407408"/>
            <a:ext cx="5577840" cy="1316736"/>
          </a:xfrm>
          <a:prstGeom prst="roundRect">
            <a:avLst>
              <a:gd name="adj" fmla="val 4861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663440"/>
            <a:ext cx="310896" cy="310896"/>
          </a:xfrm>
          <a:prstGeom prst="ellipse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261872" y="45902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Hysteresis-gated exact optimisation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261872" y="4910328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O(N^2 K) DP is exact for each snapshot; a 15% improvement threshold plus a 30 s cooldown converts it into a stable controller. One gate handles thermal, network and failure triggers alike.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373368" y="1444752"/>
            <a:ext cx="5577840" cy="1316736"/>
          </a:xfrm>
          <a:prstGeom prst="roundRect">
            <a:avLst>
              <a:gd name="adj" fmla="val 4861"/>
            </a:avLst>
          </a:prstGeom>
          <a:solidFill>
            <a:srgbClr val="F7F8F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1700784"/>
            <a:ext cx="310896" cy="310896"/>
          </a:xfrm>
          <a:prstGeom prst="ellipse">
            <a:avLst/>
          </a:prstGeom>
          <a:solidFill>
            <a:srgbClr val="1F8A80"/>
          </a:solidFill>
          <a:ln w="12700">
            <a:solidFill>
              <a:srgbClr val="1F8A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1700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068312" y="16276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Restart-free, generation-fenced reassignment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068312" y="1947672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ranges move over gRPC while requests are in flight. Every assignment carries a generation; workers reject stale forwards and the stateless design makes context replay trivially correct.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373368" y="2926080"/>
            <a:ext cx="5577840" cy="1316736"/>
          </a:xfrm>
          <a:prstGeom prst="roundRect">
            <a:avLst>
              <a:gd name="adj" fmla="val 4861"/>
            </a:avLst>
          </a:prstGeom>
          <a:solidFill>
            <a:srgbClr val="F7F8F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29400" y="3182112"/>
            <a:ext cx="310896" cy="310896"/>
          </a:xfrm>
          <a:prstGeom prst="ellipse">
            <a:avLst/>
          </a:prstGeom>
          <a:solidFill>
            <a:srgbClr val="1F8A80"/>
          </a:solidFill>
          <a:ln w="12700">
            <a:solidFill>
              <a:srgbClr val="1F8A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3182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068312" y="310896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ablation that isolates continuous telemetry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068312" y="3429000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profile-once mode reuses the same DP and apply path but freezes its inputs, approximating offline-profiling systems - so the measured gain is attributable to live telemetry, not to a better solver.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373368" y="4407408"/>
            <a:ext cx="5577840" cy="1316736"/>
          </a:xfrm>
          <a:prstGeom prst="roundRect">
            <a:avLst>
              <a:gd name="adj" fmla="val 4861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629400" y="4572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novelty claim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29400" y="4882896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3D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better partitioning algorithm - the same classical DP the literature already uses, placed inside a kernel-measured feedback loop that never stops running.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Amber-numbered items are the primary novelty claims.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closed loop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578608" cy="3200400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81328"/>
            <a:ext cx="2578608" cy="3200400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2700">
            <a:solidFill>
              <a:srgbClr val="D8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719072"/>
            <a:ext cx="384048" cy="384048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98448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eBPF + NVML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" y="2377440"/>
            <a:ext cx="212140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tp_btf/tcp_probe gives per-flow sRTT and fentry/tcp_sendmsg gives throughput. GPU temperature and derated speed come from NVML or /sys/class/thermal.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4672" y="41605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internal/ebpf + cmd/nodeagent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00400" y="2944368"/>
            <a:ext cx="146304" cy="274320"/>
          </a:xfrm>
          <a:prstGeom prst="rightArrow">
            <a:avLst/>
          </a:prstGeom>
          <a:solidFill>
            <a:srgbClr val="B6BD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1481328"/>
            <a:ext cx="2578608" cy="3200400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83280" y="1481328"/>
            <a:ext cx="2578608" cy="3200400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2700">
            <a:solidFill>
              <a:srgbClr val="D8DC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21024" y="1719072"/>
            <a:ext cx="384048" cy="384048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2102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114800" y="20116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partition DP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21024" y="2377440"/>
            <a:ext cx="212140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O(N^2 K) minimisation of the bottleneck stage cost, gated by a 15% improvement threshold and a 30 s cooldown.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21024" y="41605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internal/partition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6016752" y="2944368"/>
            <a:ext cx="146304" cy="274320"/>
          </a:xfrm>
          <a:prstGeom prst="rightArrow">
            <a:avLst/>
          </a:prstGeom>
          <a:solidFill>
            <a:srgbClr val="B6BD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9632" y="1481328"/>
            <a:ext cx="2578608" cy="3200400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99632" y="1481328"/>
            <a:ext cx="2578608" cy="3200400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2700">
            <a:solidFill>
              <a:srgbClr val="D8DC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37376" y="1719072"/>
            <a:ext cx="384048" cy="384048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37376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31152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931152" y="20116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controller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37376" y="2377440"/>
            <a:ext cx="212140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Hot-reassigns layer ranges over gRPC with no pod restart, recording state in the InferencePipeline CRD with a monotonic generation.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37376" y="41605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cmd/controller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8833104" y="2944368"/>
            <a:ext cx="146304" cy="274320"/>
          </a:xfrm>
          <a:prstGeom prst="rightArrow">
            <a:avLst/>
          </a:prstGeom>
          <a:solidFill>
            <a:srgbClr val="B6BD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15984" y="1481328"/>
            <a:ext cx="2578608" cy="3200400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015984" y="1481328"/>
            <a:ext cx="2578608" cy="3200400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2700">
            <a:solidFill>
              <a:srgbClr val="D8DC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53728" y="1719072"/>
            <a:ext cx="384048" cy="384048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37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747504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9747504" y="20116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 watchdog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253728" y="2377440"/>
            <a:ext cx="212140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 s stale heartbeat marks a node gone and forces an immediate repartition across the surviving workers, bypassing hysteresis.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253728" y="41605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internal/controller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 flipH="1">
            <a:off x="1115568" y="4956048"/>
            <a:ext cx="10515600" cy="0"/>
          </a:xfrm>
          <a:prstGeom prst="line">
            <a:avLst/>
          </a:prstGeom>
          <a:noFill/>
          <a:ln w="15875">
            <a:solidFill>
              <a:srgbClr val="B6BDCA"/>
            </a:solidFill>
            <a:prstDash val="dash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66928" y="5029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repeats every 2 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55096" cy="658368"/>
          </a:xfrm>
          <a:prstGeom prst="roundRect">
            <a:avLst>
              <a:gd name="adj" fmla="val 8333"/>
            </a:avLst>
          </a:prstGeom>
          <a:solidFill>
            <a:srgbClr val="F1F3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2960" y="55321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Consistency: every assignment carries a generation. Workers reject stale-generation forwards; the router refetches the layout and replays the accumulated context. Workers are stateless, so replay is trivially correct.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Formulation and stability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6276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41248" y="193852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minimise  max   cost(i)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i in 1..K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5786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E46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cost(i) = layers(i) x perLayerMs / speed(i)  +  linkMs(i-1)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5074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to contiguous, non-overlapping ranges covering all N layers. An empty stage costs nothing - so the DP may bypass a worker entirely when its link has degraded past the value of its compute.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3877056"/>
            <a:ext cx="5577840" cy="1828800"/>
          </a:xfrm>
          <a:prstGeom prst="roundRect">
            <a:avLst>
              <a:gd name="adj" fmla="val 3500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1248" y="4041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4352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f[j][w] = min over split of  max( f[split][w-1], cost(w, j - split) 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1248" y="4681728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linear-partition recurrence: minimal bottleneck for the first j layers over the first w workers. O(N^2 K) - about 1.7k operations for N=12, K=3, so re-solving at 0.5 Hz is free. Verified against brute force on 200 randomised instances.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1444752"/>
            <a:ext cx="5175504" cy="4261104"/>
          </a:xfrm>
          <a:prstGeom prst="roundRect">
            <a:avLst>
              <a:gd name="adj" fmla="val 1502"/>
            </a:avLst>
          </a:prstGeom>
          <a:solidFill>
            <a:srgbClr val="141821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1664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bare optimiser is not a controller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20840" y="2011680"/>
            <a:ext cx="4626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is noisy. Re-applying the argmin on every 2 s tick would thrash the pipeline for sub-millisecond gains. Three rules turn the optimiser into a stable controller: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20840" y="2962656"/>
            <a:ext cx="237744" cy="23774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8312" y="29260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threshold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068312" y="3200400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only if the new split beats the current one, re-evaluated under current telemetry, by 15%.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20840" y="3895344"/>
            <a:ext cx="237744" cy="23774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68312" y="38587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Cooldown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068312" y="4133088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most one change per 30 s, so a transient spike cannot start an oscillation.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20840" y="4828032"/>
            <a:ext cx="237744" cy="237744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8312" y="47914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override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068312" y="5065776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changed worker set bypasses both gates and repartitions immediately - correctness beats stability.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720840" y="5760720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6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Both thresholds are tunable live via IMPROVEMENT_FRAC and COOLDOWN_S.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6903720" cy="950976"/>
          </a:xfrm>
          <a:prstGeom prst="roundRect">
            <a:avLst>
              <a:gd name="adj" fmla="val 6731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73936"/>
            <a:ext cx="274320" cy="274320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agent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207008" y="18653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+ C (CO-RE BPF)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493008" y="157276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DaemonSet. Attaches tp_btf/tcp_probe and fentry/tcp_sendmsg, filtered to worker ports, and exports per-flow sRTT plus GPU state through a pluggable gpu.Reader (simulated / cputherm / nvml).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2523744"/>
            <a:ext cx="6903720" cy="950976"/>
          </a:xfrm>
          <a:prstGeom prst="roundRect">
            <a:avLst>
              <a:gd name="adj" fmla="val 6731"/>
            </a:avLst>
          </a:prstGeom>
          <a:solidFill>
            <a:srgbClr val="F7F8F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" y="2852928"/>
            <a:ext cx="274320" cy="274320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2670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207008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Go, controller-runtime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493008" y="26517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telemetry, runs the Decider, writes assignments into the InferencePipeline CRD and pushes them to workers over gRPC. Watchdog forces repartition on a 3 s stale heartbeat.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6903720" cy="950976"/>
          </a:xfrm>
          <a:prstGeom prst="roundRect">
            <a:avLst>
              <a:gd name="adj" fmla="val 6731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931920"/>
            <a:ext cx="274320" cy="274320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07008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+ router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207008" y="40233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93008" y="373075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shard servers with pluggable sim and gpt2 backends, on WORKER_DEVICE=auto|cuda|cpu. The router drives stages hub-and-spoke and replays context on a generation mismatch.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681728"/>
            <a:ext cx="6903720" cy="950976"/>
          </a:xfrm>
          <a:prstGeom prst="roundRect">
            <a:avLst>
              <a:gd name="adj" fmla="val 6731"/>
            </a:avLst>
          </a:prstGeom>
          <a:solidFill>
            <a:srgbClr val="F7F8F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4672" y="5010912"/>
            <a:ext cx="274320" cy="274320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07008" y="4828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harness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207008" y="51023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493008" y="4809744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fault scenarios x three modes, measuring bubble time, tokens/s and TTFT; plus a hysteresis sweep and a predicted-vs-measured fidelity check.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772400" y="1444752"/>
            <a:ext cx="3849624" cy="4242816"/>
          </a:xfrm>
          <a:prstGeom prst="roundRect">
            <a:avLst>
              <a:gd name="adj" fmla="val 1663"/>
            </a:avLst>
          </a:prstGeom>
          <a:solidFill>
            <a:srgbClr val="141821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046720" y="16642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reality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46720" y="2139696"/>
            <a:ext cx="100584" cy="10058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66176" y="2084832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eBPF is real, not simulated - CO-RE against the host BTF, loaded with cilium/ebpf.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46720" y="2862072"/>
            <a:ext cx="100584" cy="10058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66176" y="280720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gives one host: real eBPF, loopback network, simulated GPU.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46720" y="3584448"/>
            <a:ext cx="100584" cy="10058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66176" y="352958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k3s scripts turn laptops and GPU boxes on a LAN into the same cluster with zero YAML editing.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046720" y="4306824"/>
            <a:ext cx="100584" cy="10058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66176" y="425196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GPU_MODE=nvml on NVIDIA nodes; GPU_MODE=cputherm reads /sys/class/thermal on GPU-less laptops.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46720" y="5029200"/>
            <a:ext cx="100584" cy="10058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66176" y="4974336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GPT-2 output is token-identical to single-process HuggingFace.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Bottleneck-stage cost under injected faults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371600"/>
          <a:ext cx="70866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572768"/>
            <a:ext cx="3803904" cy="1097280"/>
          </a:xfrm>
          <a:prstGeom prst="roundRect">
            <a:avLst>
              <a:gd name="adj" fmla="val 5833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92440" y="170078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418320" y="179222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both baselines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thermal throttle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818120" y="2816352"/>
            <a:ext cx="3803904" cy="1097280"/>
          </a:xfrm>
          <a:prstGeom prst="roundRect">
            <a:avLst>
              <a:gd name="adj" fmla="val 5833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92440" y="294436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9418320" y="303580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both baselines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link degradation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18120" y="4059936"/>
            <a:ext cx="3803904" cy="1097280"/>
          </a:xfrm>
          <a:prstGeom prst="roundRect">
            <a:avLst>
              <a:gd name="adj" fmla="val 5833"/>
            </a:avLst>
          </a:prstGeom>
          <a:solidFill>
            <a:srgbClr val="141821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092440" y="41879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66%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9418320" y="427939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both baselines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two coincide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818120" y="5303520"/>
            <a:ext cx="3803904" cy="822960"/>
          </a:xfrm>
          <a:prstGeom prst="roundRect">
            <a:avLst>
              <a:gd name="adj" fmla="val 7778"/>
            </a:avLst>
          </a:prstGeom>
          <a:solidFill>
            <a:srgbClr val="FBEDE2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065008" y="539496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4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failure: the static split is undefined over a worker set that no longer exists - the pipeline stops. KubeEdgeInfer heals to 62 ms.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Partitioner-level evaluation via bench/dpsim (N=12 layers, K=3 stages, 10 ms/layer, 0.4x throttle, 80 ms netem).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partitioner actually does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6949440" cy="932688"/>
          </a:xfrm>
          <a:prstGeom prst="roundRect">
            <a:avLst>
              <a:gd name="adj" fmla="val 6863"/>
            </a:avLst>
          </a:prstGeom>
          <a:solidFill>
            <a:srgbClr val="F1F3F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5453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04672" y="181965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healthy stages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995928" y="1673352"/>
            <a:ext cx="84124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1F8A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95928" y="167335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928616" y="1673352"/>
            <a:ext cx="84124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1F8A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28616" y="167335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4-8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861304" y="1673352"/>
            <a:ext cx="84124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1F8A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61304" y="167335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8-12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601968" y="16916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F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ms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2478024"/>
            <a:ext cx="6949440" cy="932688"/>
          </a:xfrm>
          <a:prstGeom prst="roundRect">
            <a:avLst>
              <a:gd name="adj" fmla="val 6863"/>
            </a:avLst>
          </a:prstGeom>
          <a:solidFill>
            <a:srgbClr val="F7F8F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throttle on stage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04672" y="2880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 1.0 -&gt; 0.4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995928" y="2734056"/>
            <a:ext cx="84124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E07B3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95928" y="273405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0-5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28616" y="2734056"/>
            <a:ext cx="84124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E07B3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8616" y="273405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5-7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861304" y="2734056"/>
            <a:ext cx="84124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E07B3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1304" y="273405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7-12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01968" y="275234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66928" y="3538728"/>
            <a:ext cx="6949440" cy="932688"/>
          </a:xfrm>
          <a:prstGeom prst="roundRect">
            <a:avLst>
              <a:gd name="adj" fmla="val 6863"/>
            </a:avLst>
          </a:prstGeom>
          <a:solidFill>
            <a:srgbClr val="F7F8F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04672" y="36667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ms delay on the hop into stage 2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04672" y="39410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2 -&gt; 82 ms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995928" y="3794760"/>
            <a:ext cx="84124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E07B3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95928" y="3794760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0-6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928616" y="3794760"/>
            <a:ext cx="841248" cy="420624"/>
          </a:xfrm>
          <a:prstGeom prst="roundRect">
            <a:avLst>
              <a:gd name="adj" fmla="val 13043"/>
            </a:avLst>
          </a:prstGeom>
          <a:solidFill>
            <a:srgbClr val="E6E9EF"/>
          </a:solidFill>
          <a:ln w="15875">
            <a:solidFill>
              <a:srgbClr val="C3C9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28616" y="3794760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861304" y="3794760"/>
            <a:ext cx="84124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E07B3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61304" y="3794760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6-12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601968" y="38130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 ms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4599432"/>
            <a:ext cx="6949440" cy="932688"/>
          </a:xfrm>
          <a:prstGeom prst="roundRect">
            <a:avLst>
              <a:gd name="adj" fmla="val 6863"/>
            </a:avLst>
          </a:prstGeom>
          <a:solidFill>
            <a:srgbClr val="F7F8F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04672" y="47274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lost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04672" y="500176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workers -&gt; 2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995928" y="4855464"/>
            <a:ext cx="84124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E07B3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95928" y="485546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0-6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928616" y="4855464"/>
            <a:ext cx="84124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E07B3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28616" y="485546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6-12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601968" y="48737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 ms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3995928" y="11521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ranges assigned to stage 1 / 2 / 3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818120" y="1417320"/>
            <a:ext cx="3803904" cy="2139696"/>
          </a:xfrm>
          <a:prstGeom prst="roundRect">
            <a:avLst>
              <a:gd name="adj" fmla="val 2991"/>
            </a:avLst>
          </a:prstGeom>
          <a:solidFill>
            <a:srgbClr val="141821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092440" y="1627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bypass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8092440" y="1975104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an 80 ms link the DP assigns stage 2 an empty range. Because an empty stage costs nothing - not even its hop - the router skips it entirely, and the two remaining nodes absorb all 12 layers. The optimiser discovers node exclusion without any special-case rule for it.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818120" y="3749040"/>
            <a:ext cx="237744" cy="23774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165592" y="371246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Optimality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165592" y="3959352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output matches brute force on 200 randomised instances.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818120" y="4462272"/>
            <a:ext cx="237744" cy="23774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165592" y="442569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165592" y="4672584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3-stage distributed GPT-2 is token-identical to single-process greedy decoding.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818120" y="5175504"/>
            <a:ext cx="237744" cy="23774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165592" y="51389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fidelity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165592" y="5385816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vs measured bottleneck tracks at a stable 3.0-3.24x ratio: a reliable ranking signal, not a calibrated latency.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66928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tokens/s, TTFT and measured bubble time come from bench/run.py, which requires a live cluster.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the closest systems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5096" cy="621792"/>
          </a:xfrm>
          <a:prstGeom prst="roundRect">
            <a:avLst>
              <a:gd name="adj" fmla="val 7353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3716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88920" y="137160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EdgeShard</a:t>
            </a:r>
            <a:endParaRPr lang="en-US" sz="900" dirty="0"/>
          </a:p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(IoT-J 24)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343400" y="1371600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Galaxy</a:t>
            </a:r>
            <a:endParaRPr lang="en-US" sz="900" dirty="0"/>
          </a:p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(INFOCOM 24)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89320" y="137160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Helix</a:t>
            </a:r>
            <a:endParaRPr lang="en-US" sz="900" dirty="0"/>
          </a:p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(ASPLOS 25)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680960" y="137160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prima.cpp</a:t>
            </a:r>
            <a:endParaRPr lang="en-US" sz="900" dirty="0"/>
          </a:p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281160" y="1371600"/>
            <a:ext cx="23408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KubeEdgeInfer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11055096" cy="45720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04825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788920" y="2048256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43400" y="204825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 + sequence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989320" y="20482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+ routing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680960" y="204825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pipelined ring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281160" y="2048256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5328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method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88920" y="25328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(exact)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43400" y="25328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planner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989320" y="2532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MILP on max-flow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80960" y="253288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Halda scheduler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281160" y="25328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(exact)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3017520"/>
            <a:ext cx="11055096" cy="45720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source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88920" y="30175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profile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43400" y="30175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profile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8932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profile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680960" y="3017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capability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281160" y="301752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eBPF + NVML, live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66928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 while serving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788920" y="350215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343400" y="35021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989320" y="35021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only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680960" y="35021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281160" y="350215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 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66928" y="3986784"/>
            <a:ext cx="11055096" cy="45720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39867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thermal drift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788920" y="3986784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343400" y="398678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989320" y="39867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680960" y="39867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281160" y="3986784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66928" y="44714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node loss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2788920" y="4471416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343400" y="447141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989320" y="447141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680960" y="44714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9281160" y="4471416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3 s watchdog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66928" y="4956048"/>
            <a:ext cx="11055096" cy="45720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928" y="49560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hardware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788920" y="495604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edge devices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343400" y="49560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devices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989320" y="4956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24-42 GPU nodes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680960" y="49560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cluster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9281160" y="495604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edge + k3s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566928" y="5440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gain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788920" y="54406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latency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4343400" y="54406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2.5x latency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989320" y="5440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3.3x throughput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680960" y="5440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5-17x TPOT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9281160" y="54406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49-66% bottleneck*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9189720" y="1371600"/>
            <a:ext cx="2432304" cy="4535424"/>
          </a:xfrm>
          <a:prstGeom prst="roundRect">
            <a:avLst>
              <a:gd name="adj" fmla="val 1880"/>
            </a:avLst>
          </a:prstGeom>
          <a:solidFill>
            <a:srgbClr val="1F8A80">
              <a:alpha val="7000"/>
            </a:srgbClr>
          </a:solidFill>
          <a:ln w="15875">
            <a:solidFill>
              <a:srgbClr val="1F8A8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66928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Bottleneck-stage cost vs a static split and a profile-once ablation; not directly comparable to the end-to-end figures in the other columns.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232A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97280"/>
            <a:ext cx="7589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split point should be a control variable, not a deployment constant.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66928" y="2432304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KubeEdgeInfer keeps a classical exact partitioner permanently in the loop, fed by kernel-measured latency and real thermal state, and applies its decisions to a running pipeline without a restart. On a heterogeneous edge cluster that is the difference between a plan that was right once and a plan that stays right.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310896" cy="310896"/>
          </a:xfrm>
          <a:prstGeom prst="ellipse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3913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05840" y="3895344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Exactness is cheap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4160520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DP costs microseconds; there is no reason to solve it only once.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4700016"/>
            <a:ext cx="310896" cy="310896"/>
          </a:xfrm>
          <a:prstGeom prst="ellipse">
            <a:avLst/>
          </a:prstGeom>
          <a:solidFill>
            <a:srgbClr val="1F8A80"/>
          </a:solidFill>
          <a:ln w="12700">
            <a:solidFill>
              <a:srgbClr val="1F8A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00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" y="46817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is what makes it usable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4946904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improvement threshold and one cooldown tame thermal, network and failure triggers alike.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5486400"/>
            <a:ext cx="310896" cy="310896"/>
          </a:xfrm>
          <a:prstGeom prst="ellipse">
            <a:avLst/>
          </a:prstGeom>
          <a:solidFill>
            <a:srgbClr val="1F8A80"/>
          </a:solidFill>
          <a:ln w="12700">
            <a:solidFill>
              <a:srgbClr val="1F8A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5486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05840" y="546811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telemetry needs no instrumentation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5733288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eBPF measures the real transport, not what the application thinks it sent.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58200" y="2432304"/>
            <a:ext cx="3163824" cy="3584448"/>
          </a:xfrm>
          <a:prstGeom prst="roundRect">
            <a:avLst>
              <a:gd name="adj" fmla="val 2312"/>
            </a:avLst>
          </a:prstGeom>
          <a:solidFill>
            <a:srgbClr val="232A38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3252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732520" y="3090672"/>
            <a:ext cx="100584" cy="10058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51976" y="3035808"/>
            <a:ext cx="2487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Llama-class backend so two 8 GB cards hold a real modern LLM across stages.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732520" y="3822192"/>
            <a:ext cx="100584" cy="10058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51976" y="3767328"/>
            <a:ext cx="2487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multi-tenant load to observe genuine NVML throttling, not just flat curves.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732520" y="4553712"/>
            <a:ext cx="100584" cy="10058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51976" y="4498848"/>
            <a:ext cx="2487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Non-contiguous and attention-head-level assignment, following arXiv:2505.02533.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732520" y="5285232"/>
            <a:ext cx="100584" cy="10058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5230368"/>
            <a:ext cx="2487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Calibrating the cost model so the DP's bottleneck becomes a latency prediction, not only a ranking.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works cited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5096" cy="42976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371600"/>
            <a:ext cx="10652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EdgeShard: Efficient LLM Inference via Collaborative Edge Computing. M. Zhang, J. Cao, X. Shen, Z. Cui. IEEE Internet of Things Journal, 2024. arXiv:2405.14371.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8096" y="1828800"/>
            <a:ext cx="10652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Galaxy: A Resource-Efficient Collaborative Edge AI System for In-situ Transformer Inference. IEEE INFOCOM, 2024. arXiv:2405.17245.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11055096" cy="42976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286000"/>
            <a:ext cx="10652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Helix: Serving Large Language Models over Heterogeneous GPUs and Network via Max-Flow. ACM ASPLOS, 2025. arXiv:2406.01566.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68096" y="2743200"/>
            <a:ext cx="10652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TPI-LLM: Serving 70B-scale LLMs Efficiently on Low-resource Edge Devices. 2024. arXiv:2410.00531.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11055096" cy="42976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3200400"/>
            <a:ext cx="10652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Prima.cpp: Fast 30-70B LLM Inference on Heterogeneous and Low-Resource Home Clusters. 2025. arXiv:2504.08791.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3657600"/>
            <a:ext cx="10652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Large Language Model Partitioning for Low-Latency Inference at the Edge. 2025. arXiv:2505.02533.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4114800"/>
            <a:ext cx="11055096" cy="42976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4114800"/>
            <a:ext cx="10652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Parallax: Efficient LLM Inference Service over Decentralized Environment. 2025. arXiv:2509.26182.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68096" y="4572000"/>
            <a:ext cx="10652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Adaptive layer splitting for wireless large language model inference in edge computing: a model-based reinforcement learning approach. Frontiers of Information Technology &amp; Electronic Engineering, Springer, 2025. doi:10.1631/FITEE.2400468.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6928" y="5029200"/>
            <a:ext cx="11055096" cy="42976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5029200"/>
            <a:ext cx="10652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Distributed LLMs and Multimodal Large Language Models: A Survey on Advances, Challenges, and Future Directions. 2025. arXiv:2503.16585.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68096" y="5486400"/>
            <a:ext cx="10652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Towards Agentic OS: An LLM Agent Framework for Linux Schedulers. 2025. arXiv:2509.01245.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6928" y="60807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Tooling: cilium/ebpf (CO-RE loader) · Kubernetes controller-runtime · NVIDIA NVML · k3s · Hugging Face Transformers (GPT-2).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73384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KubeEdgeInfer</dc:title>
  <dc:subject>PptxGenJS Presentation</dc:subject>
  <dc:creator>KubeEdgeInfer</dc:creator>
  <cp:lastModifiedBy>KubeEdgeInfer</cp:lastModifiedBy>
  <cp:revision>1</cp:revision>
  <dcterms:created xsi:type="dcterms:W3CDTF">2026-08-16T03:18:03Z</dcterms:created>
  <dcterms:modified xsi:type="dcterms:W3CDTF">2026-08-16T03:18:03Z</dcterms:modified>
</cp:coreProperties>
</file>