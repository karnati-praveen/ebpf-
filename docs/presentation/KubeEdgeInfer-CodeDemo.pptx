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21"/>
        </a:solidFill>
      </p:bgPr>
    </p:bg>
    <p:spTree>
      <p:nvGrpSpPr>
        <p:cNvPr id="1" name=""/>
        <p:cNvGrpSpPr/>
        <p:nvPr/>
      </p:nvGrpSpPr>
      <p:grpSpPr>
        <a:xfrm>
          <a:off x="0" y="0"/>
          <a:ext cx="0" cy="0"/>
          <a:chOff x="0" y="0"/>
          <a:chExt cx="0" cy="0"/>
        </a:xfrm>
      </p:grpSpPr>
      <p:sp>
        <p:nvSpPr>
          <p:cNvPr id="2" name="Shape 0"/>
          <p:cNvSpPr/>
          <p:nvPr/>
        </p:nvSpPr>
        <p:spPr>
          <a:xfrm>
            <a:off x="9052560" y="-1280160"/>
            <a:ext cx="4754880" cy="4754880"/>
          </a:xfrm>
          <a:prstGeom prst="ellipse">
            <a:avLst/>
          </a:prstGeom>
          <a:solidFill>
            <a:srgbClr val="232A38"/>
          </a:solidFill>
          <a:ln w="12700">
            <a:solidFill>
              <a:srgbClr val="333333"/>
            </a:solidFill>
            <a:prstDash val="solid"/>
          </a:ln>
        </p:spPr>
      </p:sp>
      <p:sp>
        <p:nvSpPr>
          <p:cNvPr id="3" name="Text 1"/>
          <p:cNvSpPr/>
          <p:nvPr/>
        </p:nvSpPr>
        <p:spPr>
          <a:xfrm>
            <a:off x="566928" y="1737360"/>
            <a:ext cx="7315200" cy="274320"/>
          </a:xfrm>
          <a:prstGeom prst="rect">
            <a:avLst/>
          </a:prstGeom>
          <a:noFill/>
          <a:ln/>
        </p:spPr>
        <p:txBody>
          <a:bodyPr wrap="square" lIns="0" tIns="0" rIns="0" bIns="0" rtlCol="0" anchor="ctr"/>
          <a:lstStyle/>
          <a:p>
            <a:pPr indent="0" marL="0">
              <a:buNone/>
            </a:pPr>
            <a:r>
              <a:rPr lang="en-US" sz="1200" b="1" spc="320" kern="0" dirty="0">
                <a:solidFill>
                  <a:srgbClr val="E07B39"/>
                </a:solidFill>
                <a:latin typeface="Calibri" pitchFamily="34" charset="0"/>
                <a:ea typeface="Calibri" pitchFamily="34" charset="-122"/>
                <a:cs typeface="Calibri" pitchFamily="34" charset="-120"/>
              </a:rPr>
              <a:t>APPENDIX / LIVE DEMO</a:t>
            </a:r>
            <a:endParaRPr lang="en-US" sz="1200" dirty="0"/>
          </a:p>
        </p:txBody>
      </p:sp>
      <p:sp>
        <p:nvSpPr>
          <p:cNvPr id="4" name="Text 2"/>
          <p:cNvSpPr/>
          <p:nvPr/>
        </p:nvSpPr>
        <p:spPr>
          <a:xfrm>
            <a:off x="566928" y="2194560"/>
            <a:ext cx="78638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 Walk Through the Code</a:t>
            </a:r>
            <a:endParaRPr lang="en-US" sz="4000" dirty="0"/>
          </a:p>
        </p:txBody>
      </p:sp>
      <p:sp>
        <p:nvSpPr>
          <p:cNvPr id="5" name="Text 3"/>
          <p:cNvSpPr/>
          <p:nvPr/>
        </p:nvSpPr>
        <p:spPr>
          <a:xfrm>
            <a:off x="566928" y="3566160"/>
            <a:ext cx="7498080" cy="640080"/>
          </a:xfrm>
          <a:prstGeom prst="rect">
            <a:avLst/>
          </a:prstGeom>
          <a:noFill/>
          <a:ln/>
        </p:spPr>
        <p:txBody>
          <a:bodyPr wrap="square" lIns="0" tIns="0" rIns="0" bIns="0" rtlCol="0" anchor="ctr"/>
          <a:lstStyle/>
          <a:p>
            <a:pPr indent="0" marL="0">
              <a:lnSpc>
                <a:spcPts val="2000"/>
              </a:lnSpc>
              <a:buNone/>
            </a:pPr>
            <a:r>
              <a:rPr lang="en-US" sz="1400" dirty="0">
                <a:solidFill>
                  <a:srgbClr val="AEB6C4"/>
                </a:solidFill>
                <a:latin typeface="Calibri" pitchFamily="34" charset="0"/>
                <a:ea typeface="Calibri" pitchFamily="34" charset="-122"/>
                <a:cs typeface="Calibri" pitchFamily="34" charset="-120"/>
              </a:rPr>
              <a:t>The four stages of the loop in real code, and the commands that make the machines fix themselves on stage.</a:t>
            </a:r>
            <a:endParaRPr lang="en-US" sz="1400" dirty="0"/>
          </a:p>
        </p:txBody>
      </p:sp>
      <p:sp>
        <p:nvSpPr>
          <p:cNvPr id="6" name="Shape 4"/>
          <p:cNvSpPr/>
          <p:nvPr/>
        </p:nvSpPr>
        <p:spPr>
          <a:xfrm>
            <a:off x="566928" y="4480560"/>
            <a:ext cx="1737360" cy="402336"/>
          </a:xfrm>
          <a:prstGeom prst="roundRect">
            <a:avLst>
              <a:gd name="adj" fmla="val 50000"/>
            </a:avLst>
          </a:prstGeom>
          <a:solidFill>
            <a:srgbClr val="232A38"/>
          </a:solidFill>
          <a:ln w="12700">
            <a:solidFill>
              <a:srgbClr val="3A4356"/>
            </a:solidFill>
            <a:prstDash val="solid"/>
          </a:ln>
        </p:spPr>
      </p:sp>
      <p:sp>
        <p:nvSpPr>
          <p:cNvPr id="7" name="Text 5"/>
          <p:cNvSpPr/>
          <p:nvPr/>
        </p:nvSpPr>
        <p:spPr>
          <a:xfrm>
            <a:off x="566928" y="4480560"/>
            <a:ext cx="1737360" cy="402336"/>
          </a:xfrm>
          <a:prstGeom prst="rect">
            <a:avLst/>
          </a:prstGeom>
          <a:noFill/>
          <a:ln/>
        </p:spPr>
        <p:txBody>
          <a:bodyPr wrap="square" lIns="0" tIns="0" rIns="0" bIns="0" rtlCol="0" anchor="ctr"/>
          <a:lstStyle/>
          <a:p>
            <a:pPr algn="ctr" indent="0" marL="0">
              <a:buNone/>
            </a:pPr>
            <a:r>
              <a:rPr lang="en-US" sz="900" dirty="0">
                <a:solidFill>
                  <a:srgbClr val="C9D0DC"/>
                </a:solidFill>
                <a:latin typeface="Courier New" pitchFamily="34" charset="0"/>
                <a:ea typeface="Courier New" pitchFamily="34" charset="-122"/>
                <a:cs typeface="Courier New" pitchFamily="34" charset="-120"/>
              </a:rPr>
              <a:t>tcpmon.c</a:t>
            </a:r>
            <a:endParaRPr lang="en-US" sz="900" dirty="0"/>
          </a:p>
        </p:txBody>
      </p:sp>
      <p:sp>
        <p:nvSpPr>
          <p:cNvPr id="8" name="Shape 6"/>
          <p:cNvSpPr/>
          <p:nvPr/>
        </p:nvSpPr>
        <p:spPr>
          <a:xfrm>
            <a:off x="2441448" y="4480560"/>
            <a:ext cx="1737360" cy="402336"/>
          </a:xfrm>
          <a:prstGeom prst="roundRect">
            <a:avLst>
              <a:gd name="adj" fmla="val 50000"/>
            </a:avLst>
          </a:prstGeom>
          <a:solidFill>
            <a:srgbClr val="232A38"/>
          </a:solidFill>
          <a:ln w="12700">
            <a:solidFill>
              <a:srgbClr val="3A4356"/>
            </a:solidFill>
            <a:prstDash val="solid"/>
          </a:ln>
        </p:spPr>
      </p:sp>
      <p:sp>
        <p:nvSpPr>
          <p:cNvPr id="9" name="Text 7"/>
          <p:cNvSpPr/>
          <p:nvPr/>
        </p:nvSpPr>
        <p:spPr>
          <a:xfrm>
            <a:off x="2441448" y="4480560"/>
            <a:ext cx="1737360" cy="402336"/>
          </a:xfrm>
          <a:prstGeom prst="rect">
            <a:avLst/>
          </a:prstGeom>
          <a:noFill/>
          <a:ln/>
        </p:spPr>
        <p:txBody>
          <a:bodyPr wrap="square" lIns="0" tIns="0" rIns="0" bIns="0" rtlCol="0" anchor="ctr"/>
          <a:lstStyle/>
          <a:p>
            <a:pPr algn="ctr" indent="0" marL="0">
              <a:buNone/>
            </a:pPr>
            <a:r>
              <a:rPr lang="en-US" sz="900" dirty="0">
                <a:solidFill>
                  <a:srgbClr val="C9D0DC"/>
                </a:solidFill>
                <a:latin typeface="Courier New" pitchFamily="34" charset="0"/>
                <a:ea typeface="Courier New" pitchFamily="34" charset="-122"/>
                <a:cs typeface="Courier New" pitchFamily="34" charset="-120"/>
              </a:rPr>
              <a:t>partition.go</a:t>
            </a:r>
            <a:endParaRPr lang="en-US" sz="900" dirty="0"/>
          </a:p>
        </p:txBody>
      </p:sp>
      <p:sp>
        <p:nvSpPr>
          <p:cNvPr id="10" name="Shape 8"/>
          <p:cNvSpPr/>
          <p:nvPr/>
        </p:nvSpPr>
        <p:spPr>
          <a:xfrm>
            <a:off x="4315968" y="4480560"/>
            <a:ext cx="1737360" cy="402336"/>
          </a:xfrm>
          <a:prstGeom prst="roundRect">
            <a:avLst>
              <a:gd name="adj" fmla="val 50000"/>
            </a:avLst>
          </a:prstGeom>
          <a:solidFill>
            <a:srgbClr val="232A38"/>
          </a:solidFill>
          <a:ln w="12700">
            <a:solidFill>
              <a:srgbClr val="3A4356"/>
            </a:solidFill>
            <a:prstDash val="solid"/>
          </a:ln>
        </p:spPr>
      </p:sp>
      <p:sp>
        <p:nvSpPr>
          <p:cNvPr id="11" name="Text 9"/>
          <p:cNvSpPr/>
          <p:nvPr/>
        </p:nvSpPr>
        <p:spPr>
          <a:xfrm>
            <a:off x="4315968" y="4480560"/>
            <a:ext cx="1737360" cy="402336"/>
          </a:xfrm>
          <a:prstGeom prst="rect">
            <a:avLst/>
          </a:prstGeom>
          <a:noFill/>
          <a:ln/>
        </p:spPr>
        <p:txBody>
          <a:bodyPr wrap="square" lIns="0" tIns="0" rIns="0" bIns="0" rtlCol="0" anchor="ctr"/>
          <a:lstStyle/>
          <a:p>
            <a:pPr algn="ctr" indent="0" marL="0">
              <a:buNone/>
            </a:pPr>
            <a:r>
              <a:rPr lang="en-US" sz="900" dirty="0">
                <a:solidFill>
                  <a:srgbClr val="C9D0DC"/>
                </a:solidFill>
                <a:latin typeface="Courier New" pitchFamily="34" charset="0"/>
                <a:ea typeface="Courier New" pitchFamily="34" charset="-122"/>
                <a:cs typeface="Courier New" pitchFamily="34" charset="-120"/>
              </a:rPr>
              <a:t>controller</a:t>
            </a:r>
            <a:endParaRPr lang="en-US" sz="900" dirty="0"/>
          </a:p>
        </p:txBody>
      </p:sp>
      <p:sp>
        <p:nvSpPr>
          <p:cNvPr id="12" name="Shape 10"/>
          <p:cNvSpPr/>
          <p:nvPr/>
        </p:nvSpPr>
        <p:spPr>
          <a:xfrm>
            <a:off x="6190488" y="4480560"/>
            <a:ext cx="1737360" cy="402336"/>
          </a:xfrm>
          <a:prstGeom prst="roundRect">
            <a:avLst>
              <a:gd name="adj" fmla="val 50000"/>
            </a:avLst>
          </a:prstGeom>
          <a:solidFill>
            <a:srgbClr val="232A38"/>
          </a:solidFill>
          <a:ln w="12700">
            <a:solidFill>
              <a:srgbClr val="3A4356"/>
            </a:solidFill>
            <a:prstDash val="solid"/>
          </a:ln>
        </p:spPr>
      </p:sp>
      <p:sp>
        <p:nvSpPr>
          <p:cNvPr id="13" name="Text 11"/>
          <p:cNvSpPr/>
          <p:nvPr/>
        </p:nvSpPr>
        <p:spPr>
          <a:xfrm>
            <a:off x="6190488" y="4480560"/>
            <a:ext cx="1737360" cy="402336"/>
          </a:xfrm>
          <a:prstGeom prst="rect">
            <a:avLst/>
          </a:prstGeom>
          <a:noFill/>
          <a:ln/>
        </p:spPr>
        <p:txBody>
          <a:bodyPr wrap="square" lIns="0" tIns="0" rIns="0" bIns="0" rtlCol="0" anchor="ctr"/>
          <a:lstStyle/>
          <a:p>
            <a:pPr algn="ctr" indent="0" marL="0">
              <a:buNone/>
            </a:pPr>
            <a:r>
              <a:rPr lang="en-US" sz="900" dirty="0">
                <a:solidFill>
                  <a:srgbClr val="C9D0DC"/>
                </a:solidFill>
                <a:latin typeface="Courier New" pitchFamily="34" charset="0"/>
                <a:ea typeface="Courier New" pitchFamily="34" charset="-122"/>
                <a:cs typeface="Courier New" pitchFamily="34" charset="-120"/>
              </a:rPr>
              <a:t>run-demo.sh</a:t>
            </a:r>
            <a:endParaRPr lang="en-US" sz="900" dirty="0"/>
          </a:p>
        </p:txBody>
      </p:sp>
      <p:sp>
        <p:nvSpPr>
          <p:cNvPr id="14" name="Text 12"/>
          <p:cNvSpPr/>
          <p:nvPr/>
        </p:nvSpPr>
        <p:spPr>
          <a:xfrm>
            <a:off x="566928" y="5760720"/>
            <a:ext cx="7772400" cy="274320"/>
          </a:xfrm>
          <a:prstGeom prst="rect">
            <a:avLst/>
          </a:prstGeom>
          <a:noFill/>
          <a:ln/>
        </p:spPr>
        <p:txBody>
          <a:bodyPr wrap="square" lIns="0" tIns="0" rIns="0" bIns="0" rtlCol="0" anchor="ctr"/>
          <a:lstStyle/>
          <a:p>
            <a:pPr indent="0" marL="0">
              <a:buNone/>
            </a:pPr>
            <a:r>
              <a:rPr lang="en-US" sz="1050" i="1" dirty="0">
                <a:solidFill>
                  <a:srgbClr val="7C8698"/>
                </a:solidFill>
                <a:latin typeface="Calibri" pitchFamily="34" charset="0"/>
                <a:ea typeface="Calibri" pitchFamily="34" charset="-122"/>
                <a:cs typeface="Calibri" pitchFamily="34" charset="-120"/>
              </a:rPr>
              <a:t>Kept separate from the main deck. Show this only if there is time for the demo.</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ORIENTATION</a:t>
            </a:r>
            <a:endParaRPr lang="en-US" sz="1150" dirty="0"/>
          </a:p>
        </p:txBody>
      </p:sp>
      <p:sp>
        <p:nvSpPr>
          <p:cNvPr id="3" name="Text 1"/>
          <p:cNvSpPr/>
          <p:nvPr/>
        </p:nvSpPr>
        <p:spPr>
          <a:xfrm>
            <a:off x="566928" y="566928"/>
            <a:ext cx="11055096" cy="603504"/>
          </a:xfrm>
          <a:prstGeom prst="rect">
            <a:avLst/>
          </a:prstGeom>
          <a:noFill/>
          <a:ln/>
        </p:spPr>
        <p:txBody>
          <a:bodyPr wrap="square" lIns="0" tIns="0" rIns="0" bIns="0" rtlCol="0" anchor="ctr"/>
          <a:lstStyle/>
          <a:p>
            <a:pPr indent="0" marL="0">
              <a:buNone/>
            </a:pPr>
            <a:r>
              <a:rPr lang="en-US" sz="3000" b="1" dirty="0">
                <a:solidFill>
                  <a:srgbClr val="141821"/>
                </a:solidFill>
                <a:latin typeface="Cambria" pitchFamily="34" charset="0"/>
                <a:ea typeface="Cambria" pitchFamily="34" charset="-122"/>
                <a:cs typeface="Cambria" pitchFamily="34" charset="-120"/>
              </a:rPr>
              <a:t>Where each part of the loop lives</a:t>
            </a:r>
            <a:endParaRPr lang="en-US" sz="3000" dirty="0"/>
          </a:p>
        </p:txBody>
      </p:sp>
      <p:sp>
        <p:nvSpPr>
          <p:cNvPr id="4" name="Shape 2"/>
          <p:cNvSpPr/>
          <p:nvPr/>
        </p:nvSpPr>
        <p:spPr>
          <a:xfrm>
            <a:off x="566928" y="1325880"/>
            <a:ext cx="11055096" cy="603504"/>
          </a:xfrm>
          <a:prstGeom prst="rect">
            <a:avLst/>
          </a:prstGeom>
          <a:solidFill>
            <a:srgbClr val="F7F8FA"/>
          </a:solidFill>
          <a:ln w="12700">
            <a:solidFill>
              <a:srgbClr val="333333"/>
            </a:solidFill>
            <a:prstDash val="solid"/>
          </a:ln>
        </p:spPr>
      </p:sp>
      <p:sp>
        <p:nvSpPr>
          <p:cNvPr id="5" name="Shape 3"/>
          <p:cNvSpPr/>
          <p:nvPr/>
        </p:nvSpPr>
        <p:spPr>
          <a:xfrm>
            <a:off x="713232" y="1472184"/>
            <a:ext cx="868680" cy="310896"/>
          </a:xfrm>
          <a:prstGeom prst="roundRect">
            <a:avLst>
              <a:gd name="adj" fmla="val 50000"/>
            </a:avLst>
          </a:prstGeom>
          <a:solidFill>
            <a:srgbClr val="E07B39"/>
          </a:solidFill>
          <a:ln w="12700">
            <a:solidFill>
              <a:srgbClr val="333333"/>
            </a:solidFill>
            <a:prstDash val="solid"/>
          </a:ln>
        </p:spPr>
      </p:sp>
      <p:sp>
        <p:nvSpPr>
          <p:cNvPr id="6" name="Text 4"/>
          <p:cNvSpPr/>
          <p:nvPr/>
        </p:nvSpPr>
        <p:spPr>
          <a:xfrm>
            <a:off x="713232" y="1472184"/>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WATCH</a:t>
            </a:r>
            <a:endParaRPr lang="en-US" sz="850" dirty="0"/>
          </a:p>
        </p:txBody>
      </p:sp>
      <p:sp>
        <p:nvSpPr>
          <p:cNvPr id="7" name="Text 5"/>
          <p:cNvSpPr/>
          <p:nvPr/>
        </p:nvSpPr>
        <p:spPr>
          <a:xfrm>
            <a:off x="1755648" y="1325880"/>
            <a:ext cx="3657600" cy="603504"/>
          </a:xfrm>
          <a:prstGeom prst="rect">
            <a:avLst/>
          </a:prstGeom>
          <a:noFill/>
          <a:ln/>
        </p:spPr>
        <p:txBody>
          <a:bodyPr wrap="square" lIns="0" tIns="0" rIns="0" bIns="0" rtlCol="0" anchor="ctr"/>
          <a:lstStyle/>
          <a:p>
            <a:pPr indent="0" marL="0">
              <a:buNone/>
            </a:pPr>
            <a:r>
              <a:rPr lang="en-US" sz="950" dirty="0">
                <a:solidFill>
                  <a:srgbClr val="141821"/>
                </a:solidFill>
                <a:latin typeface="Courier New" pitchFamily="34" charset="0"/>
                <a:ea typeface="Courier New" pitchFamily="34" charset="-122"/>
                <a:cs typeface="Courier New" pitchFamily="34" charset="-120"/>
              </a:rPr>
              <a:t>internal/ebpf/bpf/tcpmon.c</a:t>
            </a:r>
            <a:endParaRPr lang="en-US" sz="950" dirty="0"/>
          </a:p>
        </p:txBody>
      </p:sp>
      <p:sp>
        <p:nvSpPr>
          <p:cNvPr id="8" name="Text 6"/>
          <p:cNvSpPr/>
          <p:nvPr/>
        </p:nvSpPr>
        <p:spPr>
          <a:xfrm>
            <a:off x="5504688" y="1325880"/>
            <a:ext cx="1097280" cy="60350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C (CO-RE)</a:t>
            </a:r>
            <a:endParaRPr lang="en-US" sz="950" dirty="0"/>
          </a:p>
        </p:txBody>
      </p:sp>
      <p:sp>
        <p:nvSpPr>
          <p:cNvPr id="9" name="Text 7"/>
          <p:cNvSpPr/>
          <p:nvPr/>
        </p:nvSpPr>
        <p:spPr>
          <a:xfrm>
            <a:off x="6693408" y="1325880"/>
            <a:ext cx="4754880" cy="603504"/>
          </a:xfrm>
          <a:prstGeom prst="rect">
            <a:avLst/>
          </a:prstGeom>
          <a:noFill/>
          <a:ln/>
        </p:spPr>
        <p:txBody>
          <a:bodyPr wrap="square" lIns="0" tIns="0" rIns="0" bIns="0" rtlCol="0" anchor="ctr"/>
          <a:lstStyle/>
          <a:p>
            <a:pPr indent="0" marL="0">
              <a:buNone/>
            </a:pPr>
            <a:r>
              <a:rPr lang="en-US" sz="1000" dirty="0">
                <a:solidFill>
                  <a:srgbClr val="3E4658"/>
                </a:solidFill>
                <a:latin typeface="Calibri" pitchFamily="34" charset="0"/>
                <a:ea typeface="Calibri" pitchFamily="34" charset="-122"/>
                <a:cs typeface="Calibri" pitchFamily="34" charset="-120"/>
              </a:rPr>
              <a:t>Measures delay and speed of every connection</a:t>
            </a:r>
            <a:endParaRPr lang="en-US" sz="1000" dirty="0"/>
          </a:p>
        </p:txBody>
      </p:sp>
      <p:sp>
        <p:nvSpPr>
          <p:cNvPr id="10" name="Shape 8"/>
          <p:cNvSpPr/>
          <p:nvPr/>
        </p:nvSpPr>
        <p:spPr>
          <a:xfrm>
            <a:off x="713232" y="2130552"/>
            <a:ext cx="868680" cy="310896"/>
          </a:xfrm>
          <a:prstGeom prst="roundRect">
            <a:avLst>
              <a:gd name="adj" fmla="val 50000"/>
            </a:avLst>
          </a:prstGeom>
          <a:solidFill>
            <a:srgbClr val="E07B39"/>
          </a:solidFill>
          <a:ln w="12700">
            <a:solidFill>
              <a:srgbClr val="333333"/>
            </a:solidFill>
            <a:prstDash val="solid"/>
          </a:ln>
        </p:spPr>
      </p:sp>
      <p:sp>
        <p:nvSpPr>
          <p:cNvPr id="11" name="Text 9"/>
          <p:cNvSpPr/>
          <p:nvPr/>
        </p:nvSpPr>
        <p:spPr>
          <a:xfrm>
            <a:off x="713232" y="213055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WATCH</a:t>
            </a:r>
            <a:endParaRPr lang="en-US" sz="850" dirty="0"/>
          </a:p>
        </p:txBody>
      </p:sp>
      <p:sp>
        <p:nvSpPr>
          <p:cNvPr id="12" name="Text 10"/>
          <p:cNvSpPr/>
          <p:nvPr/>
        </p:nvSpPr>
        <p:spPr>
          <a:xfrm>
            <a:off x="1755648" y="1984248"/>
            <a:ext cx="3657600" cy="603504"/>
          </a:xfrm>
          <a:prstGeom prst="rect">
            <a:avLst/>
          </a:prstGeom>
          <a:noFill/>
          <a:ln/>
        </p:spPr>
        <p:txBody>
          <a:bodyPr wrap="square" lIns="0" tIns="0" rIns="0" bIns="0" rtlCol="0" anchor="ctr"/>
          <a:lstStyle/>
          <a:p>
            <a:pPr indent="0" marL="0">
              <a:buNone/>
            </a:pPr>
            <a:r>
              <a:rPr lang="en-US" sz="950" dirty="0">
                <a:solidFill>
                  <a:srgbClr val="141821"/>
                </a:solidFill>
                <a:latin typeface="Courier New" pitchFamily="34" charset="0"/>
                <a:ea typeface="Courier New" pitchFamily="34" charset="-122"/>
                <a:cs typeface="Courier New" pitchFamily="34" charset="-120"/>
              </a:rPr>
              <a:t>cmd/nodeagent</a:t>
            </a:r>
            <a:endParaRPr lang="en-US" sz="950" dirty="0"/>
          </a:p>
        </p:txBody>
      </p:sp>
      <p:sp>
        <p:nvSpPr>
          <p:cNvPr id="13" name="Text 11"/>
          <p:cNvSpPr/>
          <p:nvPr/>
        </p:nvSpPr>
        <p:spPr>
          <a:xfrm>
            <a:off x="5504688" y="1984248"/>
            <a:ext cx="1097280" cy="60350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Go</a:t>
            </a:r>
            <a:endParaRPr lang="en-US" sz="950" dirty="0"/>
          </a:p>
        </p:txBody>
      </p:sp>
      <p:sp>
        <p:nvSpPr>
          <p:cNvPr id="14" name="Text 12"/>
          <p:cNvSpPr/>
          <p:nvPr/>
        </p:nvSpPr>
        <p:spPr>
          <a:xfrm>
            <a:off x="6693408" y="1984248"/>
            <a:ext cx="4754880" cy="603504"/>
          </a:xfrm>
          <a:prstGeom prst="rect">
            <a:avLst/>
          </a:prstGeom>
          <a:noFill/>
          <a:ln/>
        </p:spPr>
        <p:txBody>
          <a:bodyPr wrap="square" lIns="0" tIns="0" rIns="0" bIns="0" rtlCol="0" anchor="ctr"/>
          <a:lstStyle/>
          <a:p>
            <a:pPr indent="0" marL="0">
              <a:buNone/>
            </a:pPr>
            <a:r>
              <a:rPr lang="en-US" sz="1000" dirty="0">
                <a:solidFill>
                  <a:srgbClr val="3E4658"/>
                </a:solidFill>
                <a:latin typeface="Calibri" pitchFamily="34" charset="0"/>
                <a:ea typeface="Calibri" pitchFamily="34" charset="-122"/>
                <a:cs typeface="Calibri" pitchFamily="34" charset="-120"/>
              </a:rPr>
              <a:t>Loads the kernel programs, adds GPU state, reports it all</a:t>
            </a:r>
            <a:endParaRPr lang="en-US" sz="1000" dirty="0"/>
          </a:p>
        </p:txBody>
      </p:sp>
      <p:sp>
        <p:nvSpPr>
          <p:cNvPr id="15" name="Shape 13"/>
          <p:cNvSpPr/>
          <p:nvPr/>
        </p:nvSpPr>
        <p:spPr>
          <a:xfrm>
            <a:off x="566928" y="2642616"/>
            <a:ext cx="11055096" cy="603504"/>
          </a:xfrm>
          <a:prstGeom prst="rect">
            <a:avLst/>
          </a:prstGeom>
          <a:solidFill>
            <a:srgbClr val="F7F8FA"/>
          </a:solidFill>
          <a:ln w="12700">
            <a:solidFill>
              <a:srgbClr val="333333"/>
            </a:solidFill>
            <a:prstDash val="solid"/>
          </a:ln>
        </p:spPr>
      </p:sp>
      <p:sp>
        <p:nvSpPr>
          <p:cNvPr id="16" name="Shape 14"/>
          <p:cNvSpPr/>
          <p:nvPr/>
        </p:nvSpPr>
        <p:spPr>
          <a:xfrm>
            <a:off x="713232" y="2788920"/>
            <a:ext cx="868680" cy="310896"/>
          </a:xfrm>
          <a:prstGeom prst="roundRect">
            <a:avLst>
              <a:gd name="adj" fmla="val 50000"/>
            </a:avLst>
          </a:prstGeom>
          <a:solidFill>
            <a:srgbClr val="1F8A80"/>
          </a:solidFill>
          <a:ln w="12700">
            <a:solidFill>
              <a:srgbClr val="333333"/>
            </a:solidFill>
            <a:prstDash val="solid"/>
          </a:ln>
        </p:spPr>
      </p:sp>
      <p:sp>
        <p:nvSpPr>
          <p:cNvPr id="17" name="Text 15"/>
          <p:cNvSpPr/>
          <p:nvPr/>
        </p:nvSpPr>
        <p:spPr>
          <a:xfrm>
            <a:off x="713232" y="2788920"/>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DECIDE</a:t>
            </a:r>
            <a:endParaRPr lang="en-US" sz="850" dirty="0"/>
          </a:p>
        </p:txBody>
      </p:sp>
      <p:sp>
        <p:nvSpPr>
          <p:cNvPr id="18" name="Text 16"/>
          <p:cNvSpPr/>
          <p:nvPr/>
        </p:nvSpPr>
        <p:spPr>
          <a:xfrm>
            <a:off x="1755648" y="2642616"/>
            <a:ext cx="3657600" cy="603504"/>
          </a:xfrm>
          <a:prstGeom prst="rect">
            <a:avLst/>
          </a:prstGeom>
          <a:noFill/>
          <a:ln/>
        </p:spPr>
        <p:txBody>
          <a:bodyPr wrap="square" lIns="0" tIns="0" rIns="0" bIns="0" rtlCol="0" anchor="ctr"/>
          <a:lstStyle/>
          <a:p>
            <a:pPr indent="0" marL="0">
              <a:buNone/>
            </a:pPr>
            <a:r>
              <a:rPr lang="en-US" sz="950" dirty="0">
                <a:solidFill>
                  <a:srgbClr val="141821"/>
                </a:solidFill>
                <a:latin typeface="Courier New" pitchFamily="34" charset="0"/>
                <a:ea typeface="Courier New" pitchFamily="34" charset="-122"/>
                <a:cs typeface="Courier New" pitchFamily="34" charset="-120"/>
              </a:rPr>
              <a:t>internal/partition/partition.go</a:t>
            </a:r>
            <a:endParaRPr lang="en-US" sz="950" dirty="0"/>
          </a:p>
        </p:txBody>
      </p:sp>
      <p:sp>
        <p:nvSpPr>
          <p:cNvPr id="19" name="Text 17"/>
          <p:cNvSpPr/>
          <p:nvPr/>
        </p:nvSpPr>
        <p:spPr>
          <a:xfrm>
            <a:off x="5504688" y="2642616"/>
            <a:ext cx="1097280" cy="60350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Go</a:t>
            </a:r>
            <a:endParaRPr lang="en-US" sz="950" dirty="0"/>
          </a:p>
        </p:txBody>
      </p:sp>
      <p:sp>
        <p:nvSpPr>
          <p:cNvPr id="20" name="Text 18"/>
          <p:cNvSpPr/>
          <p:nvPr/>
        </p:nvSpPr>
        <p:spPr>
          <a:xfrm>
            <a:off x="6693408" y="2642616"/>
            <a:ext cx="4754880" cy="603504"/>
          </a:xfrm>
          <a:prstGeom prst="rect">
            <a:avLst/>
          </a:prstGeom>
          <a:noFill/>
          <a:ln/>
        </p:spPr>
        <p:txBody>
          <a:bodyPr wrap="square" lIns="0" tIns="0" rIns="0" bIns="0" rtlCol="0" anchor="ctr"/>
          <a:lstStyle/>
          <a:p>
            <a:pPr indent="0" marL="0">
              <a:buNone/>
            </a:pPr>
            <a:r>
              <a:rPr lang="en-US" sz="1000" dirty="0">
                <a:solidFill>
                  <a:srgbClr val="3E4658"/>
                </a:solidFill>
                <a:latin typeface="Calibri" pitchFamily="34" charset="0"/>
                <a:ea typeface="Calibri" pitchFamily="34" charset="-122"/>
                <a:cs typeface="Calibri" pitchFamily="34" charset="-120"/>
              </a:rPr>
              <a:t>Works out the best cut, and decides when to apply it</a:t>
            </a:r>
            <a:endParaRPr lang="en-US" sz="1000" dirty="0"/>
          </a:p>
        </p:txBody>
      </p:sp>
      <p:sp>
        <p:nvSpPr>
          <p:cNvPr id="21" name="Shape 19"/>
          <p:cNvSpPr/>
          <p:nvPr/>
        </p:nvSpPr>
        <p:spPr>
          <a:xfrm>
            <a:off x="713232" y="3447288"/>
            <a:ext cx="868680" cy="310896"/>
          </a:xfrm>
          <a:prstGeom prst="roundRect">
            <a:avLst>
              <a:gd name="adj" fmla="val 50000"/>
            </a:avLst>
          </a:prstGeom>
          <a:solidFill>
            <a:srgbClr val="E07B39"/>
          </a:solidFill>
          <a:ln w="12700">
            <a:solidFill>
              <a:srgbClr val="333333"/>
            </a:solidFill>
            <a:prstDash val="solid"/>
          </a:ln>
        </p:spPr>
      </p:sp>
      <p:sp>
        <p:nvSpPr>
          <p:cNvPr id="22" name="Text 20"/>
          <p:cNvSpPr/>
          <p:nvPr/>
        </p:nvSpPr>
        <p:spPr>
          <a:xfrm>
            <a:off x="713232" y="3447288"/>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ACT</a:t>
            </a:r>
            <a:endParaRPr lang="en-US" sz="850" dirty="0"/>
          </a:p>
        </p:txBody>
      </p:sp>
      <p:sp>
        <p:nvSpPr>
          <p:cNvPr id="23" name="Text 21"/>
          <p:cNvSpPr/>
          <p:nvPr/>
        </p:nvSpPr>
        <p:spPr>
          <a:xfrm>
            <a:off x="1755648" y="3300984"/>
            <a:ext cx="3657600" cy="603504"/>
          </a:xfrm>
          <a:prstGeom prst="rect">
            <a:avLst/>
          </a:prstGeom>
          <a:noFill/>
          <a:ln/>
        </p:spPr>
        <p:txBody>
          <a:bodyPr wrap="square" lIns="0" tIns="0" rIns="0" bIns="0" rtlCol="0" anchor="ctr"/>
          <a:lstStyle/>
          <a:p>
            <a:pPr indent="0" marL="0">
              <a:buNone/>
            </a:pPr>
            <a:r>
              <a:rPr lang="en-US" sz="950" dirty="0">
                <a:solidFill>
                  <a:srgbClr val="141821"/>
                </a:solidFill>
                <a:latin typeface="Courier New" pitchFamily="34" charset="0"/>
                <a:ea typeface="Courier New" pitchFamily="34" charset="-122"/>
                <a:cs typeface="Courier New" pitchFamily="34" charset="-120"/>
              </a:rPr>
              <a:t>cmd/controller</a:t>
            </a:r>
            <a:endParaRPr lang="en-US" sz="950" dirty="0"/>
          </a:p>
        </p:txBody>
      </p:sp>
      <p:sp>
        <p:nvSpPr>
          <p:cNvPr id="24" name="Text 22"/>
          <p:cNvSpPr/>
          <p:nvPr/>
        </p:nvSpPr>
        <p:spPr>
          <a:xfrm>
            <a:off x="5504688" y="3300984"/>
            <a:ext cx="1097280" cy="60350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Go</a:t>
            </a:r>
            <a:endParaRPr lang="en-US" sz="950" dirty="0"/>
          </a:p>
        </p:txBody>
      </p:sp>
      <p:sp>
        <p:nvSpPr>
          <p:cNvPr id="25" name="Text 23"/>
          <p:cNvSpPr/>
          <p:nvPr/>
        </p:nvSpPr>
        <p:spPr>
          <a:xfrm>
            <a:off x="6693408" y="3300984"/>
            <a:ext cx="4754880" cy="603504"/>
          </a:xfrm>
          <a:prstGeom prst="rect">
            <a:avLst/>
          </a:prstGeom>
          <a:noFill/>
          <a:ln/>
        </p:spPr>
        <p:txBody>
          <a:bodyPr wrap="square" lIns="0" tIns="0" rIns="0" bIns="0" rtlCol="0" anchor="ctr"/>
          <a:lstStyle/>
          <a:p>
            <a:pPr indent="0" marL="0">
              <a:buNone/>
            </a:pPr>
            <a:r>
              <a:rPr lang="en-US" sz="1000" dirty="0">
                <a:solidFill>
                  <a:srgbClr val="3E4658"/>
                </a:solidFill>
                <a:latin typeface="Calibri" pitchFamily="34" charset="0"/>
                <a:ea typeface="Calibri" pitchFamily="34" charset="-122"/>
                <a:cs typeface="Calibri" pitchFamily="34" charset="-120"/>
              </a:rPr>
              <a:t>Collects the readings, saves the plan, sends it out</a:t>
            </a:r>
            <a:endParaRPr lang="en-US" sz="1000" dirty="0"/>
          </a:p>
        </p:txBody>
      </p:sp>
      <p:sp>
        <p:nvSpPr>
          <p:cNvPr id="26" name="Shape 24"/>
          <p:cNvSpPr/>
          <p:nvPr/>
        </p:nvSpPr>
        <p:spPr>
          <a:xfrm>
            <a:off x="566928" y="3959352"/>
            <a:ext cx="11055096" cy="603504"/>
          </a:xfrm>
          <a:prstGeom prst="rect">
            <a:avLst/>
          </a:prstGeom>
          <a:solidFill>
            <a:srgbClr val="F7F8FA"/>
          </a:solidFill>
          <a:ln w="12700">
            <a:solidFill>
              <a:srgbClr val="333333"/>
            </a:solidFill>
            <a:prstDash val="solid"/>
          </a:ln>
        </p:spPr>
      </p:sp>
      <p:sp>
        <p:nvSpPr>
          <p:cNvPr id="27" name="Shape 25"/>
          <p:cNvSpPr/>
          <p:nvPr/>
        </p:nvSpPr>
        <p:spPr>
          <a:xfrm>
            <a:off x="713232" y="4105656"/>
            <a:ext cx="868680" cy="310896"/>
          </a:xfrm>
          <a:prstGeom prst="roundRect">
            <a:avLst>
              <a:gd name="adj" fmla="val 50000"/>
            </a:avLst>
          </a:prstGeom>
          <a:solidFill>
            <a:srgbClr val="1F8A80"/>
          </a:solidFill>
          <a:ln w="12700">
            <a:solidFill>
              <a:srgbClr val="333333"/>
            </a:solidFill>
            <a:prstDash val="solid"/>
          </a:ln>
        </p:spPr>
      </p:sp>
      <p:sp>
        <p:nvSpPr>
          <p:cNvPr id="28" name="Text 26"/>
          <p:cNvSpPr/>
          <p:nvPr/>
        </p:nvSpPr>
        <p:spPr>
          <a:xfrm>
            <a:off x="713232" y="4105656"/>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HEAL</a:t>
            </a:r>
            <a:endParaRPr lang="en-US" sz="850" dirty="0"/>
          </a:p>
        </p:txBody>
      </p:sp>
      <p:sp>
        <p:nvSpPr>
          <p:cNvPr id="29" name="Text 27"/>
          <p:cNvSpPr/>
          <p:nvPr/>
        </p:nvSpPr>
        <p:spPr>
          <a:xfrm>
            <a:off x="1755648" y="3959352"/>
            <a:ext cx="3657600" cy="603504"/>
          </a:xfrm>
          <a:prstGeom prst="rect">
            <a:avLst/>
          </a:prstGeom>
          <a:noFill/>
          <a:ln/>
        </p:spPr>
        <p:txBody>
          <a:bodyPr wrap="square" lIns="0" tIns="0" rIns="0" bIns="0" rtlCol="0" anchor="ctr"/>
          <a:lstStyle/>
          <a:p>
            <a:pPr indent="0" marL="0">
              <a:buNone/>
            </a:pPr>
            <a:r>
              <a:rPr lang="en-US" sz="950" dirty="0">
                <a:solidFill>
                  <a:srgbClr val="141821"/>
                </a:solidFill>
                <a:latin typeface="Courier New" pitchFamily="34" charset="0"/>
                <a:ea typeface="Courier New" pitchFamily="34" charset="-122"/>
                <a:cs typeface="Courier New" pitchFamily="34" charset="-120"/>
              </a:rPr>
              <a:t>internal/controller</a:t>
            </a:r>
            <a:endParaRPr lang="en-US" sz="950" dirty="0"/>
          </a:p>
        </p:txBody>
      </p:sp>
      <p:sp>
        <p:nvSpPr>
          <p:cNvPr id="30" name="Text 28"/>
          <p:cNvSpPr/>
          <p:nvPr/>
        </p:nvSpPr>
        <p:spPr>
          <a:xfrm>
            <a:off x="5504688" y="3959352"/>
            <a:ext cx="1097280" cy="60350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Go</a:t>
            </a:r>
            <a:endParaRPr lang="en-US" sz="950" dirty="0"/>
          </a:p>
        </p:txBody>
      </p:sp>
      <p:sp>
        <p:nvSpPr>
          <p:cNvPr id="31" name="Text 29"/>
          <p:cNvSpPr/>
          <p:nvPr/>
        </p:nvSpPr>
        <p:spPr>
          <a:xfrm>
            <a:off x="6693408" y="3959352"/>
            <a:ext cx="4754880" cy="603504"/>
          </a:xfrm>
          <a:prstGeom prst="rect">
            <a:avLst/>
          </a:prstGeom>
          <a:noFill/>
          <a:ln/>
        </p:spPr>
        <p:txBody>
          <a:bodyPr wrap="square" lIns="0" tIns="0" rIns="0" bIns="0" rtlCol="0" anchor="ctr"/>
          <a:lstStyle/>
          <a:p>
            <a:pPr indent="0" marL="0">
              <a:buNone/>
            </a:pPr>
            <a:r>
              <a:rPr lang="en-US" sz="1000" dirty="0">
                <a:solidFill>
                  <a:srgbClr val="3E4658"/>
                </a:solidFill>
                <a:latin typeface="Calibri" pitchFamily="34" charset="0"/>
                <a:ea typeface="Calibri" pitchFamily="34" charset="-122"/>
                <a:cs typeface="Calibri" pitchFamily="34" charset="-120"/>
              </a:rPr>
              <a:t>Notices a dead machine in 3 seconds and forces a re-cut</a:t>
            </a:r>
            <a:endParaRPr lang="en-US" sz="1000" dirty="0"/>
          </a:p>
        </p:txBody>
      </p:sp>
      <p:sp>
        <p:nvSpPr>
          <p:cNvPr id="32" name="Shape 30"/>
          <p:cNvSpPr/>
          <p:nvPr/>
        </p:nvSpPr>
        <p:spPr>
          <a:xfrm>
            <a:off x="713232" y="4764024"/>
            <a:ext cx="868680" cy="310896"/>
          </a:xfrm>
          <a:prstGeom prst="roundRect">
            <a:avLst>
              <a:gd name="adj" fmla="val 50000"/>
            </a:avLst>
          </a:prstGeom>
          <a:solidFill>
            <a:srgbClr val="1F8A80"/>
          </a:solidFill>
          <a:ln w="12700">
            <a:solidFill>
              <a:srgbClr val="333333"/>
            </a:solidFill>
            <a:prstDash val="solid"/>
          </a:ln>
        </p:spPr>
      </p:sp>
      <p:sp>
        <p:nvSpPr>
          <p:cNvPr id="33" name="Text 31"/>
          <p:cNvSpPr/>
          <p:nvPr/>
        </p:nvSpPr>
        <p:spPr>
          <a:xfrm>
            <a:off x="713232" y="4764024"/>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SERVE</a:t>
            </a:r>
            <a:endParaRPr lang="en-US" sz="850" dirty="0"/>
          </a:p>
        </p:txBody>
      </p:sp>
      <p:sp>
        <p:nvSpPr>
          <p:cNvPr id="34" name="Text 32"/>
          <p:cNvSpPr/>
          <p:nvPr/>
        </p:nvSpPr>
        <p:spPr>
          <a:xfrm>
            <a:off x="1755648" y="4617720"/>
            <a:ext cx="3657600" cy="603504"/>
          </a:xfrm>
          <a:prstGeom prst="rect">
            <a:avLst/>
          </a:prstGeom>
          <a:noFill/>
          <a:ln/>
        </p:spPr>
        <p:txBody>
          <a:bodyPr wrap="square" lIns="0" tIns="0" rIns="0" bIns="0" rtlCol="0" anchor="ctr"/>
          <a:lstStyle/>
          <a:p>
            <a:pPr indent="0" marL="0">
              <a:buNone/>
            </a:pPr>
            <a:r>
              <a:rPr lang="en-US" sz="950" dirty="0">
                <a:solidFill>
                  <a:srgbClr val="141821"/>
                </a:solidFill>
                <a:latin typeface="Courier New" pitchFamily="34" charset="0"/>
                <a:ea typeface="Courier New" pitchFamily="34" charset="-122"/>
                <a:cs typeface="Courier New" pitchFamily="34" charset="-120"/>
              </a:rPr>
              <a:t>worker/</a:t>
            </a:r>
            <a:endParaRPr lang="en-US" sz="950" dirty="0"/>
          </a:p>
        </p:txBody>
      </p:sp>
      <p:sp>
        <p:nvSpPr>
          <p:cNvPr id="35" name="Text 33"/>
          <p:cNvSpPr/>
          <p:nvPr/>
        </p:nvSpPr>
        <p:spPr>
          <a:xfrm>
            <a:off x="5504688" y="4617720"/>
            <a:ext cx="1097280" cy="60350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Python</a:t>
            </a:r>
            <a:endParaRPr lang="en-US" sz="950" dirty="0"/>
          </a:p>
        </p:txBody>
      </p:sp>
      <p:sp>
        <p:nvSpPr>
          <p:cNvPr id="36" name="Text 34"/>
          <p:cNvSpPr/>
          <p:nvPr/>
        </p:nvSpPr>
        <p:spPr>
          <a:xfrm>
            <a:off x="6693408" y="4617720"/>
            <a:ext cx="4754880" cy="603504"/>
          </a:xfrm>
          <a:prstGeom prst="rect">
            <a:avLst/>
          </a:prstGeom>
          <a:noFill/>
          <a:ln/>
        </p:spPr>
        <p:txBody>
          <a:bodyPr wrap="square" lIns="0" tIns="0" rIns="0" bIns="0" rtlCol="0" anchor="ctr"/>
          <a:lstStyle/>
          <a:p>
            <a:pPr indent="0" marL="0">
              <a:buNone/>
            </a:pPr>
            <a:r>
              <a:rPr lang="en-US" sz="1000" dirty="0">
                <a:solidFill>
                  <a:srgbClr val="3E4658"/>
                </a:solidFill>
                <a:latin typeface="Calibri" pitchFamily="34" charset="0"/>
                <a:ea typeface="Calibri" pitchFamily="34" charset="-122"/>
                <a:cs typeface="Calibri" pitchFamily="34" charset="-120"/>
              </a:rPr>
              <a:t>Machines that hold layers but no state, plus the router</a:t>
            </a:r>
            <a:endParaRPr lang="en-US" sz="1000" dirty="0"/>
          </a:p>
        </p:txBody>
      </p:sp>
      <p:sp>
        <p:nvSpPr>
          <p:cNvPr id="37" name="Shape 35"/>
          <p:cNvSpPr/>
          <p:nvPr/>
        </p:nvSpPr>
        <p:spPr>
          <a:xfrm>
            <a:off x="566928" y="5276088"/>
            <a:ext cx="11055096" cy="603504"/>
          </a:xfrm>
          <a:prstGeom prst="rect">
            <a:avLst/>
          </a:prstGeom>
          <a:solidFill>
            <a:srgbClr val="F7F8FA"/>
          </a:solidFill>
          <a:ln w="12700">
            <a:solidFill>
              <a:srgbClr val="333333"/>
            </a:solidFill>
            <a:prstDash val="solid"/>
          </a:ln>
        </p:spPr>
      </p:sp>
      <p:sp>
        <p:nvSpPr>
          <p:cNvPr id="38" name="Shape 36"/>
          <p:cNvSpPr/>
          <p:nvPr/>
        </p:nvSpPr>
        <p:spPr>
          <a:xfrm>
            <a:off x="713232" y="5422392"/>
            <a:ext cx="868680" cy="310896"/>
          </a:xfrm>
          <a:prstGeom prst="roundRect">
            <a:avLst>
              <a:gd name="adj" fmla="val 50000"/>
            </a:avLst>
          </a:prstGeom>
          <a:solidFill>
            <a:srgbClr val="E07B39"/>
          </a:solidFill>
          <a:ln w="12700">
            <a:solidFill>
              <a:srgbClr val="333333"/>
            </a:solidFill>
            <a:prstDash val="solid"/>
          </a:ln>
        </p:spPr>
      </p:sp>
      <p:sp>
        <p:nvSpPr>
          <p:cNvPr id="39" name="Text 37"/>
          <p:cNvSpPr/>
          <p:nvPr/>
        </p:nvSpPr>
        <p:spPr>
          <a:xfrm>
            <a:off x="713232" y="5422392"/>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EVAL</a:t>
            </a:r>
            <a:endParaRPr lang="en-US" sz="850" dirty="0"/>
          </a:p>
        </p:txBody>
      </p:sp>
      <p:sp>
        <p:nvSpPr>
          <p:cNvPr id="40" name="Text 38"/>
          <p:cNvSpPr/>
          <p:nvPr/>
        </p:nvSpPr>
        <p:spPr>
          <a:xfrm>
            <a:off x="1755648" y="5276088"/>
            <a:ext cx="3657600" cy="603504"/>
          </a:xfrm>
          <a:prstGeom prst="rect">
            <a:avLst/>
          </a:prstGeom>
          <a:noFill/>
          <a:ln/>
        </p:spPr>
        <p:txBody>
          <a:bodyPr wrap="square" lIns="0" tIns="0" rIns="0" bIns="0" rtlCol="0" anchor="ctr"/>
          <a:lstStyle/>
          <a:p>
            <a:pPr indent="0" marL="0">
              <a:buNone/>
            </a:pPr>
            <a:r>
              <a:rPr lang="en-US" sz="950" dirty="0">
                <a:solidFill>
                  <a:srgbClr val="141821"/>
                </a:solidFill>
                <a:latin typeface="Courier New" pitchFamily="34" charset="0"/>
                <a:ea typeface="Courier New" pitchFamily="34" charset="-122"/>
                <a:cs typeface="Courier New" pitchFamily="34" charset="-120"/>
              </a:rPr>
              <a:t>bench/run.py, bench/dpsim</a:t>
            </a:r>
            <a:endParaRPr lang="en-US" sz="950" dirty="0"/>
          </a:p>
        </p:txBody>
      </p:sp>
      <p:sp>
        <p:nvSpPr>
          <p:cNvPr id="41" name="Text 39"/>
          <p:cNvSpPr/>
          <p:nvPr/>
        </p:nvSpPr>
        <p:spPr>
          <a:xfrm>
            <a:off x="5504688" y="5276088"/>
            <a:ext cx="1097280" cy="60350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Python, Go</a:t>
            </a:r>
            <a:endParaRPr lang="en-US" sz="950" dirty="0"/>
          </a:p>
        </p:txBody>
      </p:sp>
      <p:sp>
        <p:nvSpPr>
          <p:cNvPr id="42" name="Text 40"/>
          <p:cNvSpPr/>
          <p:nvPr/>
        </p:nvSpPr>
        <p:spPr>
          <a:xfrm>
            <a:off x="6693408" y="5276088"/>
            <a:ext cx="4754880" cy="603504"/>
          </a:xfrm>
          <a:prstGeom prst="rect">
            <a:avLst/>
          </a:prstGeom>
          <a:noFill/>
          <a:ln/>
        </p:spPr>
        <p:txBody>
          <a:bodyPr wrap="square" lIns="0" tIns="0" rIns="0" bIns="0" rtlCol="0" anchor="ctr"/>
          <a:lstStyle/>
          <a:p>
            <a:pPr indent="0" marL="0">
              <a:buNone/>
            </a:pPr>
            <a:r>
              <a:rPr lang="en-US" sz="1000" dirty="0">
                <a:solidFill>
                  <a:srgbClr val="3E4658"/>
                </a:solidFill>
                <a:latin typeface="Calibri" pitchFamily="34" charset="0"/>
                <a:ea typeface="Calibri" pitchFamily="34" charset="-122"/>
                <a:cs typeface="Calibri" pitchFamily="34" charset="-120"/>
              </a:rPr>
              <a:t>The tests: full cluster runs, and solver-only runs</a:t>
            </a:r>
            <a:endParaRPr lang="en-US" sz="1000" dirty="0"/>
          </a:p>
        </p:txBody>
      </p:sp>
      <p:sp>
        <p:nvSpPr>
          <p:cNvPr id="43" name="Text 41"/>
          <p:cNvSpPr/>
          <p:nvPr/>
        </p:nvSpPr>
        <p:spPr>
          <a:xfrm>
            <a:off x="566928" y="6400800"/>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The generated network code and the compiled kernel program are already in the repo, so a demo needs no extra build tools.</a:t>
            </a:r>
            <a:endParaRPr lang="en-US" sz="950" dirty="0"/>
          </a:p>
        </p:txBody>
      </p:sp>
      <p:sp>
        <p:nvSpPr>
          <p:cNvPr id="44" name="Text 42"/>
          <p:cNvSpPr/>
          <p:nvPr/>
        </p:nvSpPr>
        <p:spPr>
          <a:xfrm>
            <a:off x="11073384"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1. WATCH</a:t>
            </a:r>
            <a:endParaRPr lang="en-US" sz="1150" dirty="0"/>
          </a:p>
        </p:txBody>
      </p:sp>
      <p:sp>
        <p:nvSpPr>
          <p:cNvPr id="3" name="Text 1"/>
          <p:cNvSpPr/>
          <p:nvPr/>
        </p:nvSpPr>
        <p:spPr>
          <a:xfrm>
            <a:off x="566928" y="566928"/>
            <a:ext cx="11055096" cy="603504"/>
          </a:xfrm>
          <a:prstGeom prst="rect">
            <a:avLst/>
          </a:prstGeom>
          <a:noFill/>
          <a:ln/>
        </p:spPr>
        <p:txBody>
          <a:bodyPr wrap="square" lIns="0" tIns="0" rIns="0" bIns="0" rtlCol="0" anchor="ctr"/>
          <a:lstStyle/>
          <a:p>
            <a:pPr indent="0" marL="0">
              <a:buNone/>
            </a:pPr>
            <a:r>
              <a:rPr lang="en-US" sz="3000" b="1" dirty="0">
                <a:solidFill>
                  <a:srgbClr val="141821"/>
                </a:solidFill>
                <a:latin typeface="Cambria" pitchFamily="34" charset="0"/>
                <a:ea typeface="Cambria" pitchFamily="34" charset="-122"/>
                <a:cs typeface="Cambria" pitchFamily="34" charset="-120"/>
              </a:rPr>
              <a:t>Measuring network delay inside the kernel</a:t>
            </a:r>
            <a:endParaRPr lang="en-US" sz="3000" dirty="0"/>
          </a:p>
        </p:txBody>
      </p:sp>
      <p:sp>
        <p:nvSpPr>
          <p:cNvPr id="4" name="Shape 2"/>
          <p:cNvSpPr/>
          <p:nvPr/>
        </p:nvSpPr>
        <p:spPr>
          <a:xfrm>
            <a:off x="566928" y="1325880"/>
            <a:ext cx="6675120" cy="4114800"/>
          </a:xfrm>
          <a:prstGeom prst="roundRect">
            <a:avLst>
              <a:gd name="adj" fmla="val 1333"/>
            </a:avLst>
          </a:prstGeom>
          <a:solidFill>
            <a:srgbClr val="141821"/>
          </a:solidFill>
          <a:ln w="12700">
            <a:solidFill>
              <a:srgbClr val="333333"/>
            </a:solidFill>
            <a:prstDash val="solid"/>
          </a:ln>
          <a:effectLst>
            <a:outerShdw sx="100000" sy="100000" kx="0" ky="0" algn="bl" rotWithShape="0" blurRad="127000" dist="25400" dir="5400000">
              <a:srgbClr val="9AA3B2">
                <a:alpha val="28000"/>
              </a:srgbClr>
            </a:outerShdw>
          </a:effectLst>
        </p:spPr>
      </p:sp>
      <p:sp>
        <p:nvSpPr>
          <p:cNvPr id="5" name="Text 3"/>
          <p:cNvSpPr/>
          <p:nvPr/>
        </p:nvSpPr>
        <p:spPr>
          <a:xfrm>
            <a:off x="786384" y="1453896"/>
            <a:ext cx="6236208" cy="237744"/>
          </a:xfrm>
          <a:prstGeom prst="rect">
            <a:avLst/>
          </a:prstGeom>
          <a:noFill/>
          <a:ln/>
        </p:spPr>
        <p:txBody>
          <a:bodyPr wrap="square" lIns="0" tIns="0" rIns="0" bIns="0" rtlCol="0" anchor="ctr"/>
          <a:lstStyle/>
          <a:p>
            <a:pPr indent="0" marL="0">
              <a:buNone/>
            </a:pPr>
            <a:r>
              <a:rPr lang="en-US" sz="850" dirty="0">
                <a:solidFill>
                  <a:srgbClr val="E07B39"/>
                </a:solidFill>
                <a:latin typeface="Courier New" pitchFamily="34" charset="0"/>
                <a:ea typeface="Courier New" pitchFamily="34" charset="-122"/>
                <a:cs typeface="Courier New" pitchFamily="34" charset="-120"/>
              </a:rPr>
              <a:t>internal/ebpf/bpf/tcpmon.c</a:t>
            </a:r>
            <a:endParaRPr lang="en-US" sz="850" dirty="0"/>
          </a:p>
        </p:txBody>
      </p:sp>
      <p:sp>
        <p:nvSpPr>
          <p:cNvPr id="6" name="Text 4"/>
          <p:cNvSpPr/>
          <p:nvPr/>
        </p:nvSpPr>
        <p:spPr>
          <a:xfrm>
            <a:off x="786384" y="1746504"/>
            <a:ext cx="6272784" cy="3511296"/>
          </a:xfrm>
          <a:prstGeom prst="rect">
            <a:avLst/>
          </a:prstGeom>
          <a:noFill/>
          <a:ln/>
        </p:spPr>
        <p:txBody>
          <a:bodyPr wrap="square" lIns="0" tIns="0" rIns="0" bIns="0" rtlCol="0" anchor="ctr"/>
          <a:lstStyle/>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struct flow_val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__u64 bytes;         // cumulative payload bytes</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__u64 srtt_us;       // most recent smoothed RTT</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__u64 srtt_samples;  // cumulative tcp_probe hits</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a:t>
            </a:r>
            <a:endParaRPr lang="en-US" sz="850" dirty="0"/>
          </a:p>
          <a:p>
            <a:pPr indent="0" marL="0">
              <a:lnSpc>
                <a:spcPts val="1200"/>
              </a:lnSpc>
              <a:buNone/>
            </a:pP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struct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__uint(type, BPF_MAP_TYPE_HASH);</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__type(key,   struct flow_key);</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__type(value, struct flow_val);</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flows SEC(".maps");</a:t>
            </a:r>
            <a:endParaRPr lang="en-US" sz="850" dirty="0"/>
          </a:p>
          <a:p>
            <a:pPr indent="0" marL="0">
              <a:lnSpc>
                <a:spcPts val="1200"/>
              </a:lnSpc>
              <a:buNone/>
            </a:pP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SEC("tp_btf/tcp_probe")</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int BPF_PROG(tcp_probe_hook, struct sock *sk,</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struct sk_buff *skb)</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struct tcp_sock *tp = (struct tcp_sock *)sk;</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__u32 srtt = BPF_CORE_READ(tp, srtt_us) &gt;&gt; 3;</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val-&gt;srtt_us = srtt;</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__sync_fetch_and_add(&amp;val-&gt;srtt_samples, 1);</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return 0;</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a:t>
            </a:r>
            <a:endParaRPr lang="en-US" sz="850" dirty="0"/>
          </a:p>
          <a:p>
            <a:pPr indent="0" marL="0">
              <a:lnSpc>
                <a:spcPts val="1200"/>
              </a:lnSpc>
              <a:buNone/>
            </a:pP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SEC("fentry/tcp_sendmsg")</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int BPF_PROG(tcp_sendmsg_hook, struct sock *sk,</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struct msghdr *msg, size_t size)</a:t>
            </a:r>
            <a:endParaRPr lang="en-US" sz="850" dirty="0"/>
          </a:p>
        </p:txBody>
      </p:sp>
      <p:sp>
        <p:nvSpPr>
          <p:cNvPr id="7" name="Shape 5"/>
          <p:cNvSpPr/>
          <p:nvPr/>
        </p:nvSpPr>
        <p:spPr>
          <a:xfrm>
            <a:off x="7498080" y="1325880"/>
            <a:ext cx="4123944" cy="1417320"/>
          </a:xfrm>
          <a:prstGeom prst="roundRect">
            <a:avLst>
              <a:gd name="adj" fmla="val 3871"/>
            </a:avLst>
          </a:prstGeom>
          <a:solidFill>
            <a:srgbClr val="F1F3F7"/>
          </a:solidFill>
          <a:ln w="12700">
            <a:solidFill>
              <a:srgbClr val="333333"/>
            </a:solidFill>
            <a:prstDash val="solid"/>
          </a:ln>
        </p:spPr>
      </p:sp>
      <p:sp>
        <p:nvSpPr>
          <p:cNvPr id="8" name="Shape 6"/>
          <p:cNvSpPr/>
          <p:nvPr/>
        </p:nvSpPr>
        <p:spPr>
          <a:xfrm>
            <a:off x="7717536" y="1527048"/>
            <a:ext cx="237744" cy="237744"/>
          </a:xfrm>
          <a:prstGeom prst="ellipse">
            <a:avLst/>
          </a:prstGeom>
          <a:solidFill>
            <a:srgbClr val="E07B39"/>
          </a:solidFill>
          <a:ln w="12700">
            <a:solidFill>
              <a:srgbClr val="333333"/>
            </a:solidFill>
            <a:prstDash val="solid"/>
          </a:ln>
        </p:spPr>
      </p:sp>
      <p:sp>
        <p:nvSpPr>
          <p:cNvPr id="9" name="Text 7"/>
          <p:cNvSpPr/>
          <p:nvPr/>
        </p:nvSpPr>
        <p:spPr>
          <a:xfrm>
            <a:off x="8065008" y="1490472"/>
            <a:ext cx="333756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Why we use the kernel's own number</a:t>
            </a:r>
            <a:endParaRPr lang="en-US" sz="1200" dirty="0"/>
          </a:p>
        </p:txBody>
      </p:sp>
      <p:sp>
        <p:nvSpPr>
          <p:cNvPr id="10" name="Text 8"/>
          <p:cNvSpPr/>
          <p:nvPr/>
        </p:nvSpPr>
        <p:spPr>
          <a:xfrm>
            <a:off x="8065008" y="1783080"/>
            <a:ext cx="3300984" cy="795528"/>
          </a:xfrm>
          <a:prstGeom prst="rect">
            <a:avLst/>
          </a:prstGeom>
          <a:noFill/>
          <a:ln/>
        </p:spPr>
        <p:txBody>
          <a:bodyPr wrap="square" lIns="0" tIns="0" rIns="0" bIns="0" rtlCol="0" anchor="ctr"/>
          <a:lstStyle/>
          <a:p>
            <a:pPr indent="0" marL="0">
              <a:lnSpc>
                <a:spcPts val="1350"/>
              </a:lnSpc>
              <a:buNone/>
            </a:pPr>
            <a:r>
              <a:rPr lang="en-US" sz="1000" dirty="0">
                <a:solidFill>
                  <a:srgbClr val="3E4658"/>
                </a:solidFill>
                <a:latin typeface="Calibri" pitchFamily="34" charset="0"/>
                <a:ea typeface="Calibri" pitchFamily="34" charset="-122"/>
                <a:cs typeface="Calibri" pitchFamily="34" charset="-120"/>
              </a:rPr>
              <a:t>Linux already tracks the round-trip time of every connection, because it needs it to manage traffic. Reading that number costs nothing, and it cannot be wrong the way a timer inside the program can.</a:t>
            </a:r>
            <a:endParaRPr lang="en-US" sz="1000" dirty="0"/>
          </a:p>
        </p:txBody>
      </p:sp>
      <p:sp>
        <p:nvSpPr>
          <p:cNvPr id="11" name="Shape 9"/>
          <p:cNvSpPr/>
          <p:nvPr/>
        </p:nvSpPr>
        <p:spPr>
          <a:xfrm>
            <a:off x="7498080" y="2880360"/>
            <a:ext cx="4123944" cy="1280160"/>
          </a:xfrm>
          <a:prstGeom prst="roundRect">
            <a:avLst>
              <a:gd name="adj" fmla="val 4286"/>
            </a:avLst>
          </a:prstGeom>
          <a:solidFill>
            <a:srgbClr val="F1F3F7"/>
          </a:solidFill>
          <a:ln w="12700">
            <a:solidFill>
              <a:srgbClr val="333333"/>
            </a:solidFill>
            <a:prstDash val="solid"/>
          </a:ln>
        </p:spPr>
      </p:sp>
      <p:sp>
        <p:nvSpPr>
          <p:cNvPr id="12" name="Shape 10"/>
          <p:cNvSpPr/>
          <p:nvPr/>
        </p:nvSpPr>
        <p:spPr>
          <a:xfrm>
            <a:off x="7717536" y="3081528"/>
            <a:ext cx="237744" cy="237744"/>
          </a:xfrm>
          <a:prstGeom prst="ellipse">
            <a:avLst/>
          </a:prstGeom>
          <a:solidFill>
            <a:srgbClr val="1F8A80"/>
          </a:solidFill>
          <a:ln w="12700">
            <a:solidFill>
              <a:srgbClr val="333333"/>
            </a:solidFill>
            <a:prstDash val="solid"/>
          </a:ln>
        </p:spPr>
      </p:sp>
      <p:sp>
        <p:nvSpPr>
          <p:cNvPr id="13" name="Text 11"/>
          <p:cNvSpPr/>
          <p:nvPr/>
        </p:nvSpPr>
        <p:spPr>
          <a:xfrm>
            <a:off x="8065008" y="3044952"/>
            <a:ext cx="333756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Build once, run anywhere</a:t>
            </a:r>
            <a:endParaRPr lang="en-US" sz="1200" dirty="0"/>
          </a:p>
        </p:txBody>
      </p:sp>
      <p:sp>
        <p:nvSpPr>
          <p:cNvPr id="14" name="Text 12"/>
          <p:cNvSpPr/>
          <p:nvPr/>
        </p:nvSpPr>
        <p:spPr>
          <a:xfrm>
            <a:off x="8065008" y="3337560"/>
            <a:ext cx="3300984" cy="658368"/>
          </a:xfrm>
          <a:prstGeom prst="rect">
            <a:avLst/>
          </a:prstGeom>
          <a:noFill/>
          <a:ln/>
        </p:spPr>
        <p:txBody>
          <a:bodyPr wrap="square" lIns="0" tIns="0" rIns="0" bIns="0" rtlCol="0" anchor="ctr"/>
          <a:lstStyle/>
          <a:p>
            <a:pPr indent="0" marL="0">
              <a:lnSpc>
                <a:spcPts val="1350"/>
              </a:lnSpc>
              <a:buNone/>
            </a:pPr>
            <a:r>
              <a:rPr lang="en-US" sz="1000" dirty="0">
                <a:solidFill>
                  <a:srgbClr val="3E4658"/>
                </a:solidFill>
                <a:latin typeface="Calibri" pitchFamily="34" charset="0"/>
                <a:ea typeface="Calibri" pitchFamily="34" charset="-122"/>
                <a:cs typeface="Calibri" pitchFamily="34" charset="-120"/>
              </a:rPr>
              <a:t>The program adjusts itself to the running kernel when it is loaded. So one compiled file works on any modern Linux kernel, with no rebuilding.</a:t>
            </a:r>
            <a:endParaRPr lang="en-US" sz="1000" dirty="0"/>
          </a:p>
        </p:txBody>
      </p:sp>
      <p:sp>
        <p:nvSpPr>
          <p:cNvPr id="15" name="Shape 13"/>
          <p:cNvSpPr/>
          <p:nvPr/>
        </p:nvSpPr>
        <p:spPr>
          <a:xfrm>
            <a:off x="7498080" y="4297680"/>
            <a:ext cx="4123944" cy="1143000"/>
          </a:xfrm>
          <a:prstGeom prst="roundRect">
            <a:avLst>
              <a:gd name="adj" fmla="val 4800"/>
            </a:avLst>
          </a:prstGeom>
          <a:solidFill>
            <a:srgbClr val="F1F3F7"/>
          </a:solidFill>
          <a:ln w="12700">
            <a:solidFill>
              <a:srgbClr val="333333"/>
            </a:solidFill>
            <a:prstDash val="solid"/>
          </a:ln>
        </p:spPr>
      </p:sp>
      <p:sp>
        <p:nvSpPr>
          <p:cNvPr id="16" name="Shape 14"/>
          <p:cNvSpPr/>
          <p:nvPr/>
        </p:nvSpPr>
        <p:spPr>
          <a:xfrm>
            <a:off x="7717536" y="4498848"/>
            <a:ext cx="237744" cy="237744"/>
          </a:xfrm>
          <a:prstGeom prst="ellipse">
            <a:avLst/>
          </a:prstGeom>
          <a:solidFill>
            <a:srgbClr val="1F8A80"/>
          </a:solidFill>
          <a:ln w="12700">
            <a:solidFill>
              <a:srgbClr val="333333"/>
            </a:solidFill>
            <a:prstDash val="solid"/>
          </a:ln>
        </p:spPr>
      </p:sp>
      <p:sp>
        <p:nvSpPr>
          <p:cNvPr id="17" name="Text 15"/>
          <p:cNvSpPr/>
          <p:nvPr/>
        </p:nvSpPr>
        <p:spPr>
          <a:xfrm>
            <a:off x="8065008" y="4462272"/>
            <a:ext cx="333756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We only watch what we need</a:t>
            </a:r>
            <a:endParaRPr lang="en-US" sz="1200" dirty="0"/>
          </a:p>
        </p:txBody>
      </p:sp>
      <p:sp>
        <p:nvSpPr>
          <p:cNvPr id="18" name="Text 16"/>
          <p:cNvSpPr/>
          <p:nvPr/>
        </p:nvSpPr>
        <p:spPr>
          <a:xfrm>
            <a:off x="8065008" y="4754880"/>
            <a:ext cx="3300984" cy="521208"/>
          </a:xfrm>
          <a:prstGeom prst="rect">
            <a:avLst/>
          </a:prstGeom>
          <a:noFill/>
          <a:ln/>
        </p:spPr>
        <p:txBody>
          <a:bodyPr wrap="square" lIns="0" tIns="0" rIns="0" bIns="0" rtlCol="0" anchor="ctr"/>
          <a:lstStyle/>
          <a:p>
            <a:pPr indent="0" marL="0">
              <a:lnSpc>
                <a:spcPts val="1350"/>
              </a:lnSpc>
              <a:buNone/>
            </a:pPr>
            <a:r>
              <a:rPr lang="en-US" sz="1000" dirty="0">
                <a:solidFill>
                  <a:srgbClr val="3E4658"/>
                </a:solidFill>
                <a:latin typeface="Calibri" pitchFamily="34" charset="0"/>
                <a:ea typeface="Calibri" pitchFamily="34" charset="-122"/>
                <a:cs typeface="Calibri" pitchFamily="34" charset="-120"/>
              </a:rPr>
              <a:t>We only look at connections between our own machines. The controller then matches each connection to the machine it came from.</a:t>
            </a:r>
            <a:endParaRPr lang="en-US" sz="1000" dirty="0"/>
          </a:p>
        </p:txBody>
      </p:sp>
      <p:sp>
        <p:nvSpPr>
          <p:cNvPr id="19" name="Text 17"/>
          <p:cNvSpPr/>
          <p:nvPr/>
        </p:nvSpPr>
        <p:spPr>
          <a:xfrm>
            <a:off x="566928" y="6400800"/>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Demo: show the live readings with kubectl logs</a:t>
            </a:r>
            <a:endParaRPr lang="en-US" sz="950" dirty="0"/>
          </a:p>
        </p:txBody>
      </p:sp>
      <p:sp>
        <p:nvSpPr>
          <p:cNvPr id="20" name="Text 18"/>
          <p:cNvSpPr/>
          <p:nvPr/>
        </p:nvSpPr>
        <p:spPr>
          <a:xfrm>
            <a:off x="11073384"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2. DECIDE</a:t>
            </a:r>
            <a:endParaRPr lang="en-US" sz="1150" dirty="0"/>
          </a:p>
        </p:txBody>
      </p:sp>
      <p:sp>
        <p:nvSpPr>
          <p:cNvPr id="3" name="Text 1"/>
          <p:cNvSpPr/>
          <p:nvPr/>
        </p:nvSpPr>
        <p:spPr>
          <a:xfrm>
            <a:off x="566928" y="566928"/>
            <a:ext cx="11055096" cy="603504"/>
          </a:xfrm>
          <a:prstGeom prst="rect">
            <a:avLst/>
          </a:prstGeom>
          <a:noFill/>
          <a:ln/>
        </p:spPr>
        <p:txBody>
          <a:bodyPr wrap="square" lIns="0" tIns="0" rIns="0" bIns="0" rtlCol="0" anchor="ctr"/>
          <a:lstStyle/>
          <a:p>
            <a:pPr indent="0" marL="0">
              <a:buNone/>
            </a:pPr>
            <a:r>
              <a:rPr lang="en-US" sz="3000" b="1" dirty="0">
                <a:solidFill>
                  <a:srgbClr val="141821"/>
                </a:solidFill>
                <a:latin typeface="Cambria" pitchFamily="34" charset="0"/>
                <a:ea typeface="Cambria" pitchFamily="34" charset="-122"/>
                <a:cs typeface="Cambria" pitchFamily="34" charset="-120"/>
              </a:rPr>
              <a:t>The solver that picks the cut</a:t>
            </a:r>
            <a:endParaRPr lang="en-US" sz="3000" dirty="0"/>
          </a:p>
        </p:txBody>
      </p:sp>
      <p:sp>
        <p:nvSpPr>
          <p:cNvPr id="4" name="Shape 2"/>
          <p:cNvSpPr/>
          <p:nvPr/>
        </p:nvSpPr>
        <p:spPr>
          <a:xfrm>
            <a:off x="566928" y="1325880"/>
            <a:ext cx="6675120" cy="4114800"/>
          </a:xfrm>
          <a:prstGeom prst="roundRect">
            <a:avLst>
              <a:gd name="adj" fmla="val 1333"/>
            </a:avLst>
          </a:prstGeom>
          <a:solidFill>
            <a:srgbClr val="141821"/>
          </a:solidFill>
          <a:ln w="12700">
            <a:solidFill>
              <a:srgbClr val="333333"/>
            </a:solidFill>
            <a:prstDash val="solid"/>
          </a:ln>
          <a:effectLst>
            <a:outerShdw sx="100000" sy="100000" kx="0" ky="0" algn="bl" rotWithShape="0" blurRad="127000" dist="25400" dir="5400000">
              <a:srgbClr val="9AA3B2">
                <a:alpha val="28000"/>
              </a:srgbClr>
            </a:outerShdw>
          </a:effectLst>
        </p:spPr>
      </p:sp>
      <p:sp>
        <p:nvSpPr>
          <p:cNvPr id="5" name="Text 3"/>
          <p:cNvSpPr/>
          <p:nvPr/>
        </p:nvSpPr>
        <p:spPr>
          <a:xfrm>
            <a:off x="786384" y="1453896"/>
            <a:ext cx="6236208" cy="237744"/>
          </a:xfrm>
          <a:prstGeom prst="rect">
            <a:avLst/>
          </a:prstGeom>
          <a:noFill/>
          <a:ln/>
        </p:spPr>
        <p:txBody>
          <a:bodyPr wrap="square" lIns="0" tIns="0" rIns="0" bIns="0" rtlCol="0" anchor="ctr"/>
          <a:lstStyle/>
          <a:p>
            <a:pPr indent="0" marL="0">
              <a:buNone/>
            </a:pPr>
            <a:r>
              <a:rPr lang="en-US" sz="850" dirty="0">
                <a:solidFill>
                  <a:srgbClr val="E07B39"/>
                </a:solidFill>
                <a:latin typeface="Courier New" pitchFamily="34" charset="0"/>
                <a:ea typeface="Courier New" pitchFamily="34" charset="-122"/>
                <a:cs typeface="Courier New" pitchFamily="34" charset="-120"/>
              </a:rPr>
              <a:t>internal/partition/partition.go</a:t>
            </a:r>
            <a:endParaRPr lang="en-US" sz="850" dirty="0"/>
          </a:p>
        </p:txBody>
      </p:sp>
      <p:sp>
        <p:nvSpPr>
          <p:cNvPr id="6" name="Text 4"/>
          <p:cNvSpPr/>
          <p:nvPr/>
        </p:nvSpPr>
        <p:spPr>
          <a:xfrm>
            <a:off x="786384" y="1746504"/>
            <a:ext cx="6272784" cy="3511296"/>
          </a:xfrm>
          <a:prstGeom prst="rect">
            <a:avLst/>
          </a:prstGeom>
          <a:noFill/>
          <a:ln/>
        </p:spPr>
        <p:txBody>
          <a:bodyPr wrap="square" lIns="0" tIns="0" rIns="0" bIns="0" rtlCol="0" anchor="ctr"/>
          <a:lstStyle/>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stageCost: receive + compute for one stage.</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An empty stage is skipped by the router entirely,</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so it costs nothing - not even its hop.</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func stageCost(in Input, worker, layers int) float64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if layers == 0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return 0</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cost := float64(layers) * in.PerLayerMs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math.Max(in.Workers[worker].Speed, 0.01)</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if worker &gt; 0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cost += in.LinkMs[worker-1]</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return cost</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a:t>
            </a:r>
            <a:endParaRPr lang="en-US" sz="850" dirty="0"/>
          </a:p>
          <a:p>
            <a:pPr indent="0" marL="0">
              <a:lnSpc>
                <a:spcPts val="1200"/>
              </a:lnSpc>
              <a:buNone/>
            </a:pP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Optimal solves the linear partition in O(N^2 * K).</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for w := 1; w &lt;= k; w++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for j := 0; j &lt;= n; j++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for split := 0; split &lt;= j; split++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cost := math.Max(f[split][w-1],</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stageCost(in, w-1, j-split))</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if cost &lt; f[j][w]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f[j][w] = cost</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choice[j][w] = split</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a:t>
            </a:r>
            <a:endParaRPr lang="en-US" sz="850" dirty="0"/>
          </a:p>
        </p:txBody>
      </p:sp>
      <p:sp>
        <p:nvSpPr>
          <p:cNvPr id="7" name="Shape 5"/>
          <p:cNvSpPr/>
          <p:nvPr/>
        </p:nvSpPr>
        <p:spPr>
          <a:xfrm>
            <a:off x="7498080" y="1325880"/>
            <a:ext cx="4123944" cy="1325880"/>
          </a:xfrm>
          <a:prstGeom prst="roundRect">
            <a:avLst>
              <a:gd name="adj" fmla="val 4138"/>
            </a:avLst>
          </a:prstGeom>
          <a:solidFill>
            <a:srgbClr val="F1F3F7"/>
          </a:solidFill>
          <a:ln w="12700">
            <a:solidFill>
              <a:srgbClr val="333333"/>
            </a:solidFill>
            <a:prstDash val="solid"/>
          </a:ln>
        </p:spPr>
      </p:sp>
      <p:sp>
        <p:nvSpPr>
          <p:cNvPr id="8" name="Shape 6"/>
          <p:cNvSpPr/>
          <p:nvPr/>
        </p:nvSpPr>
        <p:spPr>
          <a:xfrm>
            <a:off x="7717536" y="1527048"/>
            <a:ext cx="237744" cy="237744"/>
          </a:xfrm>
          <a:prstGeom prst="ellipse">
            <a:avLst/>
          </a:prstGeom>
          <a:solidFill>
            <a:srgbClr val="1F8A80"/>
          </a:solidFill>
          <a:ln w="12700">
            <a:solidFill>
              <a:srgbClr val="333333"/>
            </a:solidFill>
            <a:prstDash val="solid"/>
          </a:ln>
        </p:spPr>
      </p:sp>
      <p:sp>
        <p:nvSpPr>
          <p:cNvPr id="9" name="Text 7"/>
          <p:cNvSpPr/>
          <p:nvPr/>
        </p:nvSpPr>
        <p:spPr>
          <a:xfrm>
            <a:off x="8065008" y="1490472"/>
            <a:ext cx="333756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f[j][w]</a:t>
            </a:r>
            <a:endParaRPr lang="en-US" sz="1200" dirty="0"/>
          </a:p>
        </p:txBody>
      </p:sp>
      <p:sp>
        <p:nvSpPr>
          <p:cNvPr id="10" name="Text 8"/>
          <p:cNvSpPr/>
          <p:nvPr/>
        </p:nvSpPr>
        <p:spPr>
          <a:xfrm>
            <a:off x="8065008" y="1783080"/>
            <a:ext cx="3300984" cy="704088"/>
          </a:xfrm>
          <a:prstGeom prst="rect">
            <a:avLst/>
          </a:prstGeom>
          <a:noFill/>
          <a:ln/>
        </p:spPr>
        <p:txBody>
          <a:bodyPr wrap="square" lIns="0" tIns="0" rIns="0" bIns="0" rtlCol="0" anchor="ctr"/>
          <a:lstStyle/>
          <a:p>
            <a:pPr indent="0" marL="0">
              <a:lnSpc>
                <a:spcPts val="1350"/>
              </a:lnSpc>
              <a:buNone/>
            </a:pPr>
            <a:r>
              <a:rPr lang="en-US" sz="1000" dirty="0">
                <a:solidFill>
                  <a:srgbClr val="3E4658"/>
                </a:solidFill>
                <a:latin typeface="Calibri" pitchFamily="34" charset="0"/>
                <a:ea typeface="Calibri" pitchFamily="34" charset="-122"/>
                <a:cs typeface="Calibri" pitchFamily="34" charset="-120"/>
              </a:rPr>
              <a:t>The best we can do for the first j layers on the first w machines. The final answer is f[N][K], and choice[][] tells us where the cuts go.</a:t>
            </a:r>
            <a:endParaRPr lang="en-US" sz="1000" dirty="0"/>
          </a:p>
        </p:txBody>
      </p:sp>
      <p:sp>
        <p:nvSpPr>
          <p:cNvPr id="11" name="Shape 9"/>
          <p:cNvSpPr/>
          <p:nvPr/>
        </p:nvSpPr>
        <p:spPr>
          <a:xfrm>
            <a:off x="7498080" y="2788920"/>
            <a:ext cx="4123944" cy="1325880"/>
          </a:xfrm>
          <a:prstGeom prst="roundRect">
            <a:avLst>
              <a:gd name="adj" fmla="val 4138"/>
            </a:avLst>
          </a:prstGeom>
          <a:solidFill>
            <a:srgbClr val="F1F3F7"/>
          </a:solidFill>
          <a:ln w="12700">
            <a:solidFill>
              <a:srgbClr val="333333"/>
            </a:solidFill>
            <a:prstDash val="solid"/>
          </a:ln>
        </p:spPr>
      </p:sp>
      <p:sp>
        <p:nvSpPr>
          <p:cNvPr id="12" name="Shape 10"/>
          <p:cNvSpPr/>
          <p:nvPr/>
        </p:nvSpPr>
        <p:spPr>
          <a:xfrm>
            <a:off x="7717536" y="2990088"/>
            <a:ext cx="237744" cy="237744"/>
          </a:xfrm>
          <a:prstGeom prst="ellipse">
            <a:avLst/>
          </a:prstGeom>
          <a:solidFill>
            <a:srgbClr val="1F8A80"/>
          </a:solidFill>
          <a:ln w="12700">
            <a:solidFill>
              <a:srgbClr val="333333"/>
            </a:solidFill>
            <a:prstDash val="solid"/>
          </a:ln>
        </p:spPr>
      </p:sp>
      <p:sp>
        <p:nvSpPr>
          <p:cNvPr id="13" name="Text 11"/>
          <p:cNvSpPr/>
          <p:nvPr/>
        </p:nvSpPr>
        <p:spPr>
          <a:xfrm>
            <a:off x="8065008" y="2953512"/>
            <a:ext cx="333756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Heat is just a slower speed</a:t>
            </a:r>
            <a:endParaRPr lang="en-US" sz="1200" dirty="0"/>
          </a:p>
        </p:txBody>
      </p:sp>
      <p:sp>
        <p:nvSpPr>
          <p:cNvPr id="14" name="Text 12"/>
          <p:cNvSpPr/>
          <p:nvPr/>
        </p:nvSpPr>
        <p:spPr>
          <a:xfrm>
            <a:off x="8065008" y="3246120"/>
            <a:ext cx="3300984" cy="704088"/>
          </a:xfrm>
          <a:prstGeom prst="rect">
            <a:avLst/>
          </a:prstGeom>
          <a:noFill/>
          <a:ln/>
        </p:spPr>
        <p:txBody>
          <a:bodyPr wrap="square" lIns="0" tIns="0" rIns="0" bIns="0" rtlCol="0" anchor="ctr"/>
          <a:lstStyle/>
          <a:p>
            <a:pPr indent="0" marL="0">
              <a:lnSpc>
                <a:spcPts val="1350"/>
              </a:lnSpc>
              <a:buNone/>
            </a:pPr>
            <a:r>
              <a:rPr lang="en-US" sz="1000" dirty="0">
                <a:solidFill>
                  <a:srgbClr val="3E4658"/>
                </a:solidFill>
                <a:latin typeface="Calibri" pitchFamily="34" charset="0"/>
                <a:ea typeface="Calibri" pitchFamily="34" charset="-122"/>
                <a:cs typeface="Calibri" pitchFamily="34" charset="-120"/>
              </a:rPr>
              <a:t>Each machine has one Speed number. When it gets hot, that number drops. So the solver has no special code for heat anywhere - it just sees a slower machine.</a:t>
            </a:r>
            <a:endParaRPr lang="en-US" sz="1000" dirty="0"/>
          </a:p>
        </p:txBody>
      </p:sp>
      <p:sp>
        <p:nvSpPr>
          <p:cNvPr id="15" name="Shape 13"/>
          <p:cNvSpPr/>
          <p:nvPr/>
        </p:nvSpPr>
        <p:spPr>
          <a:xfrm>
            <a:off x="7498080" y="4251960"/>
            <a:ext cx="4123944" cy="1188720"/>
          </a:xfrm>
          <a:prstGeom prst="roundRect">
            <a:avLst>
              <a:gd name="adj" fmla="val 4615"/>
            </a:avLst>
          </a:prstGeom>
          <a:solidFill>
            <a:srgbClr val="F1F3F7"/>
          </a:solidFill>
          <a:ln w="12700">
            <a:solidFill>
              <a:srgbClr val="333333"/>
            </a:solidFill>
            <a:prstDash val="solid"/>
          </a:ln>
        </p:spPr>
      </p:sp>
      <p:sp>
        <p:nvSpPr>
          <p:cNvPr id="16" name="Shape 14"/>
          <p:cNvSpPr/>
          <p:nvPr/>
        </p:nvSpPr>
        <p:spPr>
          <a:xfrm>
            <a:off x="7717536" y="4453128"/>
            <a:ext cx="237744" cy="237744"/>
          </a:xfrm>
          <a:prstGeom prst="ellipse">
            <a:avLst/>
          </a:prstGeom>
          <a:solidFill>
            <a:srgbClr val="E07B39"/>
          </a:solidFill>
          <a:ln w="12700">
            <a:solidFill>
              <a:srgbClr val="333333"/>
            </a:solidFill>
            <a:prstDash val="solid"/>
          </a:ln>
        </p:spPr>
      </p:sp>
      <p:sp>
        <p:nvSpPr>
          <p:cNvPr id="17" name="Text 15"/>
          <p:cNvSpPr/>
          <p:nvPr/>
        </p:nvSpPr>
        <p:spPr>
          <a:xfrm>
            <a:off x="8065008" y="4416552"/>
            <a:ext cx="333756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A machine can get zero layers</a:t>
            </a:r>
            <a:endParaRPr lang="en-US" sz="1200" dirty="0"/>
          </a:p>
        </p:txBody>
      </p:sp>
      <p:sp>
        <p:nvSpPr>
          <p:cNvPr id="18" name="Text 16"/>
          <p:cNvSpPr/>
          <p:nvPr/>
        </p:nvSpPr>
        <p:spPr>
          <a:xfrm>
            <a:off x="8065008" y="4709160"/>
            <a:ext cx="3300984" cy="566928"/>
          </a:xfrm>
          <a:prstGeom prst="rect">
            <a:avLst/>
          </a:prstGeom>
          <a:noFill/>
          <a:ln/>
        </p:spPr>
        <p:txBody>
          <a:bodyPr wrap="square" lIns="0" tIns="0" rIns="0" bIns="0" rtlCol="0" anchor="ctr"/>
          <a:lstStyle/>
          <a:p>
            <a:pPr indent="0" marL="0">
              <a:lnSpc>
                <a:spcPts val="1350"/>
              </a:lnSpc>
              <a:buNone/>
            </a:pPr>
            <a:r>
              <a:rPr lang="en-US" sz="1000" dirty="0">
                <a:solidFill>
                  <a:srgbClr val="3E4658"/>
                </a:solidFill>
                <a:latin typeface="Calibri" pitchFamily="34" charset="0"/>
                <a:ea typeface="Calibri" pitchFamily="34" charset="-122"/>
                <a:cs typeface="Calibri" pitchFamily="34" charset="-120"/>
              </a:rPr>
              <a:t>That one line is what lets the solver skip a machine with a bad network. Nobody wrote a rule for skipping - it falls out of the maths.</a:t>
            </a:r>
            <a:endParaRPr lang="en-US" sz="1000" dirty="0"/>
          </a:p>
        </p:txBody>
      </p:sp>
      <p:sp>
        <p:nvSpPr>
          <p:cNvPr id="19" name="Text 17"/>
          <p:cNvSpPr/>
          <p:nvPr/>
        </p:nvSpPr>
        <p:spPr>
          <a:xfrm>
            <a:off x="566928" y="6400800"/>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Demo: go test ./internal/partition/... - it checks the solver against brute force on 200 random cases.</a:t>
            </a:r>
            <a:endParaRPr lang="en-US" sz="950" dirty="0"/>
          </a:p>
        </p:txBody>
      </p:sp>
      <p:sp>
        <p:nvSpPr>
          <p:cNvPr id="20" name="Text 18"/>
          <p:cNvSpPr/>
          <p:nvPr/>
        </p:nvSpPr>
        <p:spPr>
          <a:xfrm>
            <a:off x="11073384"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3-4. ACT AND HEAL</a:t>
            </a:r>
            <a:endParaRPr lang="en-US" sz="1150" dirty="0"/>
          </a:p>
        </p:txBody>
      </p:sp>
      <p:sp>
        <p:nvSpPr>
          <p:cNvPr id="3" name="Text 1"/>
          <p:cNvSpPr/>
          <p:nvPr/>
        </p:nvSpPr>
        <p:spPr>
          <a:xfrm>
            <a:off x="566928" y="566928"/>
            <a:ext cx="11055096" cy="603504"/>
          </a:xfrm>
          <a:prstGeom prst="rect">
            <a:avLst/>
          </a:prstGeom>
          <a:noFill/>
          <a:ln/>
        </p:spPr>
        <p:txBody>
          <a:bodyPr wrap="square" lIns="0" tIns="0" rIns="0" bIns="0" rtlCol="0" anchor="ctr"/>
          <a:lstStyle/>
          <a:p>
            <a:pPr indent="0" marL="0">
              <a:buNone/>
            </a:pPr>
            <a:r>
              <a:rPr lang="en-US" sz="3000" b="1" dirty="0">
                <a:solidFill>
                  <a:srgbClr val="141821"/>
                </a:solidFill>
                <a:latin typeface="Cambria" pitchFamily="34" charset="0"/>
                <a:ea typeface="Cambria" pitchFamily="34" charset="-122"/>
                <a:cs typeface="Cambria" pitchFamily="34" charset="-120"/>
              </a:rPr>
              <a:t>From a decision to a running system</a:t>
            </a:r>
            <a:endParaRPr lang="en-US" sz="3000" dirty="0"/>
          </a:p>
        </p:txBody>
      </p:sp>
      <p:sp>
        <p:nvSpPr>
          <p:cNvPr id="4" name="Shape 2"/>
          <p:cNvSpPr/>
          <p:nvPr/>
        </p:nvSpPr>
        <p:spPr>
          <a:xfrm>
            <a:off x="566928" y="1325880"/>
            <a:ext cx="6675120" cy="2834640"/>
          </a:xfrm>
          <a:prstGeom prst="roundRect">
            <a:avLst>
              <a:gd name="adj" fmla="val 1935"/>
            </a:avLst>
          </a:prstGeom>
          <a:solidFill>
            <a:srgbClr val="141821"/>
          </a:solidFill>
          <a:ln w="12700">
            <a:solidFill>
              <a:srgbClr val="333333"/>
            </a:solidFill>
            <a:prstDash val="solid"/>
          </a:ln>
          <a:effectLst>
            <a:outerShdw sx="100000" sy="100000" kx="0" ky="0" algn="bl" rotWithShape="0" blurRad="127000" dist="25400" dir="5400000">
              <a:srgbClr val="9AA3B2">
                <a:alpha val="28000"/>
              </a:srgbClr>
            </a:outerShdw>
          </a:effectLst>
        </p:spPr>
      </p:sp>
      <p:sp>
        <p:nvSpPr>
          <p:cNvPr id="5" name="Text 3"/>
          <p:cNvSpPr/>
          <p:nvPr/>
        </p:nvSpPr>
        <p:spPr>
          <a:xfrm>
            <a:off x="786384" y="1453896"/>
            <a:ext cx="6236208" cy="237744"/>
          </a:xfrm>
          <a:prstGeom prst="rect">
            <a:avLst/>
          </a:prstGeom>
          <a:noFill/>
          <a:ln/>
        </p:spPr>
        <p:txBody>
          <a:bodyPr wrap="square" lIns="0" tIns="0" rIns="0" bIns="0" rtlCol="0" anchor="ctr"/>
          <a:lstStyle/>
          <a:p>
            <a:pPr indent="0" marL="0">
              <a:buNone/>
            </a:pPr>
            <a:r>
              <a:rPr lang="en-US" sz="850" dirty="0">
                <a:solidFill>
                  <a:srgbClr val="E07B39"/>
                </a:solidFill>
                <a:latin typeface="Courier New" pitchFamily="34" charset="0"/>
                <a:ea typeface="Courier New" pitchFamily="34" charset="-122"/>
                <a:cs typeface="Courier New" pitchFamily="34" charset="-120"/>
              </a:rPr>
              <a:t>internal/partition/partition.go - Decider</a:t>
            </a:r>
            <a:endParaRPr lang="en-US" sz="850" dirty="0"/>
          </a:p>
        </p:txBody>
      </p:sp>
      <p:sp>
        <p:nvSpPr>
          <p:cNvPr id="6" name="Text 4"/>
          <p:cNvSpPr/>
          <p:nvPr/>
        </p:nvSpPr>
        <p:spPr>
          <a:xfrm>
            <a:off x="786384" y="1746504"/>
            <a:ext cx="6272784" cy="2231136"/>
          </a:xfrm>
          <a:prstGeom prst="rect">
            <a:avLst/>
          </a:prstGeom>
          <a:noFill/>
          <a:ln/>
        </p:spPr>
        <p:txBody>
          <a:bodyPr wrap="square" lIns="0" tIns="0" rIns="0" bIns="0" rtlCol="0" anchor="ctr"/>
          <a:lstStyle/>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func (d *Decider) Decide(now time.Time, in Input,</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force bool) (*Result, bool, error)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opt, err := Optimal(in)</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if d.current == nil || force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workersChanged(d.current, in.Workers)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d.current, d.lastChange = opt, now</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return opt, true, nil          // healing path</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currentCost := Evaluate(in, d.current.Splits())</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improved := opt.BottleneckMs &lt;</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currentCost*(1-d.ImprovementFrac)</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if improved &amp;&amp; now.Sub(d.lastChange) &gt;= d.Cooldown {</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d.current, d.lastChange = opt, now</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return opt, true, nil          // hysteresis passed</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a:t>
            </a:r>
            <a:endParaRPr lang="en-US" sz="850" dirty="0"/>
          </a:p>
        </p:txBody>
      </p:sp>
      <p:sp>
        <p:nvSpPr>
          <p:cNvPr id="7" name="Shape 5"/>
          <p:cNvSpPr/>
          <p:nvPr/>
        </p:nvSpPr>
        <p:spPr>
          <a:xfrm>
            <a:off x="566928" y="4343400"/>
            <a:ext cx="6675120" cy="1673352"/>
          </a:xfrm>
          <a:prstGeom prst="roundRect">
            <a:avLst>
              <a:gd name="adj" fmla="val 3279"/>
            </a:avLst>
          </a:prstGeom>
          <a:solidFill>
            <a:srgbClr val="141821"/>
          </a:solidFill>
          <a:ln w="12700">
            <a:solidFill>
              <a:srgbClr val="333333"/>
            </a:solidFill>
            <a:prstDash val="solid"/>
          </a:ln>
          <a:effectLst>
            <a:outerShdw sx="100000" sy="100000" kx="0" ky="0" algn="bl" rotWithShape="0" blurRad="127000" dist="25400" dir="5400000">
              <a:srgbClr val="9AA3B2">
                <a:alpha val="28000"/>
              </a:srgbClr>
            </a:outerShdw>
          </a:effectLst>
        </p:spPr>
      </p:sp>
      <p:sp>
        <p:nvSpPr>
          <p:cNvPr id="8" name="Text 6"/>
          <p:cNvSpPr/>
          <p:nvPr/>
        </p:nvSpPr>
        <p:spPr>
          <a:xfrm>
            <a:off x="786384" y="4471416"/>
            <a:ext cx="6236208" cy="237744"/>
          </a:xfrm>
          <a:prstGeom prst="rect">
            <a:avLst/>
          </a:prstGeom>
          <a:noFill/>
          <a:ln/>
        </p:spPr>
        <p:txBody>
          <a:bodyPr wrap="square" lIns="0" tIns="0" rIns="0" bIns="0" rtlCol="0" anchor="ctr"/>
          <a:lstStyle/>
          <a:p>
            <a:pPr indent="0" marL="0">
              <a:buNone/>
            </a:pPr>
            <a:r>
              <a:rPr lang="en-US" sz="850" dirty="0">
                <a:solidFill>
                  <a:srgbClr val="E07B39"/>
                </a:solidFill>
                <a:latin typeface="Courier New" pitchFamily="34" charset="0"/>
                <a:ea typeface="Courier New" pitchFamily="34" charset="-122"/>
                <a:cs typeface="Courier New" pitchFamily="34" charset="-120"/>
              </a:rPr>
              <a:t>demo - make a machine hot, then cool it again</a:t>
            </a:r>
            <a:endParaRPr lang="en-US" sz="850" dirty="0"/>
          </a:p>
        </p:txBody>
      </p:sp>
      <p:sp>
        <p:nvSpPr>
          <p:cNvPr id="9" name="Text 7"/>
          <p:cNvSpPr/>
          <p:nvPr/>
        </p:nvSpPr>
        <p:spPr>
          <a:xfrm>
            <a:off x="786384" y="4764024"/>
            <a:ext cx="6272784" cy="1069848"/>
          </a:xfrm>
          <a:prstGeom prst="rect">
            <a:avLst/>
          </a:prstGeom>
          <a:noFill/>
          <a:ln/>
        </p:spPr>
        <p:txBody>
          <a:bodyPr wrap="square" lIns="0" tIns="0" rIns="0" bIns="0" rtlCol="0" anchor="ctr"/>
          <a:lstStyle/>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W2=$(docker inspect -f '{{range .NetworkSettings.Networks}}\</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     {{.IPAddress}}{{end}}' kubeedgeinfer-worker2)</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curl -X POST http://$W2:9101/gpu/override -d '{"temp_c": 92}'</a:t>
            </a:r>
            <a:endParaRPr lang="en-US" sz="850" dirty="0"/>
          </a:p>
          <a:p>
            <a:pPr indent="0" marL="0">
              <a:lnSpc>
                <a:spcPts val="1200"/>
              </a:lnSpc>
              <a:buNone/>
            </a:pPr>
            <a:r>
              <a:rPr lang="en-US" sz="850" dirty="0">
                <a:solidFill>
                  <a:srgbClr val="D5DAE3"/>
                </a:solidFill>
                <a:latin typeface="Courier New" pitchFamily="34" charset="0"/>
                <a:ea typeface="Courier New" pitchFamily="34" charset="-122"/>
                <a:cs typeface="Courier New" pitchFamily="34" charset="-120"/>
              </a:rPr>
              <a:t>curl -X POST http://$W2:9101/gpu/override -d '{"clear": true}'</a:t>
            </a:r>
            <a:endParaRPr lang="en-US" sz="850" dirty="0"/>
          </a:p>
        </p:txBody>
      </p:sp>
      <p:sp>
        <p:nvSpPr>
          <p:cNvPr id="10" name="Shape 8"/>
          <p:cNvSpPr/>
          <p:nvPr/>
        </p:nvSpPr>
        <p:spPr>
          <a:xfrm>
            <a:off x="7498080" y="1325880"/>
            <a:ext cx="4123944" cy="1417320"/>
          </a:xfrm>
          <a:prstGeom prst="roundRect">
            <a:avLst>
              <a:gd name="adj" fmla="val 3871"/>
            </a:avLst>
          </a:prstGeom>
          <a:solidFill>
            <a:srgbClr val="F1F3F7"/>
          </a:solidFill>
          <a:ln w="12700">
            <a:solidFill>
              <a:srgbClr val="333333"/>
            </a:solidFill>
            <a:prstDash val="solid"/>
          </a:ln>
        </p:spPr>
      </p:sp>
      <p:sp>
        <p:nvSpPr>
          <p:cNvPr id="11" name="Shape 9"/>
          <p:cNvSpPr/>
          <p:nvPr/>
        </p:nvSpPr>
        <p:spPr>
          <a:xfrm>
            <a:off x="7717536" y="1527048"/>
            <a:ext cx="237744" cy="237744"/>
          </a:xfrm>
          <a:prstGeom prst="ellipse">
            <a:avLst/>
          </a:prstGeom>
          <a:solidFill>
            <a:srgbClr val="1F8A80"/>
          </a:solidFill>
          <a:ln w="12700">
            <a:solidFill>
              <a:srgbClr val="333333"/>
            </a:solidFill>
            <a:prstDash val="solid"/>
          </a:ln>
        </p:spPr>
      </p:sp>
      <p:sp>
        <p:nvSpPr>
          <p:cNvPr id="12" name="Text 10"/>
          <p:cNvSpPr/>
          <p:nvPr/>
        </p:nvSpPr>
        <p:spPr>
          <a:xfrm>
            <a:off x="8065008" y="1490472"/>
            <a:ext cx="333756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Three ways out, one function</a:t>
            </a:r>
            <a:endParaRPr lang="en-US" sz="1200" dirty="0"/>
          </a:p>
        </p:txBody>
      </p:sp>
      <p:sp>
        <p:nvSpPr>
          <p:cNvPr id="13" name="Text 11"/>
          <p:cNvSpPr/>
          <p:nvPr/>
        </p:nvSpPr>
        <p:spPr>
          <a:xfrm>
            <a:off x="8065008" y="1783080"/>
            <a:ext cx="3300984" cy="795528"/>
          </a:xfrm>
          <a:prstGeom prst="rect">
            <a:avLst/>
          </a:prstGeom>
          <a:noFill/>
          <a:ln/>
        </p:spPr>
        <p:txBody>
          <a:bodyPr wrap="square" lIns="0" tIns="0" rIns="0" bIns="0" rtlCol="0" anchor="ctr"/>
          <a:lstStyle/>
          <a:p>
            <a:pPr indent="0" marL="0">
              <a:lnSpc>
                <a:spcPts val="1350"/>
              </a:lnSpc>
              <a:buNone/>
            </a:pPr>
            <a:r>
              <a:rPr lang="en-US" sz="1000" dirty="0">
                <a:solidFill>
                  <a:srgbClr val="3E4658"/>
                </a:solidFill>
                <a:latin typeface="Calibri" pitchFamily="34" charset="0"/>
                <a:ea typeface="Calibri" pitchFamily="34" charset="-122"/>
                <a:cs typeface="Calibri" pitchFamily="34" charset="-120"/>
              </a:rPr>
              <a:t>If a machine appears or dies, re-cut at once. If a new cut is clearly better and enough time has passed, apply it. Otherwise keep the current cut and just update its cost.</a:t>
            </a:r>
            <a:endParaRPr lang="en-US" sz="1000" dirty="0"/>
          </a:p>
        </p:txBody>
      </p:sp>
      <p:sp>
        <p:nvSpPr>
          <p:cNvPr id="14" name="Shape 12"/>
          <p:cNvSpPr/>
          <p:nvPr/>
        </p:nvSpPr>
        <p:spPr>
          <a:xfrm>
            <a:off x="7498080" y="2880360"/>
            <a:ext cx="4123944" cy="1280160"/>
          </a:xfrm>
          <a:prstGeom prst="roundRect">
            <a:avLst>
              <a:gd name="adj" fmla="val 4286"/>
            </a:avLst>
          </a:prstGeom>
          <a:solidFill>
            <a:srgbClr val="F1F3F7"/>
          </a:solidFill>
          <a:ln w="12700">
            <a:solidFill>
              <a:srgbClr val="333333"/>
            </a:solidFill>
            <a:prstDash val="solid"/>
          </a:ln>
        </p:spPr>
      </p:sp>
      <p:sp>
        <p:nvSpPr>
          <p:cNvPr id="15" name="Shape 13"/>
          <p:cNvSpPr/>
          <p:nvPr/>
        </p:nvSpPr>
        <p:spPr>
          <a:xfrm>
            <a:off x="7717536" y="3081528"/>
            <a:ext cx="237744" cy="237744"/>
          </a:xfrm>
          <a:prstGeom prst="ellipse">
            <a:avLst/>
          </a:prstGeom>
          <a:solidFill>
            <a:srgbClr val="1F8A80"/>
          </a:solidFill>
          <a:ln w="12700">
            <a:solidFill>
              <a:srgbClr val="333333"/>
            </a:solidFill>
            <a:prstDash val="solid"/>
          </a:ln>
        </p:spPr>
      </p:sp>
      <p:sp>
        <p:nvSpPr>
          <p:cNvPr id="16" name="Text 14"/>
          <p:cNvSpPr/>
          <p:nvPr/>
        </p:nvSpPr>
        <p:spPr>
          <a:xfrm>
            <a:off x="8065008" y="3044952"/>
            <a:ext cx="333756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We compare fairly</a:t>
            </a:r>
            <a:endParaRPr lang="en-US" sz="1200" dirty="0"/>
          </a:p>
        </p:txBody>
      </p:sp>
      <p:sp>
        <p:nvSpPr>
          <p:cNvPr id="17" name="Text 15"/>
          <p:cNvSpPr/>
          <p:nvPr/>
        </p:nvSpPr>
        <p:spPr>
          <a:xfrm>
            <a:off x="8065008" y="3337560"/>
            <a:ext cx="3300984" cy="658368"/>
          </a:xfrm>
          <a:prstGeom prst="rect">
            <a:avLst/>
          </a:prstGeom>
          <a:noFill/>
          <a:ln/>
        </p:spPr>
        <p:txBody>
          <a:bodyPr wrap="square" lIns="0" tIns="0" rIns="0" bIns="0" rtlCol="0" anchor="ctr"/>
          <a:lstStyle/>
          <a:p>
            <a:pPr indent="0" marL="0">
              <a:lnSpc>
                <a:spcPts val="1350"/>
              </a:lnSpc>
              <a:buNone/>
            </a:pPr>
            <a:r>
              <a:rPr lang="en-US" sz="1000" dirty="0">
                <a:solidFill>
                  <a:srgbClr val="3E4658"/>
                </a:solidFill>
                <a:latin typeface="Calibri" pitchFamily="34" charset="0"/>
                <a:ea typeface="Calibri" pitchFamily="34" charset="-122"/>
                <a:cs typeface="Calibri" pitchFamily="34" charset="-120"/>
              </a:rPr>
              <a:t>Before comparing, we re-score the cut we are already using with today's readings. Otherwise we would be comparing against an old number.</a:t>
            </a:r>
            <a:endParaRPr lang="en-US" sz="1000" dirty="0"/>
          </a:p>
        </p:txBody>
      </p:sp>
      <p:sp>
        <p:nvSpPr>
          <p:cNvPr id="18" name="Shape 16"/>
          <p:cNvSpPr/>
          <p:nvPr/>
        </p:nvSpPr>
        <p:spPr>
          <a:xfrm>
            <a:off x="7498080" y="4297680"/>
            <a:ext cx="4123944" cy="1719072"/>
          </a:xfrm>
          <a:prstGeom prst="roundRect">
            <a:avLst>
              <a:gd name="adj" fmla="val 3191"/>
            </a:avLst>
          </a:prstGeom>
          <a:solidFill>
            <a:srgbClr val="F1F3F7"/>
          </a:solidFill>
          <a:ln w="12700">
            <a:solidFill>
              <a:srgbClr val="333333"/>
            </a:solidFill>
            <a:prstDash val="solid"/>
          </a:ln>
        </p:spPr>
      </p:sp>
      <p:sp>
        <p:nvSpPr>
          <p:cNvPr id="19" name="Shape 17"/>
          <p:cNvSpPr/>
          <p:nvPr/>
        </p:nvSpPr>
        <p:spPr>
          <a:xfrm>
            <a:off x="7717536" y="4498848"/>
            <a:ext cx="237744" cy="237744"/>
          </a:xfrm>
          <a:prstGeom prst="ellipse">
            <a:avLst/>
          </a:prstGeom>
          <a:solidFill>
            <a:srgbClr val="E07B39"/>
          </a:solidFill>
          <a:ln w="12700">
            <a:solidFill>
              <a:srgbClr val="333333"/>
            </a:solidFill>
            <a:prstDash val="solid"/>
          </a:ln>
        </p:spPr>
      </p:sp>
      <p:sp>
        <p:nvSpPr>
          <p:cNvPr id="20" name="Text 18"/>
          <p:cNvSpPr/>
          <p:nvPr/>
        </p:nvSpPr>
        <p:spPr>
          <a:xfrm>
            <a:off x="8065008" y="4462272"/>
            <a:ext cx="333756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Changing the cut with no restart</a:t>
            </a:r>
            <a:endParaRPr lang="en-US" sz="1200" dirty="0"/>
          </a:p>
        </p:txBody>
      </p:sp>
      <p:sp>
        <p:nvSpPr>
          <p:cNvPr id="21" name="Text 19"/>
          <p:cNvSpPr/>
          <p:nvPr/>
        </p:nvSpPr>
        <p:spPr>
          <a:xfrm>
            <a:off x="8065008" y="4754880"/>
            <a:ext cx="3300984" cy="1097280"/>
          </a:xfrm>
          <a:prstGeom prst="rect">
            <a:avLst/>
          </a:prstGeom>
          <a:noFill/>
          <a:ln/>
        </p:spPr>
        <p:txBody>
          <a:bodyPr wrap="square" lIns="0" tIns="0" rIns="0" bIns="0" rtlCol="0" anchor="ctr"/>
          <a:lstStyle/>
          <a:p>
            <a:pPr indent="0" marL="0">
              <a:lnSpc>
                <a:spcPts val="1350"/>
              </a:lnSpc>
              <a:buNone/>
            </a:pPr>
            <a:r>
              <a:rPr lang="en-US" sz="1000" dirty="0">
                <a:solidFill>
                  <a:srgbClr val="3E4658"/>
                </a:solidFill>
                <a:latin typeface="Calibri" pitchFamily="34" charset="0"/>
                <a:ea typeface="Calibri" pitchFamily="34" charset="-122"/>
                <a:cs typeface="Calibri" pitchFamily="34" charset="-120"/>
              </a:rPr>
              <a:t>The controller saves the new layer ranges in Kubernetes and sends them to the machines with a new version number. Machines refuse messages from an old version. The router then fetches the new plan and replays the request from the start. Machines keep no state, so replaying is always safe.</a:t>
            </a:r>
            <a:endParaRPr lang="en-US" sz="1000" dirty="0"/>
          </a:p>
        </p:txBody>
      </p:sp>
      <p:sp>
        <p:nvSpPr>
          <p:cNvPr id="22" name="Text 20"/>
          <p:cNvSpPr/>
          <p:nvPr/>
        </p:nvSpPr>
        <p:spPr>
          <a:xfrm>
            <a:off x="566928" y="6400800"/>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Layers move off the hot machine in about 35 seconds, and come back once it cools down.</a:t>
            </a:r>
            <a:endParaRPr lang="en-US" sz="950" dirty="0"/>
          </a:p>
        </p:txBody>
      </p:sp>
      <p:sp>
        <p:nvSpPr>
          <p:cNvPr id="23" name="Text 21"/>
          <p:cNvSpPr/>
          <p:nvPr/>
        </p:nvSpPr>
        <p:spPr>
          <a:xfrm>
            <a:off x="11073384"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37744"/>
          </a:xfrm>
          <a:prstGeom prst="rect">
            <a:avLst/>
          </a:prstGeom>
          <a:noFill/>
          <a:ln/>
        </p:spPr>
        <p:txBody>
          <a:bodyPr wrap="square" lIns="0" tIns="0" rIns="0" bIns="0" rtlCol="0" anchor="ctr"/>
          <a:lstStyle/>
          <a:p>
            <a:pPr indent="0" marL="0">
              <a:buNone/>
            </a:pPr>
            <a:r>
              <a:rPr lang="en-US" sz="1150" b="1" spc="220" kern="0" dirty="0">
                <a:solidFill>
                  <a:srgbClr val="E07B39"/>
                </a:solidFill>
                <a:latin typeface="Calibri" pitchFamily="34" charset="0"/>
                <a:ea typeface="Calibri" pitchFamily="34" charset="-122"/>
                <a:cs typeface="Calibri" pitchFamily="34" charset="-120"/>
              </a:rPr>
              <a:t>DEMO</a:t>
            </a:r>
            <a:endParaRPr lang="en-US" sz="1150" dirty="0"/>
          </a:p>
        </p:txBody>
      </p:sp>
      <p:sp>
        <p:nvSpPr>
          <p:cNvPr id="3" name="Text 1"/>
          <p:cNvSpPr/>
          <p:nvPr/>
        </p:nvSpPr>
        <p:spPr>
          <a:xfrm>
            <a:off x="566928" y="566928"/>
            <a:ext cx="11055096" cy="603504"/>
          </a:xfrm>
          <a:prstGeom prst="rect">
            <a:avLst/>
          </a:prstGeom>
          <a:noFill/>
          <a:ln/>
        </p:spPr>
        <p:txBody>
          <a:bodyPr wrap="square" lIns="0" tIns="0" rIns="0" bIns="0" rtlCol="0" anchor="ctr"/>
          <a:lstStyle/>
          <a:p>
            <a:pPr indent="0" marL="0">
              <a:buNone/>
            </a:pPr>
            <a:r>
              <a:rPr lang="en-US" sz="3000" b="1" dirty="0">
                <a:solidFill>
                  <a:srgbClr val="141821"/>
                </a:solidFill>
                <a:latin typeface="Cambria" pitchFamily="34" charset="0"/>
                <a:ea typeface="Cambria" pitchFamily="34" charset="-122"/>
                <a:cs typeface="Cambria" pitchFamily="34" charset="-120"/>
              </a:rPr>
              <a:t>Runbook</a:t>
            </a:r>
            <a:endParaRPr lang="en-US" sz="3000" dirty="0"/>
          </a:p>
        </p:txBody>
      </p:sp>
      <p:sp>
        <p:nvSpPr>
          <p:cNvPr id="4" name="Shape 2"/>
          <p:cNvSpPr/>
          <p:nvPr/>
        </p:nvSpPr>
        <p:spPr>
          <a:xfrm>
            <a:off x="566928" y="1444752"/>
            <a:ext cx="310896" cy="310896"/>
          </a:xfrm>
          <a:prstGeom prst="ellipse">
            <a:avLst/>
          </a:prstGeom>
          <a:solidFill>
            <a:srgbClr val="E07B39"/>
          </a:solidFill>
          <a:ln w="12700">
            <a:solidFill>
              <a:srgbClr val="333333"/>
            </a:solidFill>
            <a:prstDash val="solid"/>
          </a:ln>
        </p:spPr>
      </p:sp>
      <p:sp>
        <p:nvSpPr>
          <p:cNvPr id="5" name="Text 3"/>
          <p:cNvSpPr/>
          <p:nvPr/>
        </p:nvSpPr>
        <p:spPr>
          <a:xfrm>
            <a:off x="566928" y="144475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6" name="Text 4"/>
          <p:cNvSpPr/>
          <p:nvPr/>
        </p:nvSpPr>
        <p:spPr>
          <a:xfrm>
            <a:off x="1024128" y="1371600"/>
            <a:ext cx="201168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One command starts everything</a:t>
            </a:r>
            <a:endParaRPr lang="en-US" sz="1200" dirty="0"/>
          </a:p>
        </p:txBody>
      </p:sp>
      <p:sp>
        <p:nvSpPr>
          <p:cNvPr id="7" name="Shape 5"/>
          <p:cNvSpPr/>
          <p:nvPr/>
        </p:nvSpPr>
        <p:spPr>
          <a:xfrm>
            <a:off x="3081528" y="1316736"/>
            <a:ext cx="4663440" cy="841248"/>
          </a:xfrm>
          <a:prstGeom prst="roundRect">
            <a:avLst>
              <a:gd name="adj" fmla="val 5435"/>
            </a:avLst>
          </a:prstGeom>
          <a:solidFill>
            <a:srgbClr val="141821"/>
          </a:solidFill>
          <a:ln w="12700">
            <a:solidFill>
              <a:srgbClr val="333333"/>
            </a:solidFill>
            <a:prstDash val="solid"/>
          </a:ln>
        </p:spPr>
      </p:sp>
      <p:sp>
        <p:nvSpPr>
          <p:cNvPr id="8" name="Text 6"/>
          <p:cNvSpPr/>
          <p:nvPr/>
        </p:nvSpPr>
        <p:spPr>
          <a:xfrm>
            <a:off x="3236976" y="1371600"/>
            <a:ext cx="4434840" cy="731520"/>
          </a:xfrm>
          <a:prstGeom prst="rect">
            <a:avLst/>
          </a:prstGeom>
          <a:noFill/>
          <a:ln/>
        </p:spPr>
        <p:txBody>
          <a:bodyPr wrap="square" lIns="0" tIns="0" rIns="0" bIns="0" rtlCol="0" anchor="ctr"/>
          <a:lstStyle/>
          <a:p>
            <a:pPr indent="0" marL="0">
              <a:lnSpc>
                <a:spcPts val="1050"/>
              </a:lnSpc>
              <a:buNone/>
            </a:pPr>
            <a:r>
              <a:rPr lang="en-US" sz="750" dirty="0">
                <a:solidFill>
                  <a:srgbClr val="D5DAE3"/>
                </a:solidFill>
                <a:latin typeface="Courier New" pitchFamily="34" charset="0"/>
                <a:ea typeface="Courier New" pitchFamily="34" charset="-122"/>
                <a:cs typeface="Courier New" pitchFamily="34" charset="-120"/>
              </a:rPr>
              <a:t>./run-demo.sh</a:t>
            </a:r>
            <a:endParaRPr lang="en-US" sz="750" dirty="0"/>
          </a:p>
        </p:txBody>
      </p:sp>
      <p:sp>
        <p:nvSpPr>
          <p:cNvPr id="9" name="Text 7"/>
          <p:cNvSpPr/>
          <p:nvPr/>
        </p:nvSpPr>
        <p:spPr>
          <a:xfrm>
            <a:off x="7927848" y="1316736"/>
            <a:ext cx="3703320" cy="841248"/>
          </a:xfrm>
          <a:prstGeom prst="rect">
            <a:avLst/>
          </a:prstGeom>
          <a:noFill/>
          <a:ln/>
        </p:spPr>
        <p:txBody>
          <a:bodyPr wrap="square" lIns="0" tIns="0" rIns="0" bIns="0" rtlCol="0" anchor="ctr"/>
          <a:lstStyle/>
          <a:p>
            <a:pPr indent="0" marL="0">
              <a:lnSpc>
                <a:spcPts val="1150"/>
              </a:lnSpc>
              <a:buNone/>
            </a:pPr>
            <a:r>
              <a:rPr lang="en-US" sz="900" dirty="0">
                <a:solidFill>
                  <a:srgbClr val="3E4658"/>
                </a:solidFill>
                <a:latin typeface="Calibri" pitchFamily="34" charset="0"/>
                <a:ea typeface="Calibri" pitchFamily="34" charset="-122"/>
                <a:cs typeface="Calibri" pitchFamily="34" charset="-120"/>
              </a:rPr>
              <a:t>Builds everything, starts the cluster, and opens a live dashboard on localhost:8000 showing the machines, how busy each one is, the network delays, and a log of every re-cut.</a:t>
            </a:r>
            <a:endParaRPr lang="en-US" sz="900" dirty="0"/>
          </a:p>
        </p:txBody>
      </p:sp>
      <p:sp>
        <p:nvSpPr>
          <p:cNvPr id="10" name="Shape 8"/>
          <p:cNvSpPr/>
          <p:nvPr/>
        </p:nvSpPr>
        <p:spPr>
          <a:xfrm>
            <a:off x="566928" y="2414016"/>
            <a:ext cx="310896" cy="310896"/>
          </a:xfrm>
          <a:prstGeom prst="ellipse">
            <a:avLst/>
          </a:prstGeom>
          <a:solidFill>
            <a:srgbClr val="1F8A80"/>
          </a:solidFill>
          <a:ln w="12700">
            <a:solidFill>
              <a:srgbClr val="333333"/>
            </a:solidFill>
            <a:prstDash val="solid"/>
          </a:ln>
        </p:spPr>
      </p:sp>
      <p:sp>
        <p:nvSpPr>
          <p:cNvPr id="11" name="Text 9"/>
          <p:cNvSpPr/>
          <p:nvPr/>
        </p:nvSpPr>
        <p:spPr>
          <a:xfrm>
            <a:off x="566928" y="241401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2" name="Text 10"/>
          <p:cNvSpPr/>
          <p:nvPr/>
        </p:nvSpPr>
        <p:spPr>
          <a:xfrm>
            <a:off x="1024128" y="2340864"/>
            <a:ext cx="201168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Watch the plan change</a:t>
            </a:r>
            <a:endParaRPr lang="en-US" sz="1200" dirty="0"/>
          </a:p>
        </p:txBody>
      </p:sp>
      <p:sp>
        <p:nvSpPr>
          <p:cNvPr id="13" name="Shape 11"/>
          <p:cNvSpPr/>
          <p:nvPr/>
        </p:nvSpPr>
        <p:spPr>
          <a:xfrm>
            <a:off x="3081528" y="2286000"/>
            <a:ext cx="4663440" cy="841248"/>
          </a:xfrm>
          <a:prstGeom prst="roundRect">
            <a:avLst>
              <a:gd name="adj" fmla="val 5435"/>
            </a:avLst>
          </a:prstGeom>
          <a:solidFill>
            <a:srgbClr val="141821"/>
          </a:solidFill>
          <a:ln w="12700">
            <a:solidFill>
              <a:srgbClr val="333333"/>
            </a:solidFill>
            <a:prstDash val="solid"/>
          </a:ln>
        </p:spPr>
      </p:sp>
      <p:sp>
        <p:nvSpPr>
          <p:cNvPr id="14" name="Text 12"/>
          <p:cNvSpPr/>
          <p:nvPr/>
        </p:nvSpPr>
        <p:spPr>
          <a:xfrm>
            <a:off x="3236976" y="2340864"/>
            <a:ext cx="4434840" cy="731520"/>
          </a:xfrm>
          <a:prstGeom prst="rect">
            <a:avLst/>
          </a:prstGeom>
          <a:noFill/>
          <a:ln/>
        </p:spPr>
        <p:txBody>
          <a:bodyPr wrap="square" lIns="0" tIns="0" rIns="0" bIns="0" rtlCol="0" anchor="ctr"/>
          <a:lstStyle/>
          <a:p>
            <a:pPr indent="0" marL="0">
              <a:lnSpc>
                <a:spcPts val="1050"/>
              </a:lnSpc>
              <a:buNone/>
            </a:pPr>
            <a:r>
              <a:rPr lang="en-US" sz="750" dirty="0">
                <a:solidFill>
                  <a:srgbClr val="D5DAE3"/>
                </a:solidFill>
                <a:latin typeface="Courier New" pitchFamily="34" charset="0"/>
                <a:ea typeface="Courier New" pitchFamily="34" charset="-122"/>
                <a:cs typeface="Courier New" pitchFamily="34" charset="-120"/>
              </a:rPr>
              <a:t>kubectl -n kubeedgeinfer get ipl demo -w</a:t>
            </a:r>
            <a:endParaRPr lang="en-US" sz="750" dirty="0"/>
          </a:p>
        </p:txBody>
      </p:sp>
      <p:sp>
        <p:nvSpPr>
          <p:cNvPr id="15" name="Text 13"/>
          <p:cNvSpPr/>
          <p:nvPr/>
        </p:nvSpPr>
        <p:spPr>
          <a:xfrm>
            <a:off x="7927848" y="2286000"/>
            <a:ext cx="3703320" cy="841248"/>
          </a:xfrm>
          <a:prstGeom prst="rect">
            <a:avLst/>
          </a:prstGeom>
          <a:noFill/>
          <a:ln/>
        </p:spPr>
        <p:txBody>
          <a:bodyPr wrap="square" lIns="0" tIns="0" rIns="0" bIns="0" rtlCol="0" anchor="ctr"/>
          <a:lstStyle/>
          <a:p>
            <a:pPr indent="0" marL="0">
              <a:lnSpc>
                <a:spcPts val="1150"/>
              </a:lnSpc>
              <a:buNone/>
            </a:pPr>
            <a:r>
              <a:rPr lang="en-US" sz="900" dirty="0">
                <a:solidFill>
                  <a:srgbClr val="3E4658"/>
                </a:solidFill>
                <a:latin typeface="Calibri" pitchFamily="34" charset="0"/>
                <a:ea typeface="Calibri" pitchFamily="34" charset="-122"/>
                <a:cs typeface="Calibri" pitchFamily="34" charset="-120"/>
              </a:rPr>
              <a:t>The layer ranges and the version number update as the controller re-plans.</a:t>
            </a:r>
            <a:endParaRPr lang="en-US" sz="900" dirty="0"/>
          </a:p>
        </p:txBody>
      </p:sp>
      <p:sp>
        <p:nvSpPr>
          <p:cNvPr id="16" name="Shape 14"/>
          <p:cNvSpPr/>
          <p:nvPr/>
        </p:nvSpPr>
        <p:spPr>
          <a:xfrm>
            <a:off x="566928" y="3383280"/>
            <a:ext cx="310896" cy="310896"/>
          </a:xfrm>
          <a:prstGeom prst="ellipse">
            <a:avLst/>
          </a:prstGeom>
          <a:solidFill>
            <a:srgbClr val="E07B39"/>
          </a:solidFill>
          <a:ln w="12700">
            <a:solidFill>
              <a:srgbClr val="333333"/>
            </a:solidFill>
            <a:prstDash val="solid"/>
          </a:ln>
        </p:spPr>
      </p:sp>
      <p:sp>
        <p:nvSpPr>
          <p:cNvPr id="17" name="Text 15"/>
          <p:cNvSpPr/>
          <p:nvPr/>
        </p:nvSpPr>
        <p:spPr>
          <a:xfrm>
            <a:off x="566928" y="338328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1024128" y="3310128"/>
            <a:ext cx="201168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Send it some work</a:t>
            </a:r>
            <a:endParaRPr lang="en-US" sz="1200" dirty="0"/>
          </a:p>
        </p:txBody>
      </p:sp>
      <p:sp>
        <p:nvSpPr>
          <p:cNvPr id="19" name="Shape 17"/>
          <p:cNvSpPr/>
          <p:nvPr/>
        </p:nvSpPr>
        <p:spPr>
          <a:xfrm>
            <a:off x="3081528" y="3255264"/>
            <a:ext cx="4663440" cy="841248"/>
          </a:xfrm>
          <a:prstGeom prst="roundRect">
            <a:avLst>
              <a:gd name="adj" fmla="val 5435"/>
            </a:avLst>
          </a:prstGeom>
          <a:solidFill>
            <a:srgbClr val="141821"/>
          </a:solidFill>
          <a:ln w="12700">
            <a:solidFill>
              <a:srgbClr val="333333"/>
            </a:solidFill>
            <a:prstDash val="solid"/>
          </a:ln>
        </p:spPr>
      </p:sp>
      <p:sp>
        <p:nvSpPr>
          <p:cNvPr id="20" name="Text 18"/>
          <p:cNvSpPr/>
          <p:nvPr/>
        </p:nvSpPr>
        <p:spPr>
          <a:xfrm>
            <a:off x="3236976" y="3310128"/>
            <a:ext cx="4434840" cy="731520"/>
          </a:xfrm>
          <a:prstGeom prst="rect">
            <a:avLst/>
          </a:prstGeom>
          <a:noFill/>
          <a:ln/>
        </p:spPr>
        <p:txBody>
          <a:bodyPr wrap="square" lIns="0" tIns="0" rIns="0" bIns="0" rtlCol="0" anchor="ctr"/>
          <a:lstStyle/>
          <a:p>
            <a:pPr indent="0" marL="0">
              <a:lnSpc>
                <a:spcPts val="1050"/>
              </a:lnSpc>
              <a:buNone/>
            </a:pPr>
            <a:r>
              <a:rPr lang="en-US" sz="750" dirty="0">
                <a:solidFill>
                  <a:srgbClr val="D5DAE3"/>
                </a:solidFill>
                <a:latin typeface="Courier New" pitchFamily="34" charset="0"/>
                <a:ea typeface="Courier New" pitchFamily="34" charset="-122"/>
                <a:cs typeface="Courier New" pitchFamily="34" charset="-120"/>
              </a:rPr>
              <a:t>kubectl -n kubeedgeinfer port-forward svc/router 8080:8080</a:t>
            </a:r>
            <a:endParaRPr lang="en-US" sz="750" dirty="0"/>
          </a:p>
          <a:p>
            <a:pPr indent="0" marL="0">
              <a:lnSpc>
                <a:spcPts val="1050"/>
              </a:lnSpc>
              <a:buNone/>
            </a:pPr>
            <a:r>
              <a:rPr lang="en-US" sz="750" dirty="0">
                <a:solidFill>
                  <a:srgbClr val="D5DAE3"/>
                </a:solidFill>
                <a:latin typeface="Courier New" pitchFamily="34" charset="0"/>
                <a:ea typeface="Courier New" pitchFamily="34" charset="-122"/>
                <a:cs typeface="Courier New" pitchFamily="34" charset="-120"/>
              </a:rPr>
              <a:t>curl -X POST localhost:8080/generate \</a:t>
            </a:r>
            <a:endParaRPr lang="en-US" sz="750" dirty="0"/>
          </a:p>
          <a:p>
            <a:pPr indent="0" marL="0">
              <a:lnSpc>
                <a:spcPts val="1050"/>
              </a:lnSpc>
              <a:buNone/>
            </a:pPr>
            <a:r>
              <a:rPr lang="en-US" sz="750" dirty="0">
                <a:solidFill>
                  <a:srgbClr val="D5DAE3"/>
                </a:solidFill>
                <a:latin typeface="Courier New" pitchFamily="34" charset="0"/>
                <a:ea typeface="Courier New" pitchFamily="34" charset="-122"/>
                <a:cs typeface="Courier New" pitchFamily="34" charset="-120"/>
              </a:rPr>
              <a:t>  -d '{"prompt_len":16,"max_new_tokens":8}'</a:t>
            </a:r>
            <a:endParaRPr lang="en-US" sz="750" dirty="0"/>
          </a:p>
        </p:txBody>
      </p:sp>
      <p:sp>
        <p:nvSpPr>
          <p:cNvPr id="21" name="Text 19"/>
          <p:cNvSpPr/>
          <p:nvPr/>
        </p:nvSpPr>
        <p:spPr>
          <a:xfrm>
            <a:off x="7927848" y="3255264"/>
            <a:ext cx="3703320" cy="841248"/>
          </a:xfrm>
          <a:prstGeom prst="rect">
            <a:avLst/>
          </a:prstGeom>
          <a:noFill/>
          <a:ln/>
        </p:spPr>
        <p:txBody>
          <a:bodyPr wrap="square" lIns="0" tIns="0" rIns="0" bIns="0" rtlCol="0" anchor="ctr"/>
          <a:lstStyle/>
          <a:p>
            <a:pPr indent="0" marL="0">
              <a:lnSpc>
                <a:spcPts val="1150"/>
              </a:lnSpc>
              <a:buNone/>
            </a:pPr>
            <a:r>
              <a:rPr lang="en-US" sz="900" dirty="0">
                <a:solidFill>
                  <a:srgbClr val="3E4658"/>
                </a:solidFill>
                <a:latin typeface="Calibri" pitchFamily="34" charset="0"/>
                <a:ea typeface="Calibri" pitchFamily="34" charset="-122"/>
                <a:cs typeface="Calibri" pitchFamily="34" charset="-120"/>
              </a:rPr>
              <a:t>The router sends each request through the machines in order.</a:t>
            </a:r>
            <a:endParaRPr lang="en-US" sz="900" dirty="0"/>
          </a:p>
        </p:txBody>
      </p:sp>
      <p:sp>
        <p:nvSpPr>
          <p:cNvPr id="22" name="Shape 20"/>
          <p:cNvSpPr/>
          <p:nvPr/>
        </p:nvSpPr>
        <p:spPr>
          <a:xfrm>
            <a:off x="566928" y="4352544"/>
            <a:ext cx="310896" cy="310896"/>
          </a:xfrm>
          <a:prstGeom prst="ellipse">
            <a:avLst/>
          </a:prstGeom>
          <a:solidFill>
            <a:srgbClr val="1F8A80"/>
          </a:solidFill>
          <a:ln w="12700">
            <a:solidFill>
              <a:srgbClr val="333333"/>
            </a:solidFill>
            <a:prstDash val="solid"/>
          </a:ln>
        </p:spPr>
      </p:sp>
      <p:sp>
        <p:nvSpPr>
          <p:cNvPr id="23" name="Text 21"/>
          <p:cNvSpPr/>
          <p:nvPr/>
        </p:nvSpPr>
        <p:spPr>
          <a:xfrm>
            <a:off x="566928" y="435254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4" name="Text 22"/>
          <p:cNvSpPr/>
          <p:nvPr/>
        </p:nvSpPr>
        <p:spPr>
          <a:xfrm>
            <a:off x="1024128" y="4279392"/>
            <a:ext cx="201168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Break something on purpose</a:t>
            </a:r>
            <a:endParaRPr lang="en-US" sz="1200" dirty="0"/>
          </a:p>
        </p:txBody>
      </p:sp>
      <p:sp>
        <p:nvSpPr>
          <p:cNvPr id="25" name="Shape 23"/>
          <p:cNvSpPr/>
          <p:nvPr/>
        </p:nvSpPr>
        <p:spPr>
          <a:xfrm>
            <a:off x="3081528" y="4224528"/>
            <a:ext cx="4663440" cy="841248"/>
          </a:xfrm>
          <a:prstGeom prst="roundRect">
            <a:avLst>
              <a:gd name="adj" fmla="val 5435"/>
            </a:avLst>
          </a:prstGeom>
          <a:solidFill>
            <a:srgbClr val="141821"/>
          </a:solidFill>
          <a:ln w="12700">
            <a:solidFill>
              <a:srgbClr val="333333"/>
            </a:solidFill>
            <a:prstDash val="solid"/>
          </a:ln>
        </p:spPr>
      </p:sp>
      <p:sp>
        <p:nvSpPr>
          <p:cNvPr id="26" name="Text 24"/>
          <p:cNvSpPr/>
          <p:nvPr/>
        </p:nvSpPr>
        <p:spPr>
          <a:xfrm>
            <a:off x="3236976" y="4279392"/>
            <a:ext cx="4434840" cy="731520"/>
          </a:xfrm>
          <a:prstGeom prst="rect">
            <a:avLst/>
          </a:prstGeom>
          <a:noFill/>
          <a:ln/>
        </p:spPr>
        <p:txBody>
          <a:bodyPr wrap="square" lIns="0" tIns="0" rIns="0" bIns="0" rtlCol="0" anchor="ctr"/>
          <a:lstStyle/>
          <a:p>
            <a:pPr indent="0" marL="0">
              <a:lnSpc>
                <a:spcPts val="1050"/>
              </a:lnSpc>
              <a:buNone/>
            </a:pPr>
            <a:r>
              <a:rPr lang="en-US" sz="750" dirty="0">
                <a:solidFill>
                  <a:srgbClr val="D5DAE3"/>
                </a:solidFill>
                <a:latin typeface="Courier New" pitchFamily="34" charset="0"/>
                <a:ea typeface="Courier New" pitchFamily="34" charset="-122"/>
                <a:cs typeface="Courier New" pitchFamily="34" charset="-120"/>
              </a:rPr>
              <a:t>curl -X POST http://$W2:9101/gpu/override \</a:t>
            </a:r>
            <a:endParaRPr lang="en-US" sz="750" dirty="0"/>
          </a:p>
          <a:p>
            <a:pPr indent="0" marL="0">
              <a:lnSpc>
                <a:spcPts val="1050"/>
              </a:lnSpc>
              <a:buNone/>
            </a:pPr>
            <a:r>
              <a:rPr lang="en-US" sz="750" dirty="0">
                <a:solidFill>
                  <a:srgbClr val="D5DAE3"/>
                </a:solidFill>
                <a:latin typeface="Courier New" pitchFamily="34" charset="0"/>
                <a:ea typeface="Courier New" pitchFamily="34" charset="-122"/>
                <a:cs typeface="Courier New" pitchFamily="34" charset="-120"/>
              </a:rPr>
              <a:t>  -d '{"temp_c": 92}'</a:t>
            </a:r>
            <a:endParaRPr lang="en-US" sz="750" dirty="0"/>
          </a:p>
        </p:txBody>
      </p:sp>
      <p:sp>
        <p:nvSpPr>
          <p:cNvPr id="27" name="Text 25"/>
          <p:cNvSpPr/>
          <p:nvPr/>
        </p:nvSpPr>
        <p:spPr>
          <a:xfrm>
            <a:off x="7927848" y="4224528"/>
            <a:ext cx="3703320" cy="841248"/>
          </a:xfrm>
          <a:prstGeom prst="rect">
            <a:avLst/>
          </a:prstGeom>
          <a:noFill/>
          <a:ln/>
        </p:spPr>
        <p:txBody>
          <a:bodyPr wrap="square" lIns="0" tIns="0" rIns="0" bIns="0" rtlCol="0" anchor="ctr"/>
          <a:lstStyle/>
          <a:p>
            <a:pPr indent="0" marL="0">
              <a:lnSpc>
                <a:spcPts val="1150"/>
              </a:lnSpc>
              <a:buNone/>
            </a:pPr>
            <a:r>
              <a:rPr lang="en-US" sz="900" dirty="0">
                <a:solidFill>
                  <a:srgbClr val="3E4658"/>
                </a:solidFill>
                <a:latin typeface="Calibri" pitchFamily="34" charset="0"/>
                <a:ea typeface="Calibri" pitchFamily="34" charset="-122"/>
                <a:cs typeface="Calibri" pitchFamily="34" charset="-120"/>
              </a:rPr>
              <a:t>Or press the buttons on the dashboard. Layers move off the hot machine, then come back once it cools.</a:t>
            </a:r>
            <a:endParaRPr lang="en-US" sz="900" dirty="0"/>
          </a:p>
        </p:txBody>
      </p:sp>
      <p:sp>
        <p:nvSpPr>
          <p:cNvPr id="28" name="Shape 26"/>
          <p:cNvSpPr/>
          <p:nvPr/>
        </p:nvSpPr>
        <p:spPr>
          <a:xfrm>
            <a:off x="566928" y="5321808"/>
            <a:ext cx="310896" cy="310896"/>
          </a:xfrm>
          <a:prstGeom prst="ellipse">
            <a:avLst/>
          </a:prstGeom>
          <a:solidFill>
            <a:srgbClr val="E07B39"/>
          </a:solidFill>
          <a:ln w="12700">
            <a:solidFill>
              <a:srgbClr val="333333"/>
            </a:solidFill>
            <a:prstDash val="solid"/>
          </a:ln>
        </p:spPr>
      </p:sp>
      <p:sp>
        <p:nvSpPr>
          <p:cNvPr id="29" name="Text 27"/>
          <p:cNvSpPr/>
          <p:nvPr/>
        </p:nvSpPr>
        <p:spPr>
          <a:xfrm>
            <a:off x="566928" y="532180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0" name="Text 28"/>
          <p:cNvSpPr/>
          <p:nvPr/>
        </p:nvSpPr>
        <p:spPr>
          <a:xfrm>
            <a:off x="1024128" y="5248656"/>
            <a:ext cx="2011680" cy="274320"/>
          </a:xfrm>
          <a:prstGeom prst="rect">
            <a:avLst/>
          </a:prstGeom>
          <a:noFill/>
          <a:ln/>
        </p:spPr>
        <p:txBody>
          <a:bodyPr wrap="square" lIns="0" tIns="0" rIns="0" bIns="0" rtlCol="0" anchor="ctr"/>
          <a:lstStyle/>
          <a:p>
            <a:pPr indent="0" marL="0">
              <a:buNone/>
            </a:pPr>
            <a:r>
              <a:rPr lang="en-US" sz="1200" b="1" dirty="0">
                <a:solidFill>
                  <a:srgbClr val="141821"/>
                </a:solidFill>
                <a:latin typeface="Calibri" pitchFamily="34" charset="0"/>
                <a:ea typeface="Calibri" pitchFamily="34" charset="-122"/>
                <a:cs typeface="Calibri" pitchFamily="34" charset="-120"/>
              </a:rPr>
              <a:t>Reproduce the numbers</a:t>
            </a:r>
            <a:endParaRPr lang="en-US" sz="1200" dirty="0"/>
          </a:p>
        </p:txBody>
      </p:sp>
      <p:sp>
        <p:nvSpPr>
          <p:cNvPr id="31" name="Shape 29"/>
          <p:cNvSpPr/>
          <p:nvPr/>
        </p:nvSpPr>
        <p:spPr>
          <a:xfrm>
            <a:off x="3081528" y="5193792"/>
            <a:ext cx="4663440" cy="841248"/>
          </a:xfrm>
          <a:prstGeom prst="roundRect">
            <a:avLst>
              <a:gd name="adj" fmla="val 5435"/>
            </a:avLst>
          </a:prstGeom>
          <a:solidFill>
            <a:srgbClr val="141821"/>
          </a:solidFill>
          <a:ln w="12700">
            <a:solidFill>
              <a:srgbClr val="333333"/>
            </a:solidFill>
            <a:prstDash val="solid"/>
          </a:ln>
        </p:spPr>
      </p:sp>
      <p:sp>
        <p:nvSpPr>
          <p:cNvPr id="32" name="Text 30"/>
          <p:cNvSpPr/>
          <p:nvPr/>
        </p:nvSpPr>
        <p:spPr>
          <a:xfrm>
            <a:off x="3236976" y="5248656"/>
            <a:ext cx="4434840" cy="731520"/>
          </a:xfrm>
          <a:prstGeom prst="rect">
            <a:avLst/>
          </a:prstGeom>
          <a:noFill/>
          <a:ln/>
        </p:spPr>
        <p:txBody>
          <a:bodyPr wrap="square" lIns="0" tIns="0" rIns="0" bIns="0" rtlCol="0" anchor="ctr"/>
          <a:lstStyle/>
          <a:p>
            <a:pPr indent="0" marL="0">
              <a:lnSpc>
                <a:spcPts val="1050"/>
              </a:lnSpc>
              <a:buNone/>
            </a:pPr>
            <a:r>
              <a:rPr lang="en-US" sz="750" dirty="0">
                <a:solidFill>
                  <a:srgbClr val="D5DAE3"/>
                </a:solidFill>
                <a:latin typeface="Courier New" pitchFamily="34" charset="0"/>
                <a:ea typeface="Courier New" pitchFamily="34" charset="-122"/>
                <a:cs typeface="Courier New" pitchFamily="34" charset="-120"/>
              </a:rPr>
              <a:t>go run ./bench/dpsim</a:t>
            </a:r>
            <a:endParaRPr lang="en-US" sz="750" dirty="0"/>
          </a:p>
          <a:p>
            <a:pPr indent="0" marL="0">
              <a:lnSpc>
                <a:spcPts val="1050"/>
              </a:lnSpc>
              <a:buNone/>
            </a:pPr>
            <a:r>
              <a:rPr lang="en-US" sz="750" dirty="0">
                <a:solidFill>
                  <a:srgbClr val="D5DAE3"/>
                </a:solidFill>
                <a:latin typeface="Courier New" pitchFamily="34" charset="0"/>
                <a:ea typeface="Courier New" pitchFamily="34" charset="-122"/>
                <a:cs typeface="Courier New" pitchFamily="34" charset="-120"/>
              </a:rPr>
              <a:t>python3 bench/run.py --all &amp;&amp; python3 bench/plot.py</a:t>
            </a:r>
            <a:endParaRPr lang="en-US" sz="750" dirty="0"/>
          </a:p>
        </p:txBody>
      </p:sp>
      <p:sp>
        <p:nvSpPr>
          <p:cNvPr id="33" name="Text 31"/>
          <p:cNvSpPr/>
          <p:nvPr/>
        </p:nvSpPr>
        <p:spPr>
          <a:xfrm>
            <a:off x="7927848" y="5193792"/>
            <a:ext cx="3703320" cy="841248"/>
          </a:xfrm>
          <a:prstGeom prst="rect">
            <a:avLst/>
          </a:prstGeom>
          <a:noFill/>
          <a:ln/>
        </p:spPr>
        <p:txBody>
          <a:bodyPr wrap="square" lIns="0" tIns="0" rIns="0" bIns="0" rtlCol="0" anchor="ctr"/>
          <a:lstStyle/>
          <a:p>
            <a:pPr indent="0" marL="0">
              <a:lnSpc>
                <a:spcPts val="1150"/>
              </a:lnSpc>
              <a:buNone/>
            </a:pPr>
            <a:r>
              <a:rPr lang="en-US" sz="900" dirty="0">
                <a:solidFill>
                  <a:srgbClr val="3E4658"/>
                </a:solidFill>
                <a:latin typeface="Calibri" pitchFamily="34" charset="0"/>
                <a:ea typeface="Calibri" pitchFamily="34" charset="-122"/>
                <a:cs typeface="Calibri" pitchFamily="34" charset="-120"/>
              </a:rPr>
              <a:t>dpsim reproduces the numbers on slide 11 with no cluster at all. bench/run.py needs the running cluster and measures words per second and idle time.</a:t>
            </a:r>
            <a:endParaRPr lang="en-US" sz="900" dirty="0"/>
          </a:p>
        </p:txBody>
      </p:sp>
      <p:sp>
        <p:nvSpPr>
          <p:cNvPr id="34" name="Text 32"/>
          <p:cNvSpPr/>
          <p:nvPr/>
        </p:nvSpPr>
        <p:spPr>
          <a:xfrm>
            <a:off x="566928" y="6400800"/>
            <a:ext cx="96926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You need: a modern Linux kernel, Docker, kind, kubectl and Python 3.11 or newer.</a:t>
            </a:r>
            <a:endParaRPr lang="en-US" sz="950" dirty="0"/>
          </a:p>
        </p:txBody>
      </p:sp>
      <p:sp>
        <p:nvSpPr>
          <p:cNvPr id="35" name="Text 33"/>
          <p:cNvSpPr/>
          <p:nvPr/>
        </p:nvSpPr>
        <p:spPr>
          <a:xfrm>
            <a:off x="11073384" y="6400800"/>
            <a:ext cx="5486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KubeEdgeInfer - Code Demo</dc:title>
  <dc:subject>PptxGenJS Presentation</dc:subject>
  <dc:creator>PptxGenJS</dc:creator>
  <cp:lastModifiedBy>PptxGenJS</cp:lastModifiedBy>
  <cp:revision>1</cp:revision>
  <dcterms:created xsi:type="dcterms:W3CDTF">2026-08-17T06:06:14Z</dcterms:created>
  <dcterms:modified xsi:type="dcterms:W3CDTF">2026-08-17T06:06:14Z</dcterms:modified>
</cp:coreProperties>
</file>