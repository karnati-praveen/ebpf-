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298448"/>
            <a:ext cx="10058400" cy="365760"/>
          </a:xfrm>
          <a:prstGeom prst="rect">
            <a:avLst/>
          </a:prstGeom>
          <a:noFill/>
        </p:spPr>
        <p:txBody>
          <a:bodyPr wrap="square" lIns="0" rIns="0" tIns="0" bIns="0" anchor="t">
            <a:spAutoFit/>
          </a:bodyPr>
          <a:lstStyle/>
          <a:p>
            <a:pPr algn="l">
              <a:lnSpc>
                <a:spcPct val="115000"/>
              </a:lnSpc>
              <a:spcBef>
                <a:spcPts val="0"/>
              </a:spcBef>
              <a:spcAft>
                <a:spcPts val="0"/>
              </a:spcAft>
            </a:pPr>
            <a:r>
              <a:rPr sz="1300" b="1" i="0">
                <a:solidFill>
                  <a:srgbClr val="8FBCEE"/>
                </a:solidFill>
                <a:latin typeface="Segoe UI"/>
              </a:rPr>
              <a:t>SECTION 11  ·  DEMO DECK</a:t>
            </a:r>
          </a:p>
        </p:txBody>
      </p:sp>
      <p:sp>
        <p:nvSpPr>
          <p:cNvPr id="5" name="TextBox 4"/>
          <p:cNvSpPr txBox="1"/>
          <p:nvPr/>
        </p:nvSpPr>
        <p:spPr>
          <a:xfrm>
            <a:off x="1051560" y="1783080"/>
            <a:ext cx="10058400" cy="1737360"/>
          </a:xfrm>
          <a:prstGeom prst="rect">
            <a:avLst/>
          </a:prstGeom>
          <a:noFill/>
        </p:spPr>
        <p:txBody>
          <a:bodyPr wrap="square" lIns="0" rIns="0" tIns="0" bIns="0" anchor="t">
            <a:spAutoFit/>
          </a:bodyPr>
          <a:lstStyle/>
          <a:p>
            <a:pPr algn="l">
              <a:lnSpc>
                <a:spcPct val="102000"/>
              </a:lnSpc>
              <a:spcBef>
                <a:spcPts val="0"/>
              </a:spcBef>
              <a:spcAft>
                <a:spcPts val="0"/>
              </a:spcAft>
            </a:pPr>
            <a:r>
              <a:rPr sz="4600" b="1" i="0">
                <a:solidFill>
                  <a:srgbClr val="FFFFFF"/>
                </a:solidFill>
                <a:latin typeface="Segoe UI"/>
              </a:rPr>
              <a:t>Code &amp; Live Demo</a:t>
            </a:r>
          </a:p>
        </p:txBody>
      </p:sp>
      <p:sp>
        <p:nvSpPr>
          <p:cNvPr id="6" name="TextBox 5"/>
          <p:cNvSpPr txBox="1"/>
          <p:nvPr/>
        </p:nvSpPr>
        <p:spPr>
          <a:xfrm>
            <a:off x="1051560" y="3127248"/>
            <a:ext cx="9509760" cy="1188720"/>
          </a:xfrm>
          <a:prstGeom prst="rect">
            <a:avLst/>
          </a:prstGeom>
          <a:noFill/>
        </p:spPr>
        <p:txBody>
          <a:bodyPr wrap="square" lIns="0" rIns="0" tIns="0" bIns="0" anchor="t">
            <a:spAutoFit/>
          </a:bodyPr>
          <a:lstStyle/>
          <a:p>
            <a:pPr algn="l">
              <a:lnSpc>
                <a:spcPct val="124000"/>
              </a:lnSpc>
              <a:spcBef>
                <a:spcPts val="0"/>
              </a:spcBef>
              <a:spcAft>
                <a:spcPts val="0"/>
              </a:spcAft>
            </a:pPr>
            <a:r>
              <a:rPr sz="1900" b="0" i="0">
                <a:solidFill>
                  <a:srgbClr val="B9CCDE"/>
                </a:solidFill>
                <a:latin typeface="Segoe UI"/>
              </a:rPr>
              <a:t>Repository walkthrough, full Docker / VM / cluster configuration, and the exact commands run during the demonstration</a:t>
            </a:r>
          </a:p>
        </p:txBody>
      </p:sp>
      <p:sp>
        <p:nvSpPr>
          <p:cNvPr id="7" name="Rectangle 6"/>
          <p:cNvSpPr/>
          <p:nvPr/>
        </p:nvSpPr>
        <p:spPr>
          <a:xfrm>
            <a:off x="1069848" y="4626864"/>
            <a:ext cx="1371600" cy="32004"/>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956048"/>
            <a:ext cx="10058400" cy="1371600"/>
          </a:xfrm>
          <a:prstGeom prst="rect">
            <a:avLst/>
          </a:prstGeom>
          <a:noFill/>
        </p:spPr>
        <p:txBody>
          <a:bodyPr wrap="square" lIns="0" rIns="0" tIns="0" bIns="0" anchor="t">
            <a:spAutoFit/>
          </a:bodyPr>
          <a:lstStyle/>
          <a:p>
            <a:pPr algn="l">
              <a:lnSpc>
                <a:spcPct val="115000"/>
              </a:lnSpc>
              <a:spcBef>
                <a:spcPts val="0"/>
              </a:spcBef>
              <a:spcAft>
                <a:spcPts val="500"/>
              </a:spcAft>
            </a:pPr>
            <a:r>
              <a:rPr sz="1350" b="0" i="0">
                <a:solidFill>
                  <a:srgbClr val="A8BDD1"/>
                </a:solidFill>
                <a:latin typeface="Segoe UI"/>
              </a:rPr>
              <a:t>KubeEdgeInfer  ·  Karnati Praveen</a:t>
            </a:r>
          </a:p>
          <a:p>
            <a:pPr algn="l">
              <a:lnSpc>
                <a:spcPct val="115000"/>
              </a:lnSpc>
              <a:spcBef>
                <a:spcPts val="0"/>
              </a:spcBef>
              <a:spcAft>
                <a:spcPts val="500"/>
              </a:spcAft>
            </a:pPr>
            <a:r>
              <a:rPr sz="1350" b="0" i="0">
                <a:solidFill>
                  <a:srgbClr val="A8BDD1"/>
                </a:solidFill>
                <a:latin typeface="Segoe UI"/>
              </a:rPr>
              <a:t>github.com/karnati-praveen/ebpf-</a:t>
            </a:r>
          </a:p>
          <a:p>
            <a:pPr algn="l">
              <a:lnSpc>
                <a:spcPct val="115000"/>
              </a:lnSpc>
              <a:spcBef>
                <a:spcPts val="0"/>
              </a:spcBef>
              <a:spcAft>
                <a:spcPts val="500"/>
              </a:spcAft>
            </a:pPr>
            <a:r>
              <a:rPr sz="1350" b="0" i="0">
                <a:solidFill>
                  <a:srgbClr val="A8BDD1"/>
                </a:solidFill>
                <a:latin typeface="Segoe UI"/>
              </a:rPr>
              <a:t>Companion to the main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CODE WALKTHROUGH</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Repository map</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11057839" cy="384048"/>
          </a:xfrm>
          <a:prstGeom prst="rect">
            <a:avLst/>
          </a:prstGeom>
          <a:noFill/>
        </p:spPr>
        <p:txBody>
          <a:bodyPr wrap="square" lIns="0" rIns="0" tIns="0" bIns="0" anchor="t">
            <a:spAutoFit/>
          </a:bodyPr>
          <a:lstStyle/>
          <a:p>
            <a:pPr algn="l">
              <a:lnSpc>
                <a:spcPct val="120000"/>
              </a:lnSpc>
              <a:spcBef>
                <a:spcPts val="0"/>
              </a:spcBef>
              <a:spcAft>
                <a:spcPts val="0"/>
              </a:spcAft>
            </a:pPr>
            <a:r>
              <a:rPr sz="1350" b="0" i="1">
                <a:solidFill>
                  <a:srgbClr val="5E6E7E"/>
                </a:solidFill>
                <a:latin typeface="Segoe UI"/>
              </a:rPr>
              <a:t>Where each stage of the WATCH - DECIDE - ACT - HEAL loop actually lives.</a:t>
            </a:r>
          </a:p>
        </p:txBody>
      </p:sp>
      <p:sp>
        <p:nvSpPr>
          <p:cNvPr id="6" name="Rectangle 5"/>
          <p:cNvSpPr/>
          <p:nvPr/>
        </p:nvSpPr>
        <p:spPr>
          <a:xfrm>
            <a:off x="566928" y="2002536"/>
            <a:ext cx="5623560" cy="406908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21408"/>
            <a:ext cx="5330952" cy="3803904"/>
          </a:xfrm>
          <a:prstGeom prst="rect">
            <a:avLst/>
          </a:prstGeom>
          <a:noFill/>
        </p:spPr>
        <p:txBody>
          <a:bodyPr wrap="square" lIns="0" rIns="0" tIns="0" bIns="0" anchor="t">
            <a:spAutoFit/>
          </a:bodyPr>
          <a:lstStyle/>
          <a:p>
            <a:pPr algn="l">
              <a:lnSpc>
                <a:spcPct val="116000"/>
              </a:lnSpc>
              <a:spcBef>
                <a:spcPts val="0"/>
              </a:spcBef>
              <a:spcAft>
                <a:spcPts val="0"/>
              </a:spcAft>
            </a:pPr>
            <a:r>
              <a:rPr sz="950" b="0" i="0">
                <a:solidFill>
                  <a:srgbClr val="1F2933"/>
                </a:solidFill>
                <a:latin typeface="Consolas"/>
              </a:rPr>
              <a:t>ebpf-/</a:t>
            </a:r>
          </a:p>
          <a:p>
            <a:pPr algn="l">
              <a:lnSpc>
                <a:spcPct val="116000"/>
              </a:lnSpc>
              <a:spcBef>
                <a:spcPts val="0"/>
              </a:spcBef>
              <a:spcAft>
                <a:spcPts val="0"/>
              </a:spcAft>
            </a:pPr>
            <a:r>
              <a:rPr sz="950" b="0" i="0">
                <a:solidFill>
                  <a:srgbClr val="1F2933"/>
                </a:solidFill>
                <a:latin typeface="Consolas"/>
              </a:rPr>
              <a:t>├── proto/pipeline.proto        gRPC contract (Worker, Router, Telemetry)</a:t>
            </a:r>
          </a:p>
          <a:p>
            <a:pPr algn="l">
              <a:lnSpc>
                <a:spcPct val="116000"/>
              </a:lnSpc>
              <a:spcBef>
                <a:spcPts val="0"/>
              </a:spcBef>
              <a:spcAft>
                <a:spcPts val="0"/>
              </a:spcAft>
            </a:pPr>
            <a:r>
              <a:rPr sz="950" b="0" i="0">
                <a:solidFill>
                  <a:srgbClr val="1F2933"/>
                </a:solidFill>
                <a:latin typeface="Consolas"/>
              </a:rPr>
              <a:t>├── internal/</a:t>
            </a:r>
          </a:p>
          <a:p>
            <a:pPr algn="l">
              <a:lnSpc>
                <a:spcPct val="116000"/>
              </a:lnSpc>
              <a:spcBef>
                <a:spcPts val="0"/>
              </a:spcBef>
              <a:spcAft>
                <a:spcPts val="0"/>
              </a:spcAft>
            </a:pPr>
            <a:r>
              <a:rPr sz="950" b="0" i="0">
                <a:solidFill>
                  <a:srgbClr val="1F2933"/>
                </a:solidFill>
                <a:latin typeface="Consolas"/>
              </a:rPr>
              <a:t>│   ├── ebpf/bpf/tcpmon.c       WATCH  - CO-RE BPF programs</a:t>
            </a:r>
          </a:p>
          <a:p>
            <a:pPr algn="l">
              <a:lnSpc>
                <a:spcPct val="116000"/>
              </a:lnSpc>
              <a:spcBef>
                <a:spcPts val="0"/>
              </a:spcBef>
              <a:spcAft>
                <a:spcPts val="0"/>
              </a:spcAft>
            </a:pPr>
            <a:r>
              <a:rPr sz="950" b="0" i="0">
                <a:solidFill>
                  <a:srgbClr val="1F2933"/>
                </a:solidFill>
                <a:latin typeface="Consolas"/>
              </a:rPr>
              <a:t>│   ├── ebpf/                   cilium/ebpf loader + flow map reader</a:t>
            </a:r>
          </a:p>
          <a:p>
            <a:pPr algn="l">
              <a:lnSpc>
                <a:spcPct val="116000"/>
              </a:lnSpc>
              <a:spcBef>
                <a:spcPts val="0"/>
              </a:spcBef>
              <a:spcAft>
                <a:spcPts val="0"/>
              </a:spcAft>
            </a:pPr>
            <a:r>
              <a:rPr sz="950" b="0" i="0">
                <a:solidFill>
                  <a:srgbClr val="1F2933"/>
                </a:solidFill>
                <a:latin typeface="Consolas"/>
              </a:rPr>
              <a:t>│   ├── partition/              DECIDE - exact DP + hysteresis Decider</a:t>
            </a:r>
          </a:p>
          <a:p>
            <a:pPr algn="l">
              <a:lnSpc>
                <a:spcPct val="116000"/>
              </a:lnSpc>
              <a:spcBef>
                <a:spcPts val="0"/>
              </a:spcBef>
              <a:spcAft>
                <a:spcPts val="0"/>
              </a:spcAft>
            </a:pPr>
            <a:r>
              <a:rPr sz="950" b="0" i="0">
                <a:solidFill>
                  <a:srgbClr val="1F2933"/>
                </a:solidFill>
                <a:latin typeface="Consolas"/>
              </a:rPr>
              <a:t>│   ├── controller/             ACT/HEAL - reconcile loop, CRD status</a:t>
            </a:r>
          </a:p>
          <a:p>
            <a:pPr algn="l">
              <a:lnSpc>
                <a:spcPct val="116000"/>
              </a:lnSpc>
              <a:spcBef>
                <a:spcPts val="0"/>
              </a:spcBef>
              <a:spcAft>
                <a:spcPts val="0"/>
              </a:spcAft>
            </a:pPr>
            <a:r>
              <a:rPr sz="950" b="0" i="0">
                <a:solidFill>
                  <a:srgbClr val="1F2933"/>
                </a:solidFill>
                <a:latin typeface="Consolas"/>
              </a:rPr>
              <a:t>│   └── gpu/                    sim.go | cputherm.go | nvml.go</a:t>
            </a:r>
          </a:p>
          <a:p>
            <a:pPr algn="l">
              <a:lnSpc>
                <a:spcPct val="116000"/>
              </a:lnSpc>
              <a:spcBef>
                <a:spcPts val="0"/>
              </a:spcBef>
              <a:spcAft>
                <a:spcPts val="0"/>
              </a:spcAft>
            </a:pPr>
            <a:r>
              <a:rPr sz="950" b="0" i="0">
                <a:solidFill>
                  <a:srgbClr val="1F2933"/>
                </a:solidFill>
                <a:latin typeface="Consolas"/>
              </a:rPr>
              <a:t>├── cmd/</a:t>
            </a:r>
          </a:p>
          <a:p>
            <a:pPr algn="l">
              <a:lnSpc>
                <a:spcPct val="116000"/>
              </a:lnSpc>
              <a:spcBef>
                <a:spcPts val="0"/>
              </a:spcBef>
              <a:spcAft>
                <a:spcPts val="0"/>
              </a:spcAft>
            </a:pPr>
            <a:r>
              <a:rPr sz="950" b="0" i="0">
                <a:solidFill>
                  <a:srgbClr val="1F2933"/>
                </a:solidFill>
                <a:latin typeface="Consolas"/>
              </a:rPr>
              <a:t>│   ├── nodeagent/              per-node DaemonSet binary</a:t>
            </a:r>
          </a:p>
          <a:p>
            <a:pPr algn="l">
              <a:lnSpc>
                <a:spcPct val="116000"/>
              </a:lnSpc>
              <a:spcBef>
                <a:spcPts val="0"/>
              </a:spcBef>
              <a:spcAft>
                <a:spcPts val="0"/>
              </a:spcAft>
            </a:pPr>
            <a:r>
              <a:rPr sz="950" b="0" i="0">
                <a:solidFill>
                  <a:srgbClr val="1F2933"/>
                </a:solidFill>
                <a:latin typeface="Consolas"/>
              </a:rPr>
              <a:t>│   └── controller/             cluster controller binary</a:t>
            </a:r>
          </a:p>
          <a:p>
            <a:pPr algn="l">
              <a:lnSpc>
                <a:spcPct val="116000"/>
              </a:lnSpc>
              <a:spcBef>
                <a:spcPts val="0"/>
              </a:spcBef>
              <a:spcAft>
                <a:spcPts val="0"/>
              </a:spcAft>
            </a:pPr>
            <a:r>
              <a:rPr sz="950" b="0" i="0">
                <a:solidFill>
                  <a:srgbClr val="1F2933"/>
                </a:solidFill>
                <a:latin typeface="Consolas"/>
              </a:rPr>
              <a:t>├── worker/</a:t>
            </a:r>
          </a:p>
          <a:p>
            <a:pPr algn="l">
              <a:lnSpc>
                <a:spcPct val="116000"/>
              </a:lnSpc>
              <a:spcBef>
                <a:spcPts val="0"/>
              </a:spcBef>
              <a:spcAft>
                <a:spcPts val="0"/>
              </a:spcAft>
            </a:pPr>
            <a:r>
              <a:rPr sz="950" b="0" i="0">
                <a:solidFill>
                  <a:srgbClr val="1F2933"/>
                </a:solidFill>
                <a:latin typeface="Consolas"/>
              </a:rPr>
              <a:t>│   ├── server.py               stateless shard worker</a:t>
            </a:r>
          </a:p>
          <a:p>
            <a:pPr algn="l">
              <a:lnSpc>
                <a:spcPct val="116000"/>
              </a:lnSpc>
              <a:spcBef>
                <a:spcPts val="0"/>
              </a:spcBef>
              <a:spcAft>
                <a:spcPts val="0"/>
              </a:spcAft>
            </a:pPr>
            <a:r>
              <a:rPr sz="950" b="0" i="0">
                <a:solidFill>
                  <a:srgbClr val="1F2933"/>
                </a:solidFill>
                <a:latin typeface="Consolas"/>
              </a:rPr>
              <a:t>│   ├── router.py               HTTP front door + stage driver</a:t>
            </a:r>
          </a:p>
          <a:p>
            <a:pPr algn="l">
              <a:lnSpc>
                <a:spcPct val="116000"/>
              </a:lnSpc>
              <a:spcBef>
                <a:spcPts val="0"/>
              </a:spcBef>
              <a:spcAft>
                <a:spcPts val="0"/>
              </a:spcAft>
            </a:pPr>
            <a:r>
              <a:rPr sz="950" b="0" i="0">
                <a:solidFill>
                  <a:srgbClr val="1F2933"/>
                </a:solidFill>
                <a:latin typeface="Consolas"/>
              </a:rPr>
              <a:t>│   └── backends/               sim | gpt2</a:t>
            </a:r>
          </a:p>
          <a:p>
            <a:pPr algn="l">
              <a:lnSpc>
                <a:spcPct val="116000"/>
              </a:lnSpc>
              <a:spcBef>
                <a:spcPts val="0"/>
              </a:spcBef>
              <a:spcAft>
                <a:spcPts val="0"/>
              </a:spcAft>
            </a:pPr>
            <a:r>
              <a:rPr sz="950" b="0" i="0">
                <a:solidFill>
                  <a:srgbClr val="1F2933"/>
                </a:solidFill>
                <a:latin typeface="Consolas"/>
              </a:rPr>
              <a:t>├── deploy/</a:t>
            </a:r>
          </a:p>
          <a:p>
            <a:pPr algn="l">
              <a:lnSpc>
                <a:spcPct val="116000"/>
              </a:lnSpc>
              <a:spcBef>
                <a:spcPts val="0"/>
              </a:spcBef>
              <a:spcAft>
                <a:spcPts val="0"/>
              </a:spcAft>
            </a:pPr>
            <a:r>
              <a:rPr sz="950" b="0" i="0">
                <a:solidFill>
                  <a:srgbClr val="1F2933"/>
                </a:solidFill>
                <a:latin typeface="Consolas"/>
              </a:rPr>
              <a:t>│   ├── docker/*.Dockerfile     three images</a:t>
            </a:r>
          </a:p>
          <a:p>
            <a:pPr algn="l">
              <a:lnSpc>
                <a:spcPct val="116000"/>
              </a:lnSpc>
              <a:spcBef>
                <a:spcPts val="0"/>
              </a:spcBef>
              <a:spcAft>
                <a:spcPts val="0"/>
              </a:spcAft>
            </a:pPr>
            <a:r>
              <a:rPr sz="950" b="0" i="0">
                <a:solidFill>
                  <a:srgbClr val="1F2933"/>
                </a:solidFill>
                <a:latin typeface="Consolas"/>
              </a:rPr>
              <a:t>│   ├── manifests/*.yaml        namespace, CRD, RBAC, workloads</a:t>
            </a:r>
          </a:p>
          <a:p>
            <a:pPr algn="l">
              <a:lnSpc>
                <a:spcPct val="116000"/>
              </a:lnSpc>
              <a:spcBef>
                <a:spcPts val="0"/>
              </a:spcBef>
              <a:spcAft>
                <a:spcPts val="0"/>
              </a:spcAft>
            </a:pPr>
            <a:r>
              <a:rPr sz="950" b="0" i="0">
                <a:solidFill>
                  <a:srgbClr val="1F2933"/>
                </a:solidFill>
                <a:latin typeface="Consolas"/>
              </a:rPr>
              <a:t>│   └── kind-config.yaml        1 control-plane + 3 workers</a:t>
            </a:r>
          </a:p>
          <a:p>
            <a:pPr algn="l">
              <a:lnSpc>
                <a:spcPct val="116000"/>
              </a:lnSpc>
              <a:spcBef>
                <a:spcPts val="0"/>
              </a:spcBef>
              <a:spcAft>
                <a:spcPts val="0"/>
              </a:spcAft>
            </a:pPr>
            <a:r>
              <a:rPr sz="950" b="0" i="0">
                <a:solidFill>
                  <a:srgbClr val="1F2933"/>
                </a:solidFill>
                <a:latin typeface="Consolas"/>
              </a:rPr>
              <a:t>├── bench/                      ablation harness, plots, verification</a:t>
            </a:r>
          </a:p>
          <a:p>
            <a:pPr algn="l">
              <a:lnSpc>
                <a:spcPct val="116000"/>
              </a:lnSpc>
              <a:spcBef>
                <a:spcPts val="0"/>
              </a:spcBef>
              <a:spcAft>
                <a:spcPts val="0"/>
              </a:spcAft>
            </a:pPr>
            <a:r>
              <a:rPr sz="950" b="0" i="0">
                <a:solidFill>
                  <a:srgbClr val="1F2933"/>
                </a:solidFill>
                <a:latin typeface="Consolas"/>
              </a:rPr>
              <a:t>├── demo/                       live dashboard (serve.py + dashboard.html)</a:t>
            </a:r>
          </a:p>
          <a:p>
            <a:pPr algn="l">
              <a:lnSpc>
                <a:spcPct val="116000"/>
              </a:lnSpc>
              <a:spcBef>
                <a:spcPts val="0"/>
              </a:spcBef>
              <a:spcAft>
                <a:spcPts val="0"/>
              </a:spcAft>
            </a:pPr>
            <a:r>
              <a:rPr sz="950" b="0" i="0">
                <a:solidFill>
                  <a:srgbClr val="1F2933"/>
                </a:solidFill>
                <a:latin typeface="Consolas"/>
              </a:rPr>
              <a:t>├── scripts/                    real-hardware deployment</a:t>
            </a:r>
          </a:p>
          <a:p>
            <a:pPr algn="l">
              <a:lnSpc>
                <a:spcPct val="116000"/>
              </a:lnSpc>
              <a:spcBef>
                <a:spcPts val="0"/>
              </a:spcBef>
              <a:spcAft>
                <a:spcPts val="0"/>
              </a:spcAft>
            </a:pPr>
            <a:r>
              <a:rPr sz="950" b="0" i="0">
                <a:solidFill>
                  <a:srgbClr val="1F2933"/>
                </a:solidFill>
                <a:latin typeface="Consolas"/>
              </a:rPr>
              <a:t>└── run-demo.sh                 one command: build → deploy → dashboard</a:t>
            </a:r>
          </a:p>
        </p:txBody>
      </p:sp>
      <p:sp>
        <p:nvSpPr>
          <p:cNvPr id="8" name="TextBox 7"/>
          <p:cNvSpPr txBox="1"/>
          <p:nvPr/>
        </p:nvSpPr>
        <p:spPr>
          <a:xfrm>
            <a:off x="6601968" y="1956816"/>
            <a:ext cx="5577840" cy="4398264"/>
          </a:xfrm>
          <a:prstGeom prst="rect">
            <a:avLst/>
          </a:prstGeom>
          <a:noFill/>
        </p:spPr>
        <p:txBody>
          <a:bodyPr wrap="square" lIns="0" rIns="0" tIns="0" bIns="0" anchor="t">
            <a:spAutoFit/>
          </a:bodyPr>
          <a:lstStyle/>
          <a:p>
            <a:pPr algn="l" marL="274320" indent="-274320">
              <a:lnSpc>
                <a:spcPct val="120000"/>
              </a:lnSpc>
              <a:spcBef>
                <a:spcPts val="0"/>
              </a:spcBef>
              <a:spcAft>
                <a:spcPts val="1000"/>
              </a:spcAft>
            </a:pPr>
            <a:r>
              <a:rPr sz="1250" b="0" i="0">
                <a:solidFill>
                  <a:srgbClr val="161D26"/>
                </a:solidFill>
                <a:latin typeface="Segoe UI"/>
              </a:rPr>
              <a:t>▪  </a:t>
            </a:r>
            <a:r>
              <a:rPr sz="1250" b="1" i="0">
                <a:solidFill>
                  <a:srgbClr val="161D26"/>
                </a:solidFill>
                <a:latin typeface="Segoe UI"/>
              </a:rPr>
              <a:t>Go</a:t>
            </a:r>
            <a:r>
              <a:rPr sz="1250" b="0" i="0">
                <a:solidFill>
                  <a:srgbClr val="161D26"/>
                </a:solidFill>
                <a:latin typeface="Segoe UI"/>
              </a:rPr>
              <a:t> for anything in the control path - the node agent, the partitioner and the controller. Static binaries, distroless images.</a:t>
            </a:r>
          </a:p>
          <a:p>
            <a:pPr algn="l" marL="274320" indent="-274320">
              <a:lnSpc>
                <a:spcPct val="120000"/>
              </a:lnSpc>
              <a:spcBef>
                <a:spcPts val="0"/>
              </a:spcBef>
              <a:spcAft>
                <a:spcPts val="1000"/>
              </a:spcAft>
            </a:pPr>
            <a:r>
              <a:rPr sz="1250" b="0" i="0">
                <a:solidFill>
                  <a:srgbClr val="161D26"/>
                </a:solidFill>
                <a:latin typeface="Segoe UI"/>
              </a:rPr>
              <a:t>▪  </a:t>
            </a:r>
            <a:r>
              <a:rPr sz="1250" b="1" i="0">
                <a:solidFill>
                  <a:srgbClr val="161D26"/>
                </a:solidFill>
                <a:latin typeface="Segoe UI"/>
              </a:rPr>
              <a:t>C (CO-RE BPF)</a:t>
            </a:r>
            <a:r>
              <a:rPr sz="1250" b="0" i="0">
                <a:solidFill>
                  <a:srgbClr val="161D26"/>
                </a:solidFill>
                <a:latin typeface="Segoe UI"/>
              </a:rPr>
              <a:t> for the two kernel programs. Compiled against the host BTF; the generated object is committed so a clone builds without clang.</a:t>
            </a:r>
          </a:p>
          <a:p>
            <a:pPr algn="l" marL="274320" indent="-274320">
              <a:lnSpc>
                <a:spcPct val="120000"/>
              </a:lnSpc>
              <a:spcBef>
                <a:spcPts val="0"/>
              </a:spcBef>
              <a:spcAft>
                <a:spcPts val="1000"/>
              </a:spcAft>
            </a:pPr>
            <a:r>
              <a:rPr sz="1250" b="0" i="0">
                <a:solidFill>
                  <a:srgbClr val="161D26"/>
                </a:solidFill>
                <a:latin typeface="Segoe UI"/>
              </a:rPr>
              <a:t>▪  </a:t>
            </a:r>
            <a:r>
              <a:rPr sz="1250" b="1" i="0">
                <a:solidFill>
                  <a:srgbClr val="161D26"/>
                </a:solidFill>
                <a:latin typeface="Segoe UI"/>
              </a:rPr>
              <a:t>Python</a:t>
            </a:r>
            <a:r>
              <a:rPr sz="1250" b="0" i="0">
                <a:solidFill>
                  <a:srgbClr val="161D26"/>
                </a:solidFill>
                <a:latin typeface="Segoe UI"/>
              </a:rPr>
              <a:t> for the data path - shard workers and router - because the gpt2 backend is HuggingFace transformers.</a:t>
            </a:r>
          </a:p>
          <a:p>
            <a:pPr algn="l" marL="274320" indent="-274320">
              <a:lnSpc>
                <a:spcPct val="120000"/>
              </a:lnSpc>
              <a:spcBef>
                <a:spcPts val="0"/>
              </a:spcBef>
              <a:spcAft>
                <a:spcPts val="1000"/>
              </a:spcAft>
            </a:pPr>
            <a:r>
              <a:rPr sz="1250" b="0" i="0">
                <a:solidFill>
                  <a:srgbClr val="161D26"/>
                </a:solidFill>
                <a:latin typeface="Segoe UI"/>
              </a:rPr>
              <a:t>▪  </a:t>
            </a:r>
            <a:r>
              <a:rPr sz="1250" b="1" i="0">
                <a:solidFill>
                  <a:srgbClr val="161D26"/>
                </a:solidFill>
                <a:latin typeface="Segoe UI"/>
              </a:rPr>
              <a:t>Generated gRPC stubs are committed</a:t>
            </a:r>
            <a:r>
              <a:rPr sz="1250" b="0" i="0">
                <a:solidFill>
                  <a:srgbClr val="161D26"/>
                </a:solidFill>
                <a:latin typeface="Segoe UI"/>
              </a:rPr>
              <a:t> (gen/, worker/gen/) so `git clone &amp;&amp; ./run-demo.sh` works with no protoc toolchain.</a:t>
            </a:r>
          </a:p>
          <a:p>
            <a:pPr algn="l" marL="274320" indent="-274320">
              <a:lnSpc>
                <a:spcPct val="120000"/>
              </a:lnSpc>
              <a:spcBef>
                <a:spcPts val="0"/>
              </a:spcBef>
              <a:spcAft>
                <a:spcPts val="1000"/>
              </a:spcAft>
            </a:pPr>
            <a:r>
              <a:rPr sz="1250" b="0" i="0">
                <a:solidFill>
                  <a:srgbClr val="161D26"/>
                </a:solidFill>
                <a:latin typeface="Segoe UI"/>
              </a:rPr>
              <a:t>▪  3 images total: worker, controller, nodeagent.</a:t>
            </a:r>
          </a:p>
        </p:txBody>
      </p:sp>
      <p:sp>
        <p:nvSpPr>
          <p:cNvPr id="9" name="TextBox 8"/>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0" name="TextBox 9"/>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LIVE DEMO</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The demo in one command</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11057839" cy="384048"/>
          </a:xfrm>
          <a:prstGeom prst="rect">
            <a:avLst/>
          </a:prstGeom>
          <a:noFill/>
        </p:spPr>
        <p:txBody>
          <a:bodyPr wrap="square" lIns="0" rIns="0" tIns="0" bIns="0" anchor="t">
            <a:spAutoFit/>
          </a:bodyPr>
          <a:lstStyle/>
          <a:p>
            <a:pPr algn="l">
              <a:lnSpc>
                <a:spcPct val="120000"/>
              </a:lnSpc>
              <a:spcBef>
                <a:spcPts val="0"/>
              </a:spcBef>
              <a:spcAft>
                <a:spcPts val="0"/>
              </a:spcAft>
            </a:pPr>
            <a:r>
              <a:rPr sz="1350" b="0" i="1">
                <a:solidFill>
                  <a:srgbClr val="5E6E7E"/>
                </a:solidFill>
                <a:latin typeface="Segoe UI"/>
              </a:rPr>
              <a:t>What ./run-demo.sh does, in order.</a:t>
            </a:r>
          </a:p>
        </p:txBody>
      </p:sp>
      <p:sp>
        <p:nvSpPr>
          <p:cNvPr id="6" name="Rectangle 5"/>
          <p:cNvSpPr/>
          <p:nvPr/>
        </p:nvSpPr>
        <p:spPr>
          <a:xfrm>
            <a:off x="566928" y="2002536"/>
            <a:ext cx="5760720" cy="137160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21408"/>
            <a:ext cx="5468112" cy="1106424"/>
          </a:xfrm>
          <a:prstGeom prst="rect">
            <a:avLst/>
          </a:prstGeom>
          <a:noFill/>
        </p:spPr>
        <p:txBody>
          <a:bodyPr wrap="square" lIns="0" rIns="0" tIns="0" bIns="0" anchor="t">
            <a:spAutoFit/>
          </a:bodyPr>
          <a:lstStyle/>
          <a:p>
            <a:pPr algn="l">
              <a:lnSpc>
                <a:spcPct val="116000"/>
              </a:lnSpc>
              <a:spcBef>
                <a:spcPts val="0"/>
              </a:spcBef>
              <a:spcAft>
                <a:spcPts val="0"/>
              </a:spcAft>
            </a:pPr>
            <a:r>
              <a:rPr sz="1200" b="0" i="0">
                <a:solidFill>
                  <a:srgbClr val="1F2933"/>
                </a:solidFill>
                <a:latin typeface="Consolas"/>
              </a:rPr>
              <a:t>$ git clone https://github.com/karnati-praveen/ebpf-</a:t>
            </a:r>
          </a:p>
          <a:p>
            <a:pPr algn="l">
              <a:lnSpc>
                <a:spcPct val="116000"/>
              </a:lnSpc>
              <a:spcBef>
                <a:spcPts val="0"/>
              </a:spcBef>
              <a:spcAft>
                <a:spcPts val="0"/>
              </a:spcAft>
            </a:pPr>
            <a:r>
              <a:rPr sz="1200" b="0" i="0">
                <a:solidFill>
                  <a:srgbClr val="1F2933"/>
                </a:solidFill>
                <a:latin typeface="Consolas"/>
              </a:rPr>
              <a:t>$ cd ebpf-</a:t>
            </a:r>
          </a:p>
          <a:p>
            <a:pPr algn="l">
              <a:lnSpc>
                <a:spcPct val="116000"/>
              </a:lnSpc>
              <a:spcBef>
                <a:spcPts val="0"/>
              </a:spcBef>
              <a:spcAft>
                <a:spcPts val="0"/>
              </a:spcAft>
            </a:pPr>
            <a:r>
              <a:rPr sz="1200" b="0" i="0">
                <a:solidFill>
                  <a:srgbClr val="1F2933"/>
                </a:solidFill>
                <a:latin typeface="Consolas"/>
              </a:rPr>
              <a:t>$ ./run-demo.sh</a:t>
            </a:r>
          </a:p>
          <a:p>
            <a:pPr algn="l">
              <a:lnSpc>
                <a:spcPct val="116000"/>
              </a:lnSpc>
              <a:spcBef>
                <a:spcPts val="0"/>
              </a:spcBef>
              <a:spcAft>
                <a:spcPts val="0"/>
              </a:spcAft>
            </a:pPr>
            <a:r>
              <a:rPr sz="1200" b="0" i="0">
                <a:solidFill>
                  <a:srgbClr val="1F2933"/>
                </a:solidFill>
                <a:latin typeface="Consolas"/>
              </a:rPr>
              <a:t> </a:t>
            </a:r>
          </a:p>
          <a:p>
            <a:pPr algn="l">
              <a:lnSpc>
                <a:spcPct val="116000"/>
              </a:lnSpc>
              <a:spcBef>
                <a:spcPts val="0"/>
              </a:spcBef>
              <a:spcAft>
                <a:spcPts val="0"/>
              </a:spcAft>
            </a:pPr>
            <a:r>
              <a:rPr sz="1200" b="0" i="1">
                <a:solidFill>
                  <a:srgbClr val="6B7C8B"/>
                </a:solidFill>
                <a:latin typeface="Consolas"/>
              </a:rPr>
              <a:t># then open http://localhost:8000</a:t>
            </a:r>
          </a:p>
        </p:txBody>
      </p:sp>
      <p:sp>
        <p:nvSpPr>
          <p:cNvPr id="8" name="Rectangle 7"/>
          <p:cNvSpPr/>
          <p:nvPr/>
        </p:nvSpPr>
        <p:spPr>
          <a:xfrm>
            <a:off x="566928" y="3630168"/>
            <a:ext cx="310896" cy="310896"/>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66928" y="3694176"/>
            <a:ext cx="310896" cy="237744"/>
          </a:xfrm>
          <a:prstGeom prst="rect">
            <a:avLst/>
          </a:prstGeom>
          <a:noFill/>
        </p:spPr>
        <p:txBody>
          <a:bodyPr wrap="square" lIns="0" rIns="0" tIns="0" bIns="0" anchor="t">
            <a:spAutoFit/>
          </a:bodyPr>
          <a:lstStyle/>
          <a:p>
            <a:pPr algn="ctr">
              <a:lnSpc>
                <a:spcPct val="115000"/>
              </a:lnSpc>
              <a:spcBef>
                <a:spcPts val="0"/>
              </a:spcBef>
              <a:spcAft>
                <a:spcPts val="0"/>
              </a:spcAft>
            </a:pPr>
            <a:r>
              <a:rPr sz="1000" b="1" i="0">
                <a:solidFill>
                  <a:srgbClr val="2A78D6"/>
                </a:solidFill>
                <a:latin typeface="Segoe UI"/>
              </a:rPr>
              <a:t>1</a:t>
            </a:r>
          </a:p>
        </p:txBody>
      </p:sp>
      <p:sp>
        <p:nvSpPr>
          <p:cNvPr id="10" name="TextBox 9"/>
          <p:cNvSpPr txBox="1"/>
          <p:nvPr/>
        </p:nvSpPr>
        <p:spPr>
          <a:xfrm>
            <a:off x="1024128" y="3657600"/>
            <a:ext cx="1143000" cy="274320"/>
          </a:xfrm>
          <a:prstGeom prst="rect">
            <a:avLst/>
          </a:prstGeom>
          <a:noFill/>
        </p:spPr>
        <p:txBody>
          <a:bodyPr wrap="square" lIns="0" rIns="0" tIns="0" bIns="0" anchor="t">
            <a:spAutoFit/>
          </a:bodyPr>
          <a:lstStyle/>
          <a:p>
            <a:pPr algn="l">
              <a:lnSpc>
                <a:spcPct val="115000"/>
              </a:lnSpc>
              <a:spcBef>
                <a:spcPts val="0"/>
              </a:spcBef>
              <a:spcAft>
                <a:spcPts val="0"/>
              </a:spcAft>
            </a:pPr>
            <a:r>
              <a:rPr sz="1200" b="1" i="0">
                <a:solidFill>
                  <a:srgbClr val="0E2A47"/>
                </a:solidFill>
                <a:latin typeface="Segoe UI"/>
              </a:rPr>
              <a:t>Preflight</a:t>
            </a:r>
          </a:p>
        </p:txBody>
      </p:sp>
      <p:sp>
        <p:nvSpPr>
          <p:cNvPr id="11" name="TextBox 10"/>
          <p:cNvSpPr txBox="1"/>
          <p:nvPr/>
        </p:nvSpPr>
        <p:spPr>
          <a:xfrm>
            <a:off x="2258568" y="3666744"/>
            <a:ext cx="402336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E6E7E"/>
                </a:solidFill>
                <a:latin typeface="Segoe UI"/>
              </a:rPr>
              <a:t>checks Docker, kind, kubectl, Python and BTF</a:t>
            </a:r>
          </a:p>
        </p:txBody>
      </p:sp>
      <p:sp>
        <p:nvSpPr>
          <p:cNvPr id="12" name="Rectangle 11"/>
          <p:cNvSpPr/>
          <p:nvPr/>
        </p:nvSpPr>
        <p:spPr>
          <a:xfrm>
            <a:off x="566928" y="3995928"/>
            <a:ext cx="310896" cy="310896"/>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4059936"/>
            <a:ext cx="310896" cy="237744"/>
          </a:xfrm>
          <a:prstGeom prst="rect">
            <a:avLst/>
          </a:prstGeom>
          <a:noFill/>
        </p:spPr>
        <p:txBody>
          <a:bodyPr wrap="square" lIns="0" rIns="0" tIns="0" bIns="0" anchor="t">
            <a:spAutoFit/>
          </a:bodyPr>
          <a:lstStyle/>
          <a:p>
            <a:pPr algn="ctr">
              <a:lnSpc>
                <a:spcPct val="115000"/>
              </a:lnSpc>
              <a:spcBef>
                <a:spcPts val="0"/>
              </a:spcBef>
              <a:spcAft>
                <a:spcPts val="0"/>
              </a:spcAft>
            </a:pPr>
            <a:r>
              <a:rPr sz="1000" b="1" i="0">
                <a:solidFill>
                  <a:srgbClr val="2A78D6"/>
                </a:solidFill>
                <a:latin typeface="Segoe UI"/>
              </a:rPr>
              <a:t>2</a:t>
            </a:r>
          </a:p>
        </p:txBody>
      </p:sp>
      <p:sp>
        <p:nvSpPr>
          <p:cNvPr id="14" name="TextBox 13"/>
          <p:cNvSpPr txBox="1"/>
          <p:nvPr/>
        </p:nvSpPr>
        <p:spPr>
          <a:xfrm>
            <a:off x="1024128" y="4023360"/>
            <a:ext cx="1143000" cy="274320"/>
          </a:xfrm>
          <a:prstGeom prst="rect">
            <a:avLst/>
          </a:prstGeom>
          <a:noFill/>
        </p:spPr>
        <p:txBody>
          <a:bodyPr wrap="square" lIns="0" rIns="0" tIns="0" bIns="0" anchor="t">
            <a:spAutoFit/>
          </a:bodyPr>
          <a:lstStyle/>
          <a:p>
            <a:pPr algn="l">
              <a:lnSpc>
                <a:spcPct val="115000"/>
              </a:lnSpc>
              <a:spcBef>
                <a:spcPts val="0"/>
              </a:spcBef>
              <a:spcAft>
                <a:spcPts val="0"/>
              </a:spcAft>
            </a:pPr>
            <a:r>
              <a:rPr sz="1200" b="1" i="0">
                <a:solidFill>
                  <a:srgbClr val="0E2A47"/>
                </a:solidFill>
                <a:latin typeface="Segoe UI"/>
              </a:rPr>
              <a:t>Build</a:t>
            </a:r>
          </a:p>
        </p:txBody>
      </p:sp>
      <p:sp>
        <p:nvSpPr>
          <p:cNvPr id="15" name="TextBox 14"/>
          <p:cNvSpPr txBox="1"/>
          <p:nvPr/>
        </p:nvSpPr>
        <p:spPr>
          <a:xfrm>
            <a:off x="2258568" y="4032504"/>
            <a:ext cx="402336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E6E7E"/>
                </a:solidFill>
                <a:latin typeface="Segoe UI"/>
              </a:rPr>
              <a:t>three images, only if they are not already present</a:t>
            </a:r>
          </a:p>
        </p:txBody>
      </p:sp>
      <p:sp>
        <p:nvSpPr>
          <p:cNvPr id="16" name="Rectangle 15"/>
          <p:cNvSpPr/>
          <p:nvPr/>
        </p:nvSpPr>
        <p:spPr>
          <a:xfrm>
            <a:off x="566928" y="4361688"/>
            <a:ext cx="310896" cy="310896"/>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66928" y="4425696"/>
            <a:ext cx="310896" cy="237744"/>
          </a:xfrm>
          <a:prstGeom prst="rect">
            <a:avLst/>
          </a:prstGeom>
          <a:noFill/>
        </p:spPr>
        <p:txBody>
          <a:bodyPr wrap="square" lIns="0" rIns="0" tIns="0" bIns="0" anchor="t">
            <a:spAutoFit/>
          </a:bodyPr>
          <a:lstStyle/>
          <a:p>
            <a:pPr algn="ctr">
              <a:lnSpc>
                <a:spcPct val="115000"/>
              </a:lnSpc>
              <a:spcBef>
                <a:spcPts val="0"/>
              </a:spcBef>
              <a:spcAft>
                <a:spcPts val="0"/>
              </a:spcAft>
            </a:pPr>
            <a:r>
              <a:rPr sz="1000" b="1" i="0">
                <a:solidFill>
                  <a:srgbClr val="2A78D6"/>
                </a:solidFill>
                <a:latin typeface="Segoe UI"/>
              </a:rPr>
              <a:t>3</a:t>
            </a:r>
          </a:p>
        </p:txBody>
      </p:sp>
      <p:sp>
        <p:nvSpPr>
          <p:cNvPr id="18" name="TextBox 17"/>
          <p:cNvSpPr txBox="1"/>
          <p:nvPr/>
        </p:nvSpPr>
        <p:spPr>
          <a:xfrm>
            <a:off x="1024128" y="4389120"/>
            <a:ext cx="1143000" cy="274320"/>
          </a:xfrm>
          <a:prstGeom prst="rect">
            <a:avLst/>
          </a:prstGeom>
          <a:noFill/>
        </p:spPr>
        <p:txBody>
          <a:bodyPr wrap="square" lIns="0" rIns="0" tIns="0" bIns="0" anchor="t">
            <a:spAutoFit/>
          </a:bodyPr>
          <a:lstStyle/>
          <a:p>
            <a:pPr algn="l">
              <a:lnSpc>
                <a:spcPct val="115000"/>
              </a:lnSpc>
              <a:spcBef>
                <a:spcPts val="0"/>
              </a:spcBef>
              <a:spcAft>
                <a:spcPts val="0"/>
              </a:spcAft>
            </a:pPr>
            <a:r>
              <a:rPr sz="1200" b="1" i="0">
                <a:solidFill>
                  <a:srgbClr val="0E2A47"/>
                </a:solidFill>
                <a:latin typeface="Segoe UI"/>
              </a:rPr>
              <a:t>Cluster</a:t>
            </a:r>
          </a:p>
        </p:txBody>
      </p:sp>
      <p:sp>
        <p:nvSpPr>
          <p:cNvPr id="19" name="TextBox 18"/>
          <p:cNvSpPr txBox="1"/>
          <p:nvPr/>
        </p:nvSpPr>
        <p:spPr>
          <a:xfrm>
            <a:off x="2258568" y="4398264"/>
            <a:ext cx="402336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E6E7E"/>
                </a:solidFill>
                <a:latin typeface="Segoe UI"/>
              </a:rPr>
              <a:t>kind create cluster - 1 control-plane + 3 workers</a:t>
            </a:r>
          </a:p>
        </p:txBody>
      </p:sp>
      <p:sp>
        <p:nvSpPr>
          <p:cNvPr id="20" name="Rectangle 19"/>
          <p:cNvSpPr/>
          <p:nvPr/>
        </p:nvSpPr>
        <p:spPr>
          <a:xfrm>
            <a:off x="566928" y="4727448"/>
            <a:ext cx="310896" cy="310896"/>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 y="4791456"/>
            <a:ext cx="310896" cy="237744"/>
          </a:xfrm>
          <a:prstGeom prst="rect">
            <a:avLst/>
          </a:prstGeom>
          <a:noFill/>
        </p:spPr>
        <p:txBody>
          <a:bodyPr wrap="square" lIns="0" rIns="0" tIns="0" bIns="0" anchor="t">
            <a:spAutoFit/>
          </a:bodyPr>
          <a:lstStyle/>
          <a:p>
            <a:pPr algn="ctr">
              <a:lnSpc>
                <a:spcPct val="115000"/>
              </a:lnSpc>
              <a:spcBef>
                <a:spcPts val="0"/>
              </a:spcBef>
              <a:spcAft>
                <a:spcPts val="0"/>
              </a:spcAft>
            </a:pPr>
            <a:r>
              <a:rPr sz="1000" b="1" i="0">
                <a:solidFill>
                  <a:srgbClr val="2A78D6"/>
                </a:solidFill>
                <a:latin typeface="Segoe UI"/>
              </a:rPr>
              <a:t>4</a:t>
            </a:r>
          </a:p>
        </p:txBody>
      </p:sp>
      <p:sp>
        <p:nvSpPr>
          <p:cNvPr id="22" name="TextBox 21"/>
          <p:cNvSpPr txBox="1"/>
          <p:nvPr/>
        </p:nvSpPr>
        <p:spPr>
          <a:xfrm>
            <a:off x="1024128" y="4754880"/>
            <a:ext cx="1143000" cy="274320"/>
          </a:xfrm>
          <a:prstGeom prst="rect">
            <a:avLst/>
          </a:prstGeom>
          <a:noFill/>
        </p:spPr>
        <p:txBody>
          <a:bodyPr wrap="square" lIns="0" rIns="0" tIns="0" bIns="0" anchor="t">
            <a:spAutoFit/>
          </a:bodyPr>
          <a:lstStyle/>
          <a:p>
            <a:pPr algn="l">
              <a:lnSpc>
                <a:spcPct val="115000"/>
              </a:lnSpc>
              <a:spcBef>
                <a:spcPts val="0"/>
              </a:spcBef>
              <a:spcAft>
                <a:spcPts val="0"/>
              </a:spcAft>
            </a:pPr>
            <a:r>
              <a:rPr sz="1200" b="1" i="0">
                <a:solidFill>
                  <a:srgbClr val="0E2A47"/>
                </a:solidFill>
                <a:latin typeface="Segoe UI"/>
              </a:rPr>
              <a:t>Deploy</a:t>
            </a:r>
          </a:p>
        </p:txBody>
      </p:sp>
      <p:sp>
        <p:nvSpPr>
          <p:cNvPr id="23" name="TextBox 22"/>
          <p:cNvSpPr txBox="1"/>
          <p:nvPr/>
        </p:nvSpPr>
        <p:spPr>
          <a:xfrm>
            <a:off x="2258568" y="4764024"/>
            <a:ext cx="402336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E6E7E"/>
                </a:solidFill>
                <a:latin typeface="Segoe UI"/>
              </a:rPr>
              <a:t>namespace, CRD, RBAC, workers, node agents, controller, CR</a:t>
            </a:r>
          </a:p>
        </p:txBody>
      </p:sp>
      <p:sp>
        <p:nvSpPr>
          <p:cNvPr id="24" name="Rectangle 23"/>
          <p:cNvSpPr/>
          <p:nvPr/>
        </p:nvSpPr>
        <p:spPr>
          <a:xfrm>
            <a:off x="566928" y="5093208"/>
            <a:ext cx="310896" cy="310896"/>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66928" y="5157216"/>
            <a:ext cx="310896" cy="237744"/>
          </a:xfrm>
          <a:prstGeom prst="rect">
            <a:avLst/>
          </a:prstGeom>
          <a:noFill/>
        </p:spPr>
        <p:txBody>
          <a:bodyPr wrap="square" lIns="0" rIns="0" tIns="0" bIns="0" anchor="t">
            <a:spAutoFit/>
          </a:bodyPr>
          <a:lstStyle/>
          <a:p>
            <a:pPr algn="ctr">
              <a:lnSpc>
                <a:spcPct val="115000"/>
              </a:lnSpc>
              <a:spcBef>
                <a:spcPts val="0"/>
              </a:spcBef>
              <a:spcAft>
                <a:spcPts val="0"/>
              </a:spcAft>
            </a:pPr>
            <a:r>
              <a:rPr sz="1000" b="1" i="0">
                <a:solidFill>
                  <a:srgbClr val="2A78D6"/>
                </a:solidFill>
                <a:latin typeface="Segoe UI"/>
              </a:rPr>
              <a:t>5</a:t>
            </a:r>
          </a:p>
        </p:txBody>
      </p:sp>
      <p:sp>
        <p:nvSpPr>
          <p:cNvPr id="26" name="TextBox 25"/>
          <p:cNvSpPr txBox="1"/>
          <p:nvPr/>
        </p:nvSpPr>
        <p:spPr>
          <a:xfrm>
            <a:off x="1024128" y="5120640"/>
            <a:ext cx="1143000" cy="274320"/>
          </a:xfrm>
          <a:prstGeom prst="rect">
            <a:avLst/>
          </a:prstGeom>
          <a:noFill/>
        </p:spPr>
        <p:txBody>
          <a:bodyPr wrap="square" lIns="0" rIns="0" tIns="0" bIns="0" anchor="t">
            <a:spAutoFit/>
          </a:bodyPr>
          <a:lstStyle/>
          <a:p>
            <a:pPr algn="l">
              <a:lnSpc>
                <a:spcPct val="115000"/>
              </a:lnSpc>
              <a:spcBef>
                <a:spcPts val="0"/>
              </a:spcBef>
              <a:spcAft>
                <a:spcPts val="0"/>
              </a:spcAft>
            </a:pPr>
            <a:r>
              <a:rPr sz="1200" b="1" i="0">
                <a:solidFill>
                  <a:srgbClr val="0E2A47"/>
                </a:solidFill>
                <a:latin typeface="Segoe UI"/>
              </a:rPr>
              <a:t>Wait</a:t>
            </a:r>
          </a:p>
        </p:txBody>
      </p:sp>
      <p:sp>
        <p:nvSpPr>
          <p:cNvPr id="27" name="TextBox 26"/>
          <p:cNvSpPr txBox="1"/>
          <p:nvPr/>
        </p:nvSpPr>
        <p:spPr>
          <a:xfrm>
            <a:off x="2258568" y="5129784"/>
            <a:ext cx="402336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E6E7E"/>
                </a:solidFill>
                <a:latin typeface="Segoe UI"/>
              </a:rPr>
              <a:t>blocks until every pod reports Ready</a:t>
            </a:r>
          </a:p>
        </p:txBody>
      </p:sp>
      <p:sp>
        <p:nvSpPr>
          <p:cNvPr id="28" name="Rectangle 27"/>
          <p:cNvSpPr/>
          <p:nvPr/>
        </p:nvSpPr>
        <p:spPr>
          <a:xfrm>
            <a:off x="566928" y="5458968"/>
            <a:ext cx="310896" cy="310896"/>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66928" y="5522976"/>
            <a:ext cx="310896" cy="237744"/>
          </a:xfrm>
          <a:prstGeom prst="rect">
            <a:avLst/>
          </a:prstGeom>
          <a:noFill/>
        </p:spPr>
        <p:txBody>
          <a:bodyPr wrap="square" lIns="0" rIns="0" tIns="0" bIns="0" anchor="t">
            <a:spAutoFit/>
          </a:bodyPr>
          <a:lstStyle/>
          <a:p>
            <a:pPr algn="ctr">
              <a:lnSpc>
                <a:spcPct val="115000"/>
              </a:lnSpc>
              <a:spcBef>
                <a:spcPts val="0"/>
              </a:spcBef>
              <a:spcAft>
                <a:spcPts val="0"/>
              </a:spcAft>
            </a:pPr>
            <a:r>
              <a:rPr sz="1000" b="1" i="0">
                <a:solidFill>
                  <a:srgbClr val="2A78D6"/>
                </a:solidFill>
                <a:latin typeface="Segoe UI"/>
              </a:rPr>
              <a:t>6</a:t>
            </a:r>
          </a:p>
        </p:txBody>
      </p:sp>
      <p:sp>
        <p:nvSpPr>
          <p:cNvPr id="30" name="TextBox 29"/>
          <p:cNvSpPr txBox="1"/>
          <p:nvPr/>
        </p:nvSpPr>
        <p:spPr>
          <a:xfrm>
            <a:off x="1024128" y="5486400"/>
            <a:ext cx="1143000" cy="274320"/>
          </a:xfrm>
          <a:prstGeom prst="rect">
            <a:avLst/>
          </a:prstGeom>
          <a:noFill/>
        </p:spPr>
        <p:txBody>
          <a:bodyPr wrap="square" lIns="0" rIns="0" tIns="0" bIns="0" anchor="t">
            <a:spAutoFit/>
          </a:bodyPr>
          <a:lstStyle/>
          <a:p>
            <a:pPr algn="l">
              <a:lnSpc>
                <a:spcPct val="115000"/>
              </a:lnSpc>
              <a:spcBef>
                <a:spcPts val="0"/>
              </a:spcBef>
              <a:spcAft>
                <a:spcPts val="0"/>
              </a:spcAft>
            </a:pPr>
            <a:r>
              <a:rPr sz="1200" b="1" i="0">
                <a:solidFill>
                  <a:srgbClr val="0E2A47"/>
                </a:solidFill>
                <a:latin typeface="Segoe UI"/>
              </a:rPr>
              <a:t>Forward</a:t>
            </a:r>
          </a:p>
        </p:txBody>
      </p:sp>
      <p:sp>
        <p:nvSpPr>
          <p:cNvPr id="31" name="TextBox 30"/>
          <p:cNvSpPr txBox="1"/>
          <p:nvPr/>
        </p:nvSpPr>
        <p:spPr>
          <a:xfrm>
            <a:off x="2258568" y="5495544"/>
            <a:ext cx="402336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E6E7E"/>
                </a:solidFill>
                <a:latin typeface="Segoe UI"/>
              </a:rPr>
              <a:t>self-healing port-forwards for router :18080 and controller :18081</a:t>
            </a:r>
          </a:p>
        </p:txBody>
      </p:sp>
      <p:sp>
        <p:nvSpPr>
          <p:cNvPr id="32" name="Rectangle 31"/>
          <p:cNvSpPr/>
          <p:nvPr/>
        </p:nvSpPr>
        <p:spPr>
          <a:xfrm>
            <a:off x="566928" y="5824728"/>
            <a:ext cx="310896" cy="310896"/>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 y="5888736"/>
            <a:ext cx="310896" cy="237744"/>
          </a:xfrm>
          <a:prstGeom prst="rect">
            <a:avLst/>
          </a:prstGeom>
          <a:noFill/>
        </p:spPr>
        <p:txBody>
          <a:bodyPr wrap="square" lIns="0" rIns="0" tIns="0" bIns="0" anchor="t">
            <a:spAutoFit/>
          </a:bodyPr>
          <a:lstStyle/>
          <a:p>
            <a:pPr algn="ctr">
              <a:lnSpc>
                <a:spcPct val="115000"/>
              </a:lnSpc>
              <a:spcBef>
                <a:spcPts val="0"/>
              </a:spcBef>
              <a:spcAft>
                <a:spcPts val="0"/>
              </a:spcAft>
            </a:pPr>
            <a:r>
              <a:rPr sz="1000" b="1" i="0">
                <a:solidFill>
                  <a:srgbClr val="2A78D6"/>
                </a:solidFill>
                <a:latin typeface="Segoe UI"/>
              </a:rPr>
              <a:t>7</a:t>
            </a:r>
          </a:p>
        </p:txBody>
      </p:sp>
      <p:sp>
        <p:nvSpPr>
          <p:cNvPr id="34" name="TextBox 33"/>
          <p:cNvSpPr txBox="1"/>
          <p:nvPr/>
        </p:nvSpPr>
        <p:spPr>
          <a:xfrm>
            <a:off x="1024128" y="5852160"/>
            <a:ext cx="1143000" cy="274320"/>
          </a:xfrm>
          <a:prstGeom prst="rect">
            <a:avLst/>
          </a:prstGeom>
          <a:noFill/>
        </p:spPr>
        <p:txBody>
          <a:bodyPr wrap="square" lIns="0" rIns="0" tIns="0" bIns="0" anchor="t">
            <a:spAutoFit/>
          </a:bodyPr>
          <a:lstStyle/>
          <a:p>
            <a:pPr algn="l">
              <a:lnSpc>
                <a:spcPct val="115000"/>
              </a:lnSpc>
              <a:spcBef>
                <a:spcPts val="0"/>
              </a:spcBef>
              <a:spcAft>
                <a:spcPts val="0"/>
              </a:spcAft>
            </a:pPr>
            <a:r>
              <a:rPr sz="1200" b="1" i="0">
                <a:solidFill>
                  <a:srgbClr val="0E2A47"/>
                </a:solidFill>
                <a:latin typeface="Segoe UI"/>
              </a:rPr>
              <a:t>Dashboard</a:t>
            </a:r>
          </a:p>
        </p:txBody>
      </p:sp>
      <p:sp>
        <p:nvSpPr>
          <p:cNvPr id="35" name="TextBox 34"/>
          <p:cNvSpPr txBox="1"/>
          <p:nvPr/>
        </p:nvSpPr>
        <p:spPr>
          <a:xfrm>
            <a:off x="2258568" y="5861304"/>
            <a:ext cx="4023360" cy="365760"/>
          </a:xfrm>
          <a:prstGeom prst="rect">
            <a:avLst/>
          </a:prstGeom>
          <a:noFill/>
        </p:spPr>
        <p:txBody>
          <a:bodyPr wrap="square" lIns="0" rIns="0" tIns="0" bIns="0" anchor="t">
            <a:spAutoFit/>
          </a:bodyPr>
          <a:lstStyle/>
          <a:p>
            <a:pPr algn="l">
              <a:lnSpc>
                <a:spcPct val="114000"/>
              </a:lnSpc>
              <a:spcBef>
                <a:spcPts val="0"/>
              </a:spcBef>
              <a:spcAft>
                <a:spcPts val="0"/>
              </a:spcAft>
            </a:pPr>
            <a:r>
              <a:rPr sz="1100" b="0" i="0">
                <a:solidFill>
                  <a:srgbClr val="5E6E7E"/>
                </a:solidFill>
                <a:latin typeface="Segoe UI"/>
              </a:rPr>
              <a:t>serves demo/dashboard.html on :8000 with a built-in load generator</a:t>
            </a:r>
          </a:p>
        </p:txBody>
      </p:sp>
      <p:sp>
        <p:nvSpPr>
          <p:cNvPr id="36" name="Rectangle 35"/>
          <p:cNvSpPr/>
          <p:nvPr/>
        </p:nvSpPr>
        <p:spPr>
          <a:xfrm>
            <a:off x="6739128" y="2002536"/>
            <a:ext cx="5440680" cy="4023360"/>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949440" y="2185416"/>
            <a:ext cx="5029200" cy="274320"/>
          </a:xfrm>
          <a:prstGeom prst="rect">
            <a:avLst/>
          </a:prstGeom>
          <a:noFill/>
        </p:spPr>
        <p:txBody>
          <a:bodyPr wrap="square" lIns="0" rIns="0" tIns="0" bIns="0" anchor="t">
            <a:spAutoFit/>
          </a:bodyPr>
          <a:lstStyle/>
          <a:p>
            <a:pPr algn="l">
              <a:lnSpc>
                <a:spcPct val="115000"/>
              </a:lnSpc>
              <a:spcBef>
                <a:spcPts val="0"/>
              </a:spcBef>
              <a:spcAft>
                <a:spcPts val="800"/>
              </a:spcAft>
            </a:pPr>
            <a:r>
              <a:rPr sz="1000" b="1" i="0">
                <a:solidFill>
                  <a:srgbClr val="2A78D6"/>
                </a:solidFill>
                <a:latin typeface="Segoe UI"/>
              </a:rPr>
              <a:t>WHAT THE DASHBOARD SHOWS (2 s POLL)</a:t>
            </a:r>
          </a:p>
        </p:txBody>
      </p:sp>
      <p:sp>
        <p:nvSpPr>
          <p:cNvPr id="38" name="Rectangle 37"/>
          <p:cNvSpPr/>
          <p:nvPr/>
        </p:nvSpPr>
        <p:spPr>
          <a:xfrm>
            <a:off x="6949440" y="2596896"/>
            <a:ext cx="64008"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150608" y="2514600"/>
            <a:ext cx="4709160" cy="420624"/>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0E2A47"/>
                </a:solidFill>
                <a:latin typeface="Segoe UI"/>
              </a:rPr>
              <a:t>Generation &amp; bottleneck — </a:t>
            </a:r>
            <a:r>
              <a:rPr sz="1100" b="0" i="0">
                <a:solidFill>
                  <a:srgbClr val="5E6E7E"/>
                </a:solidFill>
                <a:latin typeface="Segoe UI"/>
              </a:rPr>
              <a:t>current assignment version and the DP's predicted bottleneck in ms</a:t>
            </a:r>
          </a:p>
        </p:txBody>
      </p:sp>
      <p:sp>
        <p:nvSpPr>
          <p:cNvPr id="40" name="Rectangle 39"/>
          <p:cNvSpPr/>
          <p:nvPr/>
        </p:nvSpPr>
        <p:spPr>
          <a:xfrm>
            <a:off x="6949440" y="3026664"/>
            <a:ext cx="64008"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150608" y="2944368"/>
            <a:ext cx="4709160" cy="420624"/>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0E2A47"/>
                </a:solidFill>
                <a:latin typeface="Segoe UI"/>
              </a:rPr>
              <a:t>Layer assignment — </a:t>
            </a:r>
            <a:r>
              <a:rPr sz="1100" b="0" i="0">
                <a:solidFill>
                  <a:srgbClr val="5E6E7E"/>
                </a:solidFill>
                <a:latin typeface="Segoe UI"/>
              </a:rPr>
              <a:t>stacked bar - which node holds which layer range, updating live on repartition</a:t>
            </a:r>
          </a:p>
        </p:txBody>
      </p:sp>
      <p:sp>
        <p:nvSpPr>
          <p:cNvPr id="42" name="Rectangle 41"/>
          <p:cNvSpPr/>
          <p:nvPr/>
        </p:nvSpPr>
        <p:spPr>
          <a:xfrm>
            <a:off x="6949440" y="3456432"/>
            <a:ext cx="64008"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150608" y="3374136"/>
            <a:ext cx="4709160" cy="420624"/>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0E2A47"/>
                </a:solidFill>
                <a:latin typeface="Segoe UI"/>
              </a:rPr>
              <a:t>Tokens/sec and TTFT — </a:t>
            </a:r>
            <a:r>
              <a:rPr sz="1100" b="0" i="0">
                <a:solidFill>
                  <a:srgbClr val="5E6E7E"/>
                </a:solidFill>
                <a:latin typeface="Segoe UI"/>
              </a:rPr>
              <a:t>windowed over the last ~12 s of polls, so the numbers move every tick</a:t>
            </a:r>
          </a:p>
        </p:txBody>
      </p:sp>
      <p:sp>
        <p:nvSpPr>
          <p:cNvPr id="44" name="Rectangle 43"/>
          <p:cNvSpPr/>
          <p:nvPr/>
        </p:nvSpPr>
        <p:spPr>
          <a:xfrm>
            <a:off x="6949440" y="3886200"/>
            <a:ext cx="64008"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150608" y="3803904"/>
            <a:ext cx="4709160" cy="420624"/>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0E2A47"/>
                </a:solidFill>
                <a:latin typeface="Segoe UI"/>
              </a:rPr>
              <a:t>Per-stage utilisation — </a:t>
            </a:r>
            <a:r>
              <a:rPr sz="1100" b="0" i="0">
                <a:solidFill>
                  <a:srgbClr val="5E6E7E"/>
                </a:solidFill>
                <a:latin typeface="Segoe UI"/>
              </a:rPr>
              <a:t>busy fraction per shard - the bubble-time source</a:t>
            </a:r>
          </a:p>
        </p:txBody>
      </p:sp>
      <p:sp>
        <p:nvSpPr>
          <p:cNvPr id="46" name="Rectangle 45"/>
          <p:cNvSpPr/>
          <p:nvPr/>
        </p:nvSpPr>
        <p:spPr>
          <a:xfrm>
            <a:off x="6949440" y="4315968"/>
            <a:ext cx="64008"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150608" y="4233672"/>
            <a:ext cx="4709160" cy="420624"/>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0E2A47"/>
                </a:solidFill>
                <a:latin typeface="Segoe UI"/>
              </a:rPr>
              <a:t>Node telemetry — </a:t>
            </a:r>
            <a:r>
              <a:rPr sz="1100" b="0" i="0">
                <a:solidFill>
                  <a:srgbClr val="5E6E7E"/>
                </a:solidFill>
                <a:latin typeface="Segoe UI"/>
              </a:rPr>
              <a:t>temperature, throttle state and effective speed factor per node</a:t>
            </a:r>
          </a:p>
        </p:txBody>
      </p:sp>
      <p:sp>
        <p:nvSpPr>
          <p:cNvPr id="48" name="Rectangle 47"/>
          <p:cNvSpPr/>
          <p:nvPr/>
        </p:nvSpPr>
        <p:spPr>
          <a:xfrm>
            <a:off x="6949440" y="4745736"/>
            <a:ext cx="64008"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150608" y="4663440"/>
            <a:ext cx="4709160" cy="420624"/>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0E2A47"/>
                </a:solidFill>
                <a:latin typeface="Segoe UI"/>
              </a:rPr>
              <a:t>eBPF flow table — </a:t>
            </a:r>
            <a:r>
              <a:rPr sz="1100" b="0" i="0">
                <a:solidFill>
                  <a:srgbClr val="5E6E7E"/>
                </a:solidFill>
                <a:latin typeface="Segoe UI"/>
              </a:rPr>
              <a:t>live per-flow sRTT straight out of the BPF map</a:t>
            </a:r>
          </a:p>
        </p:txBody>
      </p:sp>
      <p:sp>
        <p:nvSpPr>
          <p:cNvPr id="50" name="Rectangle 49"/>
          <p:cNvSpPr/>
          <p:nvPr/>
        </p:nvSpPr>
        <p:spPr>
          <a:xfrm>
            <a:off x="6949440" y="5175503"/>
            <a:ext cx="64008"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150608" y="5093207"/>
            <a:ext cx="4709160" cy="420624"/>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0E2A47"/>
                </a:solidFill>
                <a:latin typeface="Segoe UI"/>
              </a:rPr>
              <a:t>Event log — </a:t>
            </a:r>
            <a:r>
              <a:rPr sz="1100" b="0" i="0">
                <a:solidFill>
                  <a:srgbClr val="5E6E7E"/>
                </a:solidFill>
                <a:latin typeface="Segoe UI"/>
              </a:rPr>
              <a:t>every repartition decision, with the reason</a:t>
            </a:r>
          </a:p>
        </p:txBody>
      </p:sp>
      <p:sp>
        <p:nvSpPr>
          <p:cNvPr id="52" name="Rectangle 51"/>
          <p:cNvSpPr/>
          <p:nvPr/>
        </p:nvSpPr>
        <p:spPr>
          <a:xfrm>
            <a:off x="6949440" y="5605271"/>
            <a:ext cx="64008" cy="64008"/>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150608" y="5522975"/>
            <a:ext cx="4709160" cy="420624"/>
          </a:xfrm>
          <a:prstGeom prst="rect">
            <a:avLst/>
          </a:prstGeom>
          <a:noFill/>
        </p:spPr>
        <p:txBody>
          <a:bodyPr wrap="square" lIns="0" rIns="0" tIns="0" bIns="0" anchor="t">
            <a:spAutoFit/>
          </a:bodyPr>
          <a:lstStyle/>
          <a:p>
            <a:pPr algn="l">
              <a:lnSpc>
                <a:spcPct val="116000"/>
              </a:lnSpc>
              <a:spcBef>
                <a:spcPts val="0"/>
              </a:spcBef>
              <a:spcAft>
                <a:spcPts val="0"/>
              </a:spcAft>
            </a:pPr>
            <a:r>
              <a:rPr sz="1100" b="1" i="0">
                <a:solidFill>
                  <a:srgbClr val="0E2A47"/>
                </a:solidFill>
                <a:latin typeface="Segoe UI"/>
              </a:rPr>
              <a:t>Fault buttons — </a:t>
            </a:r>
            <a:r>
              <a:rPr sz="1100" b="0" i="0">
                <a:solidFill>
                  <a:srgbClr val="5E6E7E"/>
                </a:solidFill>
                <a:latin typeface="Segoe UI"/>
              </a:rPr>
              <a:t>inject / clear a thermal fault without leaving the page</a:t>
            </a:r>
          </a:p>
        </p:txBody>
      </p:sp>
      <p:sp>
        <p:nvSpPr>
          <p:cNvPr id="54" name="TextBox 53"/>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55" name="TextBox 54"/>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487168"/>
            <a:ext cx="9144000" cy="457200"/>
          </a:xfrm>
          <a:prstGeom prst="rect">
            <a:avLst/>
          </a:prstGeom>
          <a:noFill/>
        </p:spPr>
        <p:txBody>
          <a:bodyPr wrap="square" lIns="0" rIns="0" tIns="0" bIns="0" anchor="t">
            <a:spAutoFit/>
          </a:bodyPr>
          <a:lstStyle/>
          <a:p>
            <a:pPr algn="l">
              <a:lnSpc>
                <a:spcPct val="115000"/>
              </a:lnSpc>
              <a:spcBef>
                <a:spcPts val="0"/>
              </a:spcBef>
              <a:spcAft>
                <a:spcPts val="400"/>
              </a:spcAft>
            </a:pPr>
            <a:r>
              <a:rPr sz="1500" b="1" i="0">
                <a:solidFill>
                  <a:srgbClr val="2A78D6"/>
                </a:solidFill>
                <a:latin typeface="Segoe UI"/>
              </a:rPr>
              <a:t>CONFIGURATION</a:t>
            </a:r>
          </a:p>
        </p:txBody>
      </p:sp>
      <p:sp>
        <p:nvSpPr>
          <p:cNvPr id="5" name="TextBox 4"/>
          <p:cNvSpPr txBox="1"/>
          <p:nvPr/>
        </p:nvSpPr>
        <p:spPr>
          <a:xfrm>
            <a:off x="1371600" y="2926080"/>
            <a:ext cx="9692640" cy="914400"/>
          </a:xfrm>
          <a:prstGeom prst="rect">
            <a:avLst/>
          </a:prstGeom>
          <a:noFill/>
        </p:spPr>
        <p:txBody>
          <a:bodyPr wrap="square" lIns="0" rIns="0" tIns="0" bIns="0" anchor="t">
            <a:spAutoFit/>
          </a:bodyPr>
          <a:lstStyle/>
          <a:p>
            <a:pPr algn="l">
              <a:lnSpc>
                <a:spcPct val="115000"/>
              </a:lnSpc>
              <a:spcBef>
                <a:spcPts val="0"/>
              </a:spcBef>
              <a:spcAft>
                <a:spcPts val="0"/>
              </a:spcAft>
            </a:pPr>
            <a:r>
              <a:rPr sz="3800" b="1" i="0">
                <a:solidFill>
                  <a:srgbClr val="0E2A47"/>
                </a:solidFill>
                <a:latin typeface="Segoe UI"/>
              </a:rPr>
              <a:t>Docker, VM and cluster</a:t>
            </a:r>
          </a:p>
        </p:txBody>
      </p:sp>
      <p:sp>
        <p:nvSpPr>
          <p:cNvPr id="6" name="TextBox 5"/>
          <p:cNvSpPr txBox="1"/>
          <p:nvPr/>
        </p:nvSpPr>
        <p:spPr>
          <a:xfrm>
            <a:off x="1371600" y="3977639"/>
            <a:ext cx="8778240" cy="822960"/>
          </a:xfrm>
          <a:prstGeom prst="rect">
            <a:avLst/>
          </a:prstGeom>
          <a:noFill/>
        </p:spPr>
        <p:txBody>
          <a:bodyPr wrap="square" lIns="0" rIns="0" tIns="0" bIns="0" anchor="t">
            <a:spAutoFit/>
          </a:bodyPr>
          <a:lstStyle/>
          <a:p>
            <a:pPr algn="l">
              <a:lnSpc>
                <a:spcPct val="130000"/>
              </a:lnSpc>
              <a:spcBef>
                <a:spcPts val="0"/>
              </a:spcBef>
              <a:spcAft>
                <a:spcPts val="600"/>
              </a:spcAft>
            </a:pPr>
            <a:r>
              <a:rPr sz="1550" b="0" i="0">
                <a:solidFill>
                  <a:srgbClr val="5E6E7E"/>
                </a:solidFill>
                <a:latin typeface="Segoe UI"/>
              </a:rPr>
              <a:t>Every configuration file used to produce the results in the main deck.</a:t>
            </a:r>
          </a:p>
        </p:txBody>
      </p:sp>
      <p:sp>
        <p:nvSpPr>
          <p:cNvPr id="7" name="TextBox 6"/>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8" name="TextBox 7"/>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CONFIGURATION</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Host / VM configuration</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11057839" cy="384048"/>
          </a:xfrm>
          <a:prstGeom prst="rect">
            <a:avLst/>
          </a:prstGeom>
          <a:noFill/>
        </p:spPr>
        <p:txBody>
          <a:bodyPr wrap="square" lIns="0" rIns="0" tIns="0" bIns="0" anchor="t">
            <a:spAutoFit/>
          </a:bodyPr>
          <a:lstStyle/>
          <a:p>
            <a:pPr algn="l">
              <a:lnSpc>
                <a:spcPct val="120000"/>
              </a:lnSpc>
              <a:spcBef>
                <a:spcPts val="0"/>
              </a:spcBef>
              <a:spcAft>
                <a:spcPts val="0"/>
              </a:spcAft>
            </a:pPr>
            <a:r>
              <a:rPr sz="1350" b="0" i="1">
                <a:solidFill>
                  <a:srgbClr val="5E6E7E"/>
                </a:solidFill>
                <a:latin typeface="Segoe UI"/>
              </a:rPr>
              <a:t>The machine the reported results were measured on - read directly off the box.</a:t>
            </a:r>
          </a:p>
        </p:txBody>
      </p:sp>
      <p:sp>
        <p:nvSpPr>
          <p:cNvPr id="6" name="Rectangle 5"/>
          <p:cNvSpPr/>
          <p:nvPr/>
        </p:nvSpPr>
        <p:spPr>
          <a:xfrm>
            <a:off x="566928" y="2002536"/>
            <a:ext cx="5760720" cy="233172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21408"/>
            <a:ext cx="5468112" cy="2066543"/>
          </a:xfrm>
          <a:prstGeom prst="rect">
            <a:avLst/>
          </a:prstGeom>
          <a:noFill/>
        </p:spPr>
        <p:txBody>
          <a:bodyPr wrap="square" lIns="0" rIns="0" tIns="0" bIns="0" anchor="t">
            <a:spAutoFit/>
          </a:bodyPr>
          <a:lstStyle/>
          <a:p>
            <a:pPr algn="l">
              <a:lnSpc>
                <a:spcPct val="116000"/>
              </a:lnSpc>
              <a:spcBef>
                <a:spcPts val="0"/>
              </a:spcBef>
              <a:spcAft>
                <a:spcPts val="0"/>
              </a:spcAft>
            </a:pPr>
            <a:r>
              <a:rPr sz="880" b="0" i="0">
                <a:solidFill>
                  <a:srgbClr val="1F2933"/>
                </a:solidFill>
                <a:latin typeface="Consolas"/>
              </a:rPr>
              <a:t>$ uname -a</a:t>
            </a:r>
          </a:p>
          <a:p>
            <a:pPr algn="l">
              <a:lnSpc>
                <a:spcPct val="116000"/>
              </a:lnSpc>
              <a:spcBef>
                <a:spcPts val="0"/>
              </a:spcBef>
              <a:spcAft>
                <a:spcPts val="0"/>
              </a:spcAft>
            </a:pPr>
            <a:r>
              <a:rPr sz="880" b="0" i="0">
                <a:solidFill>
                  <a:srgbClr val="1F2933"/>
                </a:solidFill>
                <a:latin typeface="Consolas"/>
              </a:rPr>
              <a:t>Linux codespaces-831891 6.8.0-1052-azure #58~22.04.1-Ubuntu</a:t>
            </a:r>
          </a:p>
          <a:p>
            <a:pPr algn="l">
              <a:lnSpc>
                <a:spcPct val="116000"/>
              </a:lnSpc>
              <a:spcBef>
                <a:spcPts val="0"/>
              </a:spcBef>
              <a:spcAft>
                <a:spcPts val="0"/>
              </a:spcAft>
            </a:pPr>
            <a:r>
              <a:rPr sz="880" b="0" i="0">
                <a:solidFill>
                  <a:srgbClr val="1F2933"/>
                </a:solidFill>
                <a:latin typeface="Consolas"/>
              </a:rPr>
              <a:t>  SMP Thu Mar 26 05:02:21 UTC 2026 x86_64 GNU/Linux</a:t>
            </a:r>
          </a:p>
          <a:p>
            <a:pPr algn="l">
              <a:lnSpc>
                <a:spcPct val="116000"/>
              </a:lnSpc>
              <a:spcBef>
                <a:spcPts val="0"/>
              </a:spcBef>
              <a:spcAft>
                <a:spcPts val="0"/>
              </a:spcAft>
            </a:pPr>
            <a:r>
              <a:rPr sz="880" b="0" i="0">
                <a:solidFill>
                  <a:srgbClr val="1F2933"/>
                </a:solidFill>
                <a:latin typeface="Consolas"/>
              </a:rPr>
              <a:t> </a:t>
            </a:r>
          </a:p>
          <a:p>
            <a:pPr algn="l">
              <a:lnSpc>
                <a:spcPct val="116000"/>
              </a:lnSpc>
              <a:spcBef>
                <a:spcPts val="0"/>
              </a:spcBef>
              <a:spcAft>
                <a:spcPts val="0"/>
              </a:spcAft>
            </a:pPr>
            <a:r>
              <a:rPr sz="880" b="0" i="0">
                <a:solidFill>
                  <a:srgbClr val="1F2933"/>
                </a:solidFill>
                <a:latin typeface="Consolas"/>
              </a:rPr>
              <a:t>$ cat /etc/os-release | head -1</a:t>
            </a:r>
          </a:p>
          <a:p>
            <a:pPr algn="l">
              <a:lnSpc>
                <a:spcPct val="116000"/>
              </a:lnSpc>
              <a:spcBef>
                <a:spcPts val="0"/>
              </a:spcBef>
              <a:spcAft>
                <a:spcPts val="0"/>
              </a:spcAft>
            </a:pPr>
            <a:r>
              <a:rPr sz="880" b="0" i="0">
                <a:solidFill>
                  <a:srgbClr val="1F2933"/>
                </a:solidFill>
                <a:latin typeface="Consolas"/>
              </a:rPr>
              <a:t>PRETTY_NAME="Ubuntu 24.04.4 LTS"</a:t>
            </a:r>
          </a:p>
          <a:p>
            <a:pPr algn="l">
              <a:lnSpc>
                <a:spcPct val="116000"/>
              </a:lnSpc>
              <a:spcBef>
                <a:spcPts val="0"/>
              </a:spcBef>
              <a:spcAft>
                <a:spcPts val="0"/>
              </a:spcAft>
            </a:pPr>
            <a:r>
              <a:rPr sz="880" b="0" i="0">
                <a:solidFill>
                  <a:srgbClr val="1F2933"/>
                </a:solidFill>
                <a:latin typeface="Consolas"/>
              </a:rPr>
              <a:t> </a:t>
            </a:r>
          </a:p>
          <a:p>
            <a:pPr algn="l">
              <a:lnSpc>
                <a:spcPct val="116000"/>
              </a:lnSpc>
              <a:spcBef>
                <a:spcPts val="0"/>
              </a:spcBef>
              <a:spcAft>
                <a:spcPts val="0"/>
              </a:spcAft>
            </a:pPr>
            <a:r>
              <a:rPr sz="880" b="0" i="0">
                <a:solidFill>
                  <a:srgbClr val="1F2933"/>
                </a:solidFill>
                <a:latin typeface="Consolas"/>
              </a:rPr>
              <a:t>$ lscpu | grep "Model name"</a:t>
            </a:r>
          </a:p>
          <a:p>
            <a:pPr algn="l">
              <a:lnSpc>
                <a:spcPct val="116000"/>
              </a:lnSpc>
              <a:spcBef>
                <a:spcPts val="0"/>
              </a:spcBef>
              <a:spcAft>
                <a:spcPts val="0"/>
              </a:spcAft>
            </a:pPr>
            <a:r>
              <a:rPr sz="880" b="0" i="0">
                <a:solidFill>
                  <a:srgbClr val="1F2933"/>
                </a:solidFill>
                <a:latin typeface="Consolas"/>
              </a:rPr>
              <a:t>Model name:   AMD EPYC 7763 64-Core Processor</a:t>
            </a:r>
          </a:p>
          <a:p>
            <a:pPr algn="l">
              <a:lnSpc>
                <a:spcPct val="116000"/>
              </a:lnSpc>
              <a:spcBef>
                <a:spcPts val="0"/>
              </a:spcBef>
              <a:spcAft>
                <a:spcPts val="0"/>
              </a:spcAft>
            </a:pPr>
            <a:r>
              <a:rPr sz="880" b="0" i="0">
                <a:solidFill>
                  <a:srgbClr val="1F2933"/>
                </a:solidFill>
                <a:latin typeface="Consolas"/>
              </a:rPr>
              <a:t>$ nproc</a:t>
            </a:r>
          </a:p>
          <a:p>
            <a:pPr algn="l">
              <a:lnSpc>
                <a:spcPct val="116000"/>
              </a:lnSpc>
              <a:spcBef>
                <a:spcPts val="0"/>
              </a:spcBef>
              <a:spcAft>
                <a:spcPts val="0"/>
              </a:spcAft>
            </a:pPr>
            <a:r>
              <a:rPr sz="880" b="0" i="0">
                <a:solidFill>
                  <a:srgbClr val="1F2933"/>
                </a:solidFill>
                <a:latin typeface="Consolas"/>
              </a:rPr>
              <a:t>2</a:t>
            </a:r>
          </a:p>
          <a:p>
            <a:pPr algn="l">
              <a:lnSpc>
                <a:spcPct val="116000"/>
              </a:lnSpc>
              <a:spcBef>
                <a:spcPts val="0"/>
              </a:spcBef>
              <a:spcAft>
                <a:spcPts val="0"/>
              </a:spcAft>
            </a:pPr>
            <a:r>
              <a:rPr sz="880" b="0" i="0">
                <a:solidFill>
                  <a:srgbClr val="1F2933"/>
                </a:solidFill>
                <a:latin typeface="Consolas"/>
              </a:rPr>
              <a:t>$ free -h | head -2</a:t>
            </a:r>
          </a:p>
          <a:p>
            <a:pPr algn="l">
              <a:lnSpc>
                <a:spcPct val="116000"/>
              </a:lnSpc>
              <a:spcBef>
                <a:spcPts val="0"/>
              </a:spcBef>
              <a:spcAft>
                <a:spcPts val="0"/>
              </a:spcAft>
            </a:pPr>
            <a:r>
              <a:rPr sz="880" b="0" i="0">
                <a:solidFill>
                  <a:srgbClr val="1F2933"/>
                </a:solidFill>
                <a:latin typeface="Consolas"/>
              </a:rPr>
              <a:t>              total   used   free  shared  buff/cache</a:t>
            </a:r>
          </a:p>
          <a:p>
            <a:pPr algn="l">
              <a:lnSpc>
                <a:spcPct val="116000"/>
              </a:lnSpc>
              <a:spcBef>
                <a:spcPts val="0"/>
              </a:spcBef>
              <a:spcAft>
                <a:spcPts val="0"/>
              </a:spcAft>
            </a:pPr>
            <a:r>
              <a:rPr sz="880" b="0" i="0">
                <a:solidFill>
                  <a:srgbClr val="1F2933"/>
                </a:solidFill>
                <a:latin typeface="Consolas"/>
              </a:rPr>
              <a:t>Mem:          7.8Gi  3.3Gi  160Mi    97Mi      4.7Gi</a:t>
            </a:r>
          </a:p>
        </p:txBody>
      </p:sp>
      <p:sp>
        <p:nvSpPr>
          <p:cNvPr id="8" name="Rectangle 7"/>
          <p:cNvSpPr/>
          <p:nvPr/>
        </p:nvSpPr>
        <p:spPr>
          <a:xfrm>
            <a:off x="6739128" y="2002536"/>
            <a:ext cx="5440680" cy="233172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85432" y="2121408"/>
            <a:ext cx="5148072" cy="2066543"/>
          </a:xfrm>
          <a:prstGeom prst="rect">
            <a:avLst/>
          </a:prstGeom>
          <a:noFill/>
        </p:spPr>
        <p:txBody>
          <a:bodyPr wrap="square" lIns="0" rIns="0" tIns="0" bIns="0" anchor="t">
            <a:spAutoFit/>
          </a:bodyPr>
          <a:lstStyle/>
          <a:p>
            <a:pPr algn="l">
              <a:lnSpc>
                <a:spcPct val="116000"/>
              </a:lnSpc>
              <a:spcBef>
                <a:spcPts val="0"/>
              </a:spcBef>
              <a:spcAft>
                <a:spcPts val="0"/>
              </a:spcAft>
            </a:pPr>
            <a:r>
              <a:rPr sz="821" b="0" i="0">
                <a:solidFill>
                  <a:srgbClr val="1F2933"/>
                </a:solidFill>
                <a:latin typeface="Consolas"/>
              </a:rPr>
              <a:t>$ ls -la /sys/kernel/btf/vmlinux</a:t>
            </a:r>
          </a:p>
          <a:p>
            <a:pPr algn="l">
              <a:lnSpc>
                <a:spcPct val="116000"/>
              </a:lnSpc>
              <a:spcBef>
                <a:spcPts val="0"/>
              </a:spcBef>
              <a:spcAft>
                <a:spcPts val="0"/>
              </a:spcAft>
            </a:pPr>
            <a:r>
              <a:rPr sz="821" b="0" i="0">
                <a:solidFill>
                  <a:srgbClr val="1F2933"/>
                </a:solidFill>
                <a:latin typeface="Consolas"/>
              </a:rPr>
              <a:t>-r--r--r-- 1 root root 6020051  /sys/kernel/btf/vmlinux</a:t>
            </a:r>
          </a:p>
          <a:p>
            <a:pPr algn="l">
              <a:lnSpc>
                <a:spcPct val="116000"/>
              </a:lnSpc>
              <a:spcBef>
                <a:spcPts val="0"/>
              </a:spcBef>
              <a:spcAft>
                <a:spcPts val="0"/>
              </a:spcAft>
            </a:pPr>
            <a:r>
              <a:rPr sz="821" b="0" i="1">
                <a:solidFill>
                  <a:srgbClr val="6B7C8B"/>
                </a:solidFill>
                <a:latin typeface="Consolas"/>
              </a:rPr>
              <a:t># BTF present -&gt; CO-RE eBPF is supported</a:t>
            </a:r>
          </a:p>
          <a:p>
            <a:pPr algn="l">
              <a:lnSpc>
                <a:spcPct val="116000"/>
              </a:lnSpc>
              <a:spcBef>
                <a:spcPts val="0"/>
              </a:spcBef>
              <a:spcAft>
                <a:spcPts val="0"/>
              </a:spcAft>
            </a:pPr>
            <a:r>
              <a:rPr sz="821" b="0" i="0">
                <a:solidFill>
                  <a:srgbClr val="1F2933"/>
                </a:solidFill>
                <a:latin typeface="Consolas"/>
              </a:rPr>
              <a:t> </a:t>
            </a:r>
          </a:p>
          <a:p>
            <a:pPr algn="l">
              <a:lnSpc>
                <a:spcPct val="116000"/>
              </a:lnSpc>
              <a:spcBef>
                <a:spcPts val="0"/>
              </a:spcBef>
              <a:spcAft>
                <a:spcPts val="0"/>
              </a:spcAft>
            </a:pPr>
            <a:r>
              <a:rPr sz="821" b="0" i="0">
                <a:solidFill>
                  <a:srgbClr val="1F2933"/>
                </a:solidFill>
                <a:latin typeface="Consolas"/>
              </a:rPr>
              <a:t>$ docker info | grep -E 'Version|Driver|Cgroup'</a:t>
            </a:r>
          </a:p>
          <a:p>
            <a:pPr algn="l">
              <a:lnSpc>
                <a:spcPct val="116000"/>
              </a:lnSpc>
              <a:spcBef>
                <a:spcPts val="0"/>
              </a:spcBef>
              <a:spcAft>
                <a:spcPts val="0"/>
              </a:spcAft>
            </a:pPr>
            <a:r>
              <a:rPr sz="821" b="0" i="0">
                <a:solidFill>
                  <a:srgbClr val="1F2933"/>
                </a:solidFill>
                <a:latin typeface="Consolas"/>
              </a:rPr>
              <a:t>Server Version:   29.3.0-1</a:t>
            </a:r>
          </a:p>
          <a:p>
            <a:pPr algn="l">
              <a:lnSpc>
                <a:spcPct val="116000"/>
              </a:lnSpc>
              <a:spcBef>
                <a:spcPts val="0"/>
              </a:spcBef>
              <a:spcAft>
                <a:spcPts val="0"/>
              </a:spcAft>
            </a:pPr>
            <a:r>
              <a:rPr sz="821" b="0" i="0">
                <a:solidFill>
                  <a:srgbClr val="1F2933"/>
                </a:solidFill>
                <a:latin typeface="Consolas"/>
              </a:rPr>
              <a:t>Storage Driver:   overlayfs</a:t>
            </a:r>
          </a:p>
          <a:p>
            <a:pPr algn="l">
              <a:lnSpc>
                <a:spcPct val="116000"/>
              </a:lnSpc>
              <a:spcBef>
                <a:spcPts val="0"/>
              </a:spcBef>
              <a:spcAft>
                <a:spcPts val="0"/>
              </a:spcAft>
            </a:pPr>
            <a:r>
              <a:rPr sz="821" b="0" i="0">
                <a:solidFill>
                  <a:srgbClr val="1F2933"/>
                </a:solidFill>
                <a:latin typeface="Consolas"/>
              </a:rPr>
              <a:t>Cgroup Driver:    cgroupfs</a:t>
            </a:r>
          </a:p>
          <a:p>
            <a:pPr algn="l">
              <a:lnSpc>
                <a:spcPct val="116000"/>
              </a:lnSpc>
              <a:spcBef>
                <a:spcPts val="0"/>
              </a:spcBef>
              <a:spcAft>
                <a:spcPts val="0"/>
              </a:spcAft>
            </a:pPr>
            <a:r>
              <a:rPr sz="821" b="0" i="0">
                <a:solidFill>
                  <a:srgbClr val="1F2933"/>
                </a:solidFill>
                <a:latin typeface="Consolas"/>
              </a:rPr>
              <a:t>Cgroup Version:   2</a:t>
            </a:r>
          </a:p>
          <a:p>
            <a:pPr algn="l">
              <a:lnSpc>
                <a:spcPct val="116000"/>
              </a:lnSpc>
              <a:spcBef>
                <a:spcPts val="0"/>
              </a:spcBef>
              <a:spcAft>
                <a:spcPts val="0"/>
              </a:spcAft>
            </a:pPr>
            <a:r>
              <a:rPr sz="821" b="0" i="0">
                <a:solidFill>
                  <a:srgbClr val="1F2933"/>
                </a:solidFill>
                <a:latin typeface="Consolas"/>
              </a:rPr>
              <a:t>Kernel Version:   6.8.0-1052-azure</a:t>
            </a:r>
          </a:p>
          <a:p>
            <a:pPr algn="l">
              <a:lnSpc>
                <a:spcPct val="116000"/>
              </a:lnSpc>
              <a:spcBef>
                <a:spcPts val="0"/>
              </a:spcBef>
              <a:spcAft>
                <a:spcPts val="0"/>
              </a:spcAft>
            </a:pPr>
            <a:r>
              <a:rPr sz="821" b="0" i="0">
                <a:solidFill>
                  <a:srgbClr val="1F2933"/>
                </a:solidFill>
                <a:latin typeface="Consolas"/>
              </a:rPr>
              <a:t> </a:t>
            </a:r>
          </a:p>
          <a:p>
            <a:pPr algn="l">
              <a:lnSpc>
                <a:spcPct val="116000"/>
              </a:lnSpc>
              <a:spcBef>
                <a:spcPts val="0"/>
              </a:spcBef>
              <a:spcAft>
                <a:spcPts val="0"/>
              </a:spcAft>
            </a:pPr>
            <a:r>
              <a:rPr sz="821" b="0" i="0">
                <a:solidFill>
                  <a:srgbClr val="1F2933"/>
                </a:solidFill>
                <a:latin typeface="Consolas"/>
              </a:rPr>
              <a:t>$ kind --version      kind version 0.29.0</a:t>
            </a:r>
          </a:p>
          <a:p>
            <a:pPr algn="l">
              <a:lnSpc>
                <a:spcPct val="116000"/>
              </a:lnSpc>
              <a:spcBef>
                <a:spcPts val="0"/>
              </a:spcBef>
              <a:spcAft>
                <a:spcPts val="0"/>
              </a:spcAft>
            </a:pPr>
            <a:r>
              <a:rPr sz="821" b="0" i="0">
                <a:solidFill>
                  <a:srgbClr val="1F2933"/>
                </a:solidFill>
                <a:latin typeface="Consolas"/>
              </a:rPr>
              <a:t>$ kubectl version     Client Version: v1.35.2</a:t>
            </a:r>
          </a:p>
          <a:p>
            <a:pPr algn="l">
              <a:lnSpc>
                <a:spcPct val="116000"/>
              </a:lnSpc>
              <a:spcBef>
                <a:spcPts val="0"/>
              </a:spcBef>
              <a:spcAft>
                <a:spcPts val="0"/>
              </a:spcAft>
            </a:pPr>
            <a:r>
              <a:rPr sz="821" b="0" i="0">
                <a:solidFill>
                  <a:srgbClr val="1F2933"/>
                </a:solidFill>
                <a:latin typeface="Consolas"/>
              </a:rPr>
              <a:t>$ go version          go1.26.1 linux/amd64</a:t>
            </a:r>
          </a:p>
          <a:p>
            <a:pPr algn="l">
              <a:lnSpc>
                <a:spcPct val="116000"/>
              </a:lnSpc>
              <a:spcBef>
                <a:spcPts val="0"/>
              </a:spcBef>
              <a:spcAft>
                <a:spcPts val="0"/>
              </a:spcAft>
            </a:pPr>
            <a:r>
              <a:rPr sz="821" b="0" i="0">
                <a:solidFill>
                  <a:srgbClr val="1F2933"/>
                </a:solidFill>
                <a:latin typeface="Consolas"/>
              </a:rPr>
              <a:t>$ python3 --version   Python 3.12.1</a:t>
            </a:r>
          </a:p>
        </p:txBody>
      </p:sp>
      <p:sp>
        <p:nvSpPr>
          <p:cNvPr id="10" name="Rectangle 9"/>
          <p:cNvSpPr/>
          <p:nvPr/>
        </p:nvSpPr>
        <p:spPr>
          <a:xfrm>
            <a:off x="566928" y="4581144"/>
            <a:ext cx="11057839" cy="141732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4581144"/>
            <a:ext cx="50292" cy="1417320"/>
          </a:xfrm>
          <a:prstGeom prst="rect">
            <a:avLst/>
          </a:prstGeom>
          <a:solidFill>
            <a:srgbClr val="D97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6384" y="4700016"/>
            <a:ext cx="10673791" cy="1197864"/>
          </a:xfrm>
          <a:prstGeom prst="rect">
            <a:avLst/>
          </a:prstGeom>
          <a:noFill/>
        </p:spPr>
        <p:txBody>
          <a:bodyPr wrap="square" lIns="0" rIns="0" tIns="0" bIns="0" anchor="ctr">
            <a:spAutoFit/>
          </a:bodyPr>
          <a:lstStyle/>
          <a:p>
            <a:pPr algn="l">
              <a:lnSpc>
                <a:spcPct val="115000"/>
              </a:lnSpc>
              <a:spcBef>
                <a:spcPts val="0"/>
              </a:spcBef>
              <a:spcAft>
                <a:spcPts val="300"/>
              </a:spcAft>
            </a:pPr>
            <a:r>
              <a:rPr sz="950" b="1" i="0">
                <a:solidFill>
                  <a:srgbClr val="D97626"/>
                </a:solidFill>
                <a:latin typeface="Segoe UI"/>
              </a:rPr>
              <a:t>WHAT THIS HARDWARE DOES AND DOES NOT PROVE</a:t>
            </a:r>
          </a:p>
          <a:p>
            <a:pPr algn="l">
              <a:lnSpc>
                <a:spcPct val="120000"/>
              </a:lnSpc>
              <a:spcBef>
                <a:spcPts val="0"/>
              </a:spcBef>
              <a:spcAft>
                <a:spcPts val="0"/>
              </a:spcAft>
            </a:pPr>
            <a:r>
              <a:rPr sz="1300" b="0" i="0">
                <a:solidFill>
                  <a:srgbClr val="161D26"/>
                </a:solidFill>
                <a:latin typeface="Segoe UI"/>
              </a:rPr>
              <a:t>Two constraints follow from this box and shape the whole evaluation. </a:t>
            </a:r>
            <a:r>
              <a:rPr sz="1300" b="1" i="0">
                <a:solidFill>
                  <a:srgbClr val="161D26"/>
                </a:solidFill>
                <a:latin typeface="Segoe UI"/>
              </a:rPr>
              <a:t>BTF is present</a:t>
            </a:r>
            <a:r>
              <a:rPr sz="1300" b="0" i="0">
                <a:solidFill>
                  <a:srgbClr val="161D26"/>
                </a:solidFill>
                <a:latin typeface="Segoe UI"/>
              </a:rPr>
              <a:t>, so the real CO-RE eBPF programs load and the WATCH stage is genuine. But there is </a:t>
            </a:r>
            <a:r>
              <a:rPr sz="1300" b="1" i="0">
                <a:solidFill>
                  <a:srgbClr val="161D26"/>
                </a:solidFill>
                <a:latin typeface="Segoe UI"/>
              </a:rPr>
              <a:t>no GPU and only 2 vCPU</a:t>
            </a:r>
            <a:r>
              <a:rPr sz="1300" b="0" i="0">
                <a:solidFill>
                  <a:srgbClr val="161D26"/>
                </a:solidFill>
                <a:latin typeface="Segoe UI"/>
              </a:rPr>
              <a:t>, so GPU telemetry defaults to the simulated Reader and every kind node shares one kernel over loopback. That is exactly why the main deck reports the single-host testbed as a stated limitation rather than claiming real inter-node network measurements.</a:t>
            </a:r>
          </a:p>
        </p:txBody>
      </p:sp>
      <p:sp>
        <p:nvSpPr>
          <p:cNvPr id="13" name="TextBox 12"/>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4" name="TextBox 13"/>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CONFIGURATION</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Docker image configuration: worker</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63624"/>
            <a:ext cx="6675120" cy="402336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55064"/>
            <a:ext cx="641908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deploy/docker/worker.Dockerfile</a:t>
            </a:r>
          </a:p>
        </p:txBody>
      </p:sp>
      <p:sp>
        <p:nvSpPr>
          <p:cNvPr id="7" name="TextBox 6"/>
          <p:cNvSpPr txBox="1"/>
          <p:nvPr/>
        </p:nvSpPr>
        <p:spPr>
          <a:xfrm>
            <a:off x="713232" y="1892808"/>
            <a:ext cx="6382512" cy="3547872"/>
          </a:xfrm>
          <a:prstGeom prst="rect">
            <a:avLst/>
          </a:prstGeom>
          <a:noFill/>
        </p:spPr>
        <p:txBody>
          <a:bodyPr wrap="square" lIns="0" rIns="0" tIns="0" bIns="0" anchor="t">
            <a:spAutoFit/>
          </a:bodyPr>
          <a:lstStyle/>
          <a:p>
            <a:pPr algn="l">
              <a:lnSpc>
                <a:spcPct val="116000"/>
              </a:lnSpc>
              <a:spcBef>
                <a:spcPts val="0"/>
              </a:spcBef>
              <a:spcAft>
                <a:spcPts val="0"/>
              </a:spcAft>
            </a:pPr>
            <a:r>
              <a:rPr sz="881" b="0" i="0">
                <a:solidFill>
                  <a:srgbClr val="1F2933"/>
                </a:solidFill>
                <a:latin typeface="Consolas"/>
              </a:rPr>
              <a:t>FROM python:3.12-slim</a:t>
            </a:r>
          </a:p>
          <a:p>
            <a:pPr algn="l">
              <a:lnSpc>
                <a:spcPct val="116000"/>
              </a:lnSpc>
              <a:spcBef>
                <a:spcPts val="0"/>
              </a:spcBef>
              <a:spcAft>
                <a:spcPts val="0"/>
              </a:spcAft>
            </a:pPr>
            <a:r>
              <a:rPr sz="881" b="0" i="0">
                <a:solidFill>
                  <a:srgbClr val="1F2933"/>
                </a:solidFill>
                <a:latin typeface="Consolas"/>
              </a:rPr>
              <a:t> </a:t>
            </a:r>
          </a:p>
          <a:p>
            <a:pPr algn="l">
              <a:lnSpc>
                <a:spcPct val="116000"/>
              </a:lnSpc>
              <a:spcBef>
                <a:spcPts val="0"/>
              </a:spcBef>
              <a:spcAft>
                <a:spcPts val="0"/>
              </a:spcAft>
            </a:pPr>
            <a:r>
              <a:rPr sz="881" b="0" i="0">
                <a:solidFill>
                  <a:srgbClr val="1F2933"/>
                </a:solidFill>
                <a:latin typeface="Consolas"/>
              </a:rPr>
              <a:t>ARG WITH_GPT2=0</a:t>
            </a:r>
          </a:p>
          <a:p>
            <a:pPr algn="l">
              <a:lnSpc>
                <a:spcPct val="116000"/>
              </a:lnSpc>
              <a:spcBef>
                <a:spcPts val="0"/>
              </a:spcBef>
              <a:spcAft>
                <a:spcPts val="0"/>
              </a:spcAft>
            </a:pPr>
            <a:r>
              <a:rPr sz="881" b="0" i="0">
                <a:solidFill>
                  <a:srgbClr val="1F2933"/>
                </a:solidFill>
                <a:latin typeface="Consolas"/>
              </a:rPr>
              <a:t>ARG WITH_CUDA=0</a:t>
            </a:r>
          </a:p>
          <a:p>
            <a:pPr algn="l">
              <a:lnSpc>
                <a:spcPct val="116000"/>
              </a:lnSpc>
              <a:spcBef>
                <a:spcPts val="0"/>
              </a:spcBef>
              <a:spcAft>
                <a:spcPts val="0"/>
              </a:spcAft>
            </a:pPr>
            <a:r>
              <a:rPr sz="881" b="0" i="0">
                <a:solidFill>
                  <a:srgbClr val="1F2933"/>
                </a:solidFill>
                <a:latin typeface="Consolas"/>
              </a:rPr>
              <a:t>ARG TORCH_CUDA_INDEX=https://download.pytorch.org/whl/cu121</a:t>
            </a:r>
          </a:p>
          <a:p>
            <a:pPr algn="l">
              <a:lnSpc>
                <a:spcPct val="116000"/>
              </a:lnSpc>
              <a:spcBef>
                <a:spcPts val="0"/>
              </a:spcBef>
              <a:spcAft>
                <a:spcPts val="0"/>
              </a:spcAft>
            </a:pPr>
            <a:r>
              <a:rPr sz="881" b="0" i="0">
                <a:solidFill>
                  <a:srgbClr val="1F2933"/>
                </a:solidFill>
                <a:latin typeface="Consolas"/>
              </a:rPr>
              <a:t> </a:t>
            </a:r>
          </a:p>
          <a:p>
            <a:pPr algn="l">
              <a:lnSpc>
                <a:spcPct val="116000"/>
              </a:lnSpc>
              <a:spcBef>
                <a:spcPts val="0"/>
              </a:spcBef>
              <a:spcAft>
                <a:spcPts val="0"/>
              </a:spcAft>
            </a:pPr>
            <a:r>
              <a:rPr sz="881" b="0" i="0">
                <a:solidFill>
                  <a:srgbClr val="1F2933"/>
                </a:solidFill>
                <a:latin typeface="Consolas"/>
              </a:rPr>
              <a:t>WORKDIR /app</a:t>
            </a:r>
          </a:p>
          <a:p>
            <a:pPr algn="l">
              <a:lnSpc>
                <a:spcPct val="116000"/>
              </a:lnSpc>
              <a:spcBef>
                <a:spcPts val="0"/>
              </a:spcBef>
              <a:spcAft>
                <a:spcPts val="0"/>
              </a:spcAft>
            </a:pPr>
            <a:r>
              <a:rPr sz="881" b="0" i="0">
                <a:solidFill>
                  <a:srgbClr val="1F2933"/>
                </a:solidFill>
                <a:latin typeface="Consolas"/>
              </a:rPr>
              <a:t>COPY worker/requirements.txt .</a:t>
            </a:r>
          </a:p>
          <a:p>
            <a:pPr algn="l">
              <a:lnSpc>
                <a:spcPct val="116000"/>
              </a:lnSpc>
              <a:spcBef>
                <a:spcPts val="0"/>
              </a:spcBef>
              <a:spcAft>
                <a:spcPts val="0"/>
              </a:spcAft>
            </a:pPr>
            <a:r>
              <a:rPr sz="881" b="0" i="0">
                <a:solidFill>
                  <a:srgbClr val="1F2933"/>
                </a:solidFill>
                <a:latin typeface="Consolas"/>
              </a:rPr>
              <a:t>RUN pip install --no-cache-dir -r requirements.txt &amp;&amp; \</a:t>
            </a:r>
          </a:p>
          <a:p>
            <a:pPr algn="l">
              <a:lnSpc>
                <a:spcPct val="116000"/>
              </a:lnSpc>
              <a:spcBef>
                <a:spcPts val="0"/>
              </a:spcBef>
              <a:spcAft>
                <a:spcPts val="0"/>
              </a:spcAft>
            </a:pPr>
            <a:r>
              <a:rPr sz="881" b="0" i="0">
                <a:solidFill>
                  <a:srgbClr val="1F2933"/>
                </a:solidFill>
                <a:latin typeface="Consolas"/>
              </a:rPr>
              <a:t>    if [ "$WITH_GPT2" = "1" ] &amp;&amp; [ "$WITH_CUDA" = "1" ]; then \</a:t>
            </a:r>
          </a:p>
          <a:p>
            <a:pPr algn="l">
              <a:lnSpc>
                <a:spcPct val="116000"/>
              </a:lnSpc>
              <a:spcBef>
                <a:spcPts val="0"/>
              </a:spcBef>
              <a:spcAft>
                <a:spcPts val="0"/>
              </a:spcAft>
            </a:pPr>
            <a:r>
              <a:rPr sz="881" b="0" i="0">
                <a:solidFill>
                  <a:srgbClr val="1F2933"/>
                </a:solidFill>
                <a:latin typeface="Consolas"/>
              </a:rPr>
              <a:t>      pip install --no-cache-dir \</a:t>
            </a:r>
          </a:p>
          <a:p>
            <a:pPr algn="l">
              <a:lnSpc>
                <a:spcPct val="116000"/>
              </a:lnSpc>
              <a:spcBef>
                <a:spcPts val="0"/>
              </a:spcBef>
              <a:spcAft>
                <a:spcPts val="0"/>
              </a:spcAft>
            </a:pPr>
            <a:r>
              <a:rPr sz="881" b="0" i="1">
                <a:solidFill>
                  <a:srgbClr val="6B7C8B"/>
                </a:solidFill>
                <a:latin typeface="Consolas"/>
              </a:rPr>
              <a:t>        --index-url ${TORCH_CUDA_INDEX} torch &amp;&amp; \</a:t>
            </a:r>
          </a:p>
          <a:p>
            <a:pPr algn="l">
              <a:lnSpc>
                <a:spcPct val="116000"/>
              </a:lnSpc>
              <a:spcBef>
                <a:spcPts val="0"/>
              </a:spcBef>
              <a:spcAft>
                <a:spcPts val="0"/>
              </a:spcAft>
            </a:pPr>
            <a:r>
              <a:rPr sz="881" b="0" i="0">
                <a:solidFill>
                  <a:srgbClr val="1F2933"/>
                </a:solidFill>
                <a:latin typeface="Consolas"/>
              </a:rPr>
              <a:t>      pip install --no-cache-dir transformers; \</a:t>
            </a:r>
          </a:p>
          <a:p>
            <a:pPr algn="l">
              <a:lnSpc>
                <a:spcPct val="116000"/>
              </a:lnSpc>
              <a:spcBef>
                <a:spcPts val="0"/>
              </a:spcBef>
              <a:spcAft>
                <a:spcPts val="0"/>
              </a:spcAft>
            </a:pPr>
            <a:r>
              <a:rPr sz="881" b="0" i="0">
                <a:solidFill>
                  <a:srgbClr val="1F2933"/>
                </a:solidFill>
                <a:latin typeface="Consolas"/>
              </a:rPr>
              <a:t>    elif [ "$WITH_GPT2" = "1" ]; then \</a:t>
            </a:r>
          </a:p>
          <a:p>
            <a:pPr algn="l">
              <a:lnSpc>
                <a:spcPct val="116000"/>
              </a:lnSpc>
              <a:spcBef>
                <a:spcPts val="0"/>
              </a:spcBef>
              <a:spcAft>
                <a:spcPts val="0"/>
              </a:spcAft>
            </a:pPr>
            <a:r>
              <a:rPr sz="881" b="0" i="0">
                <a:solidFill>
                  <a:srgbClr val="1F2933"/>
                </a:solidFill>
                <a:latin typeface="Consolas"/>
              </a:rPr>
              <a:t>      pip install --no-cache-dir \</a:t>
            </a:r>
          </a:p>
          <a:p>
            <a:pPr algn="l">
              <a:lnSpc>
                <a:spcPct val="116000"/>
              </a:lnSpc>
              <a:spcBef>
                <a:spcPts val="0"/>
              </a:spcBef>
              <a:spcAft>
                <a:spcPts val="0"/>
              </a:spcAft>
            </a:pPr>
            <a:r>
              <a:rPr sz="881" b="0" i="1">
                <a:solidFill>
                  <a:srgbClr val="6B7C8B"/>
                </a:solidFill>
                <a:latin typeface="Consolas"/>
              </a:rPr>
              <a:t>        --index-url https://download.pytorch.org/whl/cpu torch &amp;&amp; \</a:t>
            </a:r>
          </a:p>
          <a:p>
            <a:pPr algn="l">
              <a:lnSpc>
                <a:spcPct val="116000"/>
              </a:lnSpc>
              <a:spcBef>
                <a:spcPts val="0"/>
              </a:spcBef>
              <a:spcAft>
                <a:spcPts val="0"/>
              </a:spcAft>
            </a:pPr>
            <a:r>
              <a:rPr sz="881" b="0" i="0">
                <a:solidFill>
                  <a:srgbClr val="1F2933"/>
                </a:solidFill>
                <a:latin typeface="Consolas"/>
              </a:rPr>
              <a:t>      pip install --no-cache-dir transformers; \</a:t>
            </a:r>
          </a:p>
          <a:p>
            <a:pPr algn="l">
              <a:lnSpc>
                <a:spcPct val="116000"/>
              </a:lnSpc>
              <a:spcBef>
                <a:spcPts val="0"/>
              </a:spcBef>
              <a:spcAft>
                <a:spcPts val="0"/>
              </a:spcAft>
            </a:pPr>
            <a:r>
              <a:rPr sz="881" b="0" i="0">
                <a:solidFill>
                  <a:srgbClr val="1F2933"/>
                </a:solidFill>
                <a:latin typeface="Consolas"/>
              </a:rPr>
              <a:t>    fi</a:t>
            </a:r>
          </a:p>
          <a:p>
            <a:pPr algn="l">
              <a:lnSpc>
                <a:spcPct val="116000"/>
              </a:lnSpc>
              <a:spcBef>
                <a:spcPts val="0"/>
              </a:spcBef>
              <a:spcAft>
                <a:spcPts val="0"/>
              </a:spcAft>
            </a:pPr>
            <a:r>
              <a:rPr sz="881" b="0" i="0">
                <a:solidFill>
                  <a:srgbClr val="1F2933"/>
                </a:solidFill>
                <a:latin typeface="Consolas"/>
              </a:rPr>
              <a:t> </a:t>
            </a:r>
          </a:p>
          <a:p>
            <a:pPr algn="l">
              <a:lnSpc>
                <a:spcPct val="116000"/>
              </a:lnSpc>
              <a:spcBef>
                <a:spcPts val="0"/>
              </a:spcBef>
              <a:spcAft>
                <a:spcPts val="0"/>
              </a:spcAft>
            </a:pPr>
            <a:r>
              <a:rPr sz="881" b="0" i="0">
                <a:solidFill>
                  <a:srgbClr val="1F2933"/>
                </a:solidFill>
                <a:latin typeface="Consolas"/>
              </a:rPr>
              <a:t>COPY worker/ /app/</a:t>
            </a:r>
          </a:p>
          <a:p>
            <a:pPr algn="l">
              <a:lnSpc>
                <a:spcPct val="116000"/>
              </a:lnSpc>
              <a:spcBef>
                <a:spcPts val="0"/>
              </a:spcBef>
              <a:spcAft>
                <a:spcPts val="0"/>
              </a:spcAft>
            </a:pPr>
            <a:r>
              <a:rPr sz="881" b="0" i="0">
                <a:solidFill>
                  <a:srgbClr val="1F2933"/>
                </a:solidFill>
                <a:latin typeface="Consolas"/>
              </a:rPr>
              <a:t>CMD ["python3", "server.py"]</a:t>
            </a:r>
          </a:p>
          <a:p>
            <a:pPr algn="l">
              <a:lnSpc>
                <a:spcPct val="116000"/>
              </a:lnSpc>
              <a:spcBef>
                <a:spcPts val="0"/>
              </a:spcBef>
              <a:spcAft>
                <a:spcPts val="0"/>
              </a:spcAft>
            </a:pPr>
            <a:r>
              <a:rPr sz="881" b="0" i="0">
                <a:solidFill>
                  <a:srgbClr val="1F2933"/>
                </a:solidFill>
                <a:latin typeface="Consolas"/>
              </a:rPr>
              <a:t> </a:t>
            </a:r>
          </a:p>
          <a:p>
            <a:pPr algn="l">
              <a:lnSpc>
                <a:spcPct val="116000"/>
              </a:lnSpc>
              <a:spcBef>
                <a:spcPts val="0"/>
              </a:spcBef>
              <a:spcAft>
                <a:spcPts val="0"/>
              </a:spcAft>
            </a:pPr>
            <a:r>
              <a:rPr sz="881" b="0" i="1">
                <a:solidFill>
                  <a:srgbClr val="6B7C8B"/>
                </a:solidFill>
                <a:latin typeface="Consolas"/>
              </a:rPr>
              <a:t># requirements.txt</a:t>
            </a:r>
          </a:p>
          <a:p>
            <a:pPr algn="l">
              <a:lnSpc>
                <a:spcPct val="116000"/>
              </a:lnSpc>
              <a:spcBef>
                <a:spcPts val="0"/>
              </a:spcBef>
              <a:spcAft>
                <a:spcPts val="0"/>
              </a:spcAft>
            </a:pPr>
            <a:r>
              <a:rPr sz="881" b="0" i="1">
                <a:solidFill>
                  <a:srgbClr val="6B7C8B"/>
                </a:solidFill>
                <a:latin typeface="Consolas"/>
              </a:rPr>
              <a:t>#   grpcio&gt;=1.60   protobuf&gt;=4.25   numpy&gt;=1.26</a:t>
            </a:r>
          </a:p>
        </p:txBody>
      </p:sp>
      <p:sp>
        <p:nvSpPr>
          <p:cNvPr id="8" name="TextBox 7"/>
          <p:cNvSpPr txBox="1"/>
          <p:nvPr/>
        </p:nvSpPr>
        <p:spPr>
          <a:xfrm>
            <a:off x="7653527" y="1517904"/>
            <a:ext cx="4526280" cy="4837176"/>
          </a:xfrm>
          <a:prstGeom prst="rect">
            <a:avLst/>
          </a:prstGeom>
          <a:noFill/>
        </p:spPr>
        <p:txBody>
          <a:bodyPr wrap="square" lIns="0" rIns="0" tIns="0" bIns="0" anchor="t">
            <a:spAutoFit/>
          </a:bodyPr>
          <a:lstStyle/>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Torch is opt-in at build time.</a:t>
            </a:r>
            <a:r>
              <a:rPr sz="1200" b="0" i="0">
                <a:solidFill>
                  <a:srgbClr val="161D26"/>
                </a:solidFill>
                <a:latin typeface="Segoe UI"/>
              </a:rPr>
              <a:t> The default image carries only grpcio, protobuf and numpy, so the ablation matrix builds in seconds on the sim backend.</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WITH_GPT2=1</a:t>
            </a:r>
            <a:r>
              <a:rPr sz="1200" b="0" i="0">
                <a:solidFill>
                  <a:srgbClr val="161D26"/>
                </a:solidFill>
                <a:latin typeface="Segoe UI"/>
              </a:rPr>
              <a:t> adds the CPU torch wheel plus transformers for the real-model runs.</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WITH_CUDA=1</a:t>
            </a:r>
            <a:r>
              <a:rPr sz="1200" b="0" i="0">
                <a:solidFill>
                  <a:srgbClr val="161D26"/>
                </a:solidFill>
                <a:latin typeface="Segoe UI"/>
              </a:rPr>
              <a:t> swaps in the cu121 wheel instead. The base image stays python:3.12-slim either way - the host NVIDIA driver plus nvidia-container-toolkit is what exposes the device; the wheel just bundles the CUDA runtime it links against.</a:t>
            </a:r>
          </a:p>
          <a:p>
            <a:pPr algn="l" marL="274320" indent="-274320">
              <a:lnSpc>
                <a:spcPct val="120000"/>
              </a:lnSpc>
              <a:spcBef>
                <a:spcPts val="0"/>
              </a:spcBef>
              <a:spcAft>
                <a:spcPts val="900"/>
              </a:spcAft>
            </a:pPr>
            <a:r>
              <a:rPr sz="1200" b="0" i="0">
                <a:solidFill>
                  <a:srgbClr val="161D26"/>
                </a:solidFill>
                <a:latin typeface="Segoe UI"/>
              </a:rPr>
              <a:t>▪  Built as:</a:t>
            </a:r>
          </a:p>
        </p:txBody>
      </p:sp>
      <p:sp>
        <p:nvSpPr>
          <p:cNvPr id="9" name="Rectangle 8"/>
          <p:cNvSpPr/>
          <p:nvPr/>
        </p:nvSpPr>
        <p:spPr>
          <a:xfrm>
            <a:off x="7653527" y="4626864"/>
            <a:ext cx="4526280" cy="91440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99831" y="4745736"/>
            <a:ext cx="4233672" cy="649224"/>
          </a:xfrm>
          <a:prstGeom prst="rect">
            <a:avLst/>
          </a:prstGeom>
          <a:noFill/>
        </p:spPr>
        <p:txBody>
          <a:bodyPr wrap="square" lIns="0" rIns="0" tIns="0" bIns="0" anchor="t">
            <a:spAutoFit/>
          </a:bodyPr>
          <a:lstStyle/>
          <a:p>
            <a:pPr algn="l">
              <a:lnSpc>
                <a:spcPct val="116000"/>
              </a:lnSpc>
              <a:spcBef>
                <a:spcPts val="0"/>
              </a:spcBef>
              <a:spcAft>
                <a:spcPts val="0"/>
              </a:spcAft>
            </a:pPr>
            <a:r>
              <a:rPr sz="774" b="0" i="0">
                <a:solidFill>
                  <a:srgbClr val="1F2933"/>
                </a:solidFill>
                <a:latin typeface="Consolas"/>
              </a:rPr>
              <a:t>docker build \</a:t>
            </a:r>
          </a:p>
          <a:p>
            <a:pPr algn="l">
              <a:lnSpc>
                <a:spcPct val="116000"/>
              </a:lnSpc>
              <a:spcBef>
                <a:spcPts val="0"/>
              </a:spcBef>
              <a:spcAft>
                <a:spcPts val="0"/>
              </a:spcAft>
            </a:pPr>
            <a:r>
              <a:rPr sz="774" b="0" i="1">
                <a:solidFill>
                  <a:srgbClr val="6B7C8B"/>
                </a:solidFill>
                <a:latin typeface="Consolas"/>
              </a:rPr>
              <a:t>  --build-arg WITH_GPT2=1 \</a:t>
            </a:r>
          </a:p>
          <a:p>
            <a:pPr algn="l">
              <a:lnSpc>
                <a:spcPct val="116000"/>
              </a:lnSpc>
              <a:spcBef>
                <a:spcPts val="0"/>
              </a:spcBef>
              <a:spcAft>
                <a:spcPts val="0"/>
              </a:spcAft>
            </a:pPr>
            <a:r>
              <a:rPr sz="774" b="0" i="1">
                <a:solidFill>
                  <a:srgbClr val="6B7C8B"/>
                </a:solidFill>
                <a:latin typeface="Consolas"/>
              </a:rPr>
              <a:t>  --build-arg WITH_CUDA=1 \</a:t>
            </a:r>
          </a:p>
          <a:p>
            <a:pPr algn="l">
              <a:lnSpc>
                <a:spcPct val="116000"/>
              </a:lnSpc>
              <a:spcBef>
                <a:spcPts val="0"/>
              </a:spcBef>
              <a:spcAft>
                <a:spcPts val="0"/>
              </a:spcAft>
            </a:pPr>
            <a:r>
              <a:rPr sz="774" b="0" i="0">
                <a:solidFill>
                  <a:srgbClr val="1F2933"/>
                </a:solidFill>
                <a:latin typeface="Consolas"/>
              </a:rPr>
              <a:t>  -t kubeedgeinfer/worker:dev \</a:t>
            </a:r>
          </a:p>
          <a:p>
            <a:pPr algn="l">
              <a:lnSpc>
                <a:spcPct val="116000"/>
              </a:lnSpc>
              <a:spcBef>
                <a:spcPts val="0"/>
              </a:spcBef>
              <a:spcAft>
                <a:spcPts val="0"/>
              </a:spcAft>
            </a:pPr>
            <a:r>
              <a:rPr sz="774" b="0" i="0">
                <a:solidFill>
                  <a:srgbClr val="1F2933"/>
                </a:solidFill>
                <a:latin typeface="Consolas"/>
              </a:rPr>
              <a:t>  -f deploy/docker/worker.Dockerfile .</a:t>
            </a:r>
          </a:p>
        </p:txBody>
      </p:sp>
      <p:sp>
        <p:nvSpPr>
          <p:cNvPr id="11" name="TextBox 10"/>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2" name="TextBox 11"/>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CONFIGURATION</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Docker images (2 / 2): controller &amp; node agent</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63624"/>
            <a:ext cx="5577840" cy="210312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55064"/>
            <a:ext cx="5321807"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deploy/docker/controller.Dockerfile</a:t>
            </a:r>
          </a:p>
        </p:txBody>
      </p:sp>
      <p:sp>
        <p:nvSpPr>
          <p:cNvPr id="7" name="TextBox 6"/>
          <p:cNvSpPr txBox="1"/>
          <p:nvPr/>
        </p:nvSpPr>
        <p:spPr>
          <a:xfrm>
            <a:off x="713232" y="1892808"/>
            <a:ext cx="5285231" cy="1627631"/>
          </a:xfrm>
          <a:prstGeom prst="rect">
            <a:avLst/>
          </a:prstGeom>
          <a:noFill/>
        </p:spPr>
        <p:txBody>
          <a:bodyPr wrap="square" lIns="0" rIns="0" tIns="0" bIns="0" anchor="t">
            <a:spAutoFit/>
          </a:bodyPr>
          <a:lstStyle/>
          <a:p>
            <a:pPr algn="l">
              <a:lnSpc>
                <a:spcPct val="116000"/>
              </a:lnSpc>
              <a:spcBef>
                <a:spcPts val="0"/>
              </a:spcBef>
              <a:spcAft>
                <a:spcPts val="0"/>
              </a:spcAft>
            </a:pPr>
            <a:r>
              <a:rPr sz="970" b="0" i="0">
                <a:solidFill>
                  <a:srgbClr val="1F2933"/>
                </a:solidFill>
                <a:latin typeface="Consolas"/>
              </a:rPr>
              <a:t>FROM golang:1.26 AS build</a:t>
            </a:r>
          </a:p>
          <a:p>
            <a:pPr algn="l">
              <a:lnSpc>
                <a:spcPct val="116000"/>
              </a:lnSpc>
              <a:spcBef>
                <a:spcPts val="0"/>
              </a:spcBef>
              <a:spcAft>
                <a:spcPts val="0"/>
              </a:spcAft>
            </a:pPr>
            <a:r>
              <a:rPr sz="970" b="0" i="0">
                <a:solidFill>
                  <a:srgbClr val="1F2933"/>
                </a:solidFill>
                <a:latin typeface="Consolas"/>
              </a:rPr>
              <a:t>WORKDIR /src</a:t>
            </a:r>
          </a:p>
          <a:p>
            <a:pPr algn="l">
              <a:lnSpc>
                <a:spcPct val="116000"/>
              </a:lnSpc>
              <a:spcBef>
                <a:spcPts val="0"/>
              </a:spcBef>
              <a:spcAft>
                <a:spcPts val="0"/>
              </a:spcAft>
            </a:pPr>
            <a:r>
              <a:rPr sz="970" b="0" i="0">
                <a:solidFill>
                  <a:srgbClr val="1F2933"/>
                </a:solidFill>
                <a:latin typeface="Consolas"/>
              </a:rPr>
              <a:t>COPY go.mod go.sum ./</a:t>
            </a:r>
          </a:p>
          <a:p>
            <a:pPr algn="l">
              <a:lnSpc>
                <a:spcPct val="116000"/>
              </a:lnSpc>
              <a:spcBef>
                <a:spcPts val="0"/>
              </a:spcBef>
              <a:spcAft>
                <a:spcPts val="0"/>
              </a:spcAft>
            </a:pPr>
            <a:r>
              <a:rPr sz="970" b="0" i="0">
                <a:solidFill>
                  <a:srgbClr val="1F2933"/>
                </a:solidFill>
                <a:latin typeface="Consolas"/>
              </a:rPr>
              <a:t>RUN go mod download</a:t>
            </a:r>
          </a:p>
          <a:p>
            <a:pPr algn="l">
              <a:lnSpc>
                <a:spcPct val="116000"/>
              </a:lnSpc>
              <a:spcBef>
                <a:spcPts val="0"/>
              </a:spcBef>
              <a:spcAft>
                <a:spcPts val="0"/>
              </a:spcAft>
            </a:pPr>
            <a:r>
              <a:rPr sz="970" b="0" i="0">
                <a:solidFill>
                  <a:srgbClr val="1F2933"/>
                </a:solidFill>
                <a:latin typeface="Consolas"/>
              </a:rPr>
              <a:t>COPY . .</a:t>
            </a:r>
          </a:p>
          <a:p>
            <a:pPr algn="l">
              <a:lnSpc>
                <a:spcPct val="116000"/>
              </a:lnSpc>
              <a:spcBef>
                <a:spcPts val="0"/>
              </a:spcBef>
              <a:spcAft>
                <a:spcPts val="0"/>
              </a:spcAft>
            </a:pPr>
            <a:r>
              <a:rPr sz="970" b="0" i="0">
                <a:solidFill>
                  <a:srgbClr val="1F2933"/>
                </a:solidFill>
                <a:latin typeface="Consolas"/>
              </a:rPr>
              <a:t>RUN CGO_ENABLED=0 go build -o /controller ./cmd/controller</a:t>
            </a:r>
          </a:p>
          <a:p>
            <a:pPr algn="l">
              <a:lnSpc>
                <a:spcPct val="116000"/>
              </a:lnSpc>
              <a:spcBef>
                <a:spcPts val="0"/>
              </a:spcBef>
              <a:spcAft>
                <a:spcPts val="0"/>
              </a:spcAft>
            </a:pPr>
            <a:r>
              <a:rPr sz="970" b="0" i="0">
                <a:solidFill>
                  <a:srgbClr val="1F2933"/>
                </a:solidFill>
                <a:latin typeface="Consolas"/>
              </a:rPr>
              <a:t> </a:t>
            </a:r>
          </a:p>
          <a:p>
            <a:pPr algn="l">
              <a:lnSpc>
                <a:spcPct val="116000"/>
              </a:lnSpc>
              <a:spcBef>
                <a:spcPts val="0"/>
              </a:spcBef>
              <a:spcAft>
                <a:spcPts val="0"/>
              </a:spcAft>
            </a:pPr>
            <a:r>
              <a:rPr sz="970" b="0" i="0">
                <a:solidFill>
                  <a:srgbClr val="1F2933"/>
                </a:solidFill>
                <a:latin typeface="Consolas"/>
              </a:rPr>
              <a:t>FROM gcr.io/distroless/static-debian12</a:t>
            </a:r>
          </a:p>
          <a:p>
            <a:pPr algn="l">
              <a:lnSpc>
                <a:spcPct val="116000"/>
              </a:lnSpc>
              <a:spcBef>
                <a:spcPts val="0"/>
              </a:spcBef>
              <a:spcAft>
                <a:spcPts val="0"/>
              </a:spcAft>
            </a:pPr>
            <a:r>
              <a:rPr sz="970" b="0" i="0">
                <a:solidFill>
                  <a:srgbClr val="1F2933"/>
                </a:solidFill>
                <a:latin typeface="Consolas"/>
              </a:rPr>
              <a:t>COPY --from=build /controller /controller</a:t>
            </a:r>
          </a:p>
          <a:p>
            <a:pPr algn="l">
              <a:lnSpc>
                <a:spcPct val="116000"/>
              </a:lnSpc>
              <a:spcBef>
                <a:spcPts val="0"/>
              </a:spcBef>
              <a:spcAft>
                <a:spcPts val="0"/>
              </a:spcAft>
            </a:pPr>
            <a:r>
              <a:rPr sz="970" b="0" i="0">
                <a:solidFill>
                  <a:srgbClr val="1F2933"/>
                </a:solidFill>
                <a:latin typeface="Consolas"/>
              </a:rPr>
              <a:t>ENTRYPOINT ["/controller"]</a:t>
            </a:r>
          </a:p>
        </p:txBody>
      </p:sp>
      <p:sp>
        <p:nvSpPr>
          <p:cNvPr id="8" name="Rectangle 7"/>
          <p:cNvSpPr/>
          <p:nvPr/>
        </p:nvSpPr>
        <p:spPr>
          <a:xfrm>
            <a:off x="566928" y="3895344"/>
            <a:ext cx="5577840" cy="182880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3986783"/>
            <a:ext cx="5321807"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deploy/docker/nodeagent.Dockerfile</a:t>
            </a:r>
          </a:p>
        </p:txBody>
      </p:sp>
      <p:sp>
        <p:nvSpPr>
          <p:cNvPr id="10" name="TextBox 9"/>
          <p:cNvSpPr txBox="1"/>
          <p:nvPr/>
        </p:nvSpPr>
        <p:spPr>
          <a:xfrm>
            <a:off x="713232" y="4224528"/>
            <a:ext cx="5285231" cy="1353311"/>
          </a:xfrm>
          <a:prstGeom prst="rect">
            <a:avLst/>
          </a:prstGeom>
          <a:noFill/>
        </p:spPr>
        <p:txBody>
          <a:bodyPr wrap="square" lIns="0" rIns="0" tIns="0" bIns="0" anchor="t">
            <a:spAutoFit/>
          </a:bodyPr>
          <a:lstStyle/>
          <a:p>
            <a:pPr algn="l">
              <a:lnSpc>
                <a:spcPct val="116000"/>
              </a:lnSpc>
              <a:spcBef>
                <a:spcPts val="0"/>
              </a:spcBef>
              <a:spcAft>
                <a:spcPts val="0"/>
              </a:spcAft>
            </a:pPr>
            <a:r>
              <a:rPr sz="600" b="0" i="0">
                <a:solidFill>
                  <a:srgbClr val="1F2933"/>
                </a:solidFill>
                <a:latin typeface="Consolas"/>
              </a:rPr>
              <a:t>FROM golang:1.26 AS build</a:t>
            </a:r>
          </a:p>
          <a:p>
            <a:pPr algn="l">
              <a:lnSpc>
                <a:spcPct val="116000"/>
              </a:lnSpc>
              <a:spcBef>
                <a:spcPts val="0"/>
              </a:spcBef>
              <a:spcAft>
                <a:spcPts val="0"/>
              </a:spcAft>
            </a:pPr>
            <a:r>
              <a:rPr sz="600" b="0" i="0">
                <a:solidFill>
                  <a:srgbClr val="1F2933"/>
                </a:solidFill>
                <a:latin typeface="Consolas"/>
              </a:rPr>
              <a:t>WORKDIR /src</a:t>
            </a:r>
          </a:p>
          <a:p>
            <a:pPr algn="l">
              <a:lnSpc>
                <a:spcPct val="116000"/>
              </a:lnSpc>
              <a:spcBef>
                <a:spcPts val="0"/>
              </a:spcBef>
              <a:spcAft>
                <a:spcPts val="0"/>
              </a:spcAft>
            </a:pPr>
            <a:r>
              <a:rPr sz="600" b="0" i="0">
                <a:solidFill>
                  <a:srgbClr val="1F2933"/>
                </a:solidFill>
                <a:latin typeface="Consolas"/>
              </a:rPr>
              <a:t>ARG GO_BUILD_TAGS=""</a:t>
            </a:r>
          </a:p>
          <a:p>
            <a:pPr algn="l">
              <a:lnSpc>
                <a:spcPct val="116000"/>
              </a:lnSpc>
              <a:spcBef>
                <a:spcPts val="0"/>
              </a:spcBef>
              <a:spcAft>
                <a:spcPts val="0"/>
              </a:spcAft>
            </a:pPr>
            <a:r>
              <a:rPr sz="600" b="0" i="0">
                <a:solidFill>
                  <a:srgbClr val="1F2933"/>
                </a:solidFill>
                <a:latin typeface="Consolas"/>
              </a:rPr>
              <a:t>COPY go.mod go.sum ./</a:t>
            </a:r>
          </a:p>
          <a:p>
            <a:pPr algn="l">
              <a:lnSpc>
                <a:spcPct val="116000"/>
              </a:lnSpc>
              <a:spcBef>
                <a:spcPts val="0"/>
              </a:spcBef>
              <a:spcAft>
                <a:spcPts val="0"/>
              </a:spcAft>
            </a:pPr>
            <a:r>
              <a:rPr sz="600" b="0" i="0">
                <a:solidFill>
                  <a:srgbClr val="1F2933"/>
                </a:solidFill>
                <a:latin typeface="Consolas"/>
              </a:rPr>
              <a:t>RUN go mod download</a:t>
            </a:r>
          </a:p>
          <a:p>
            <a:pPr algn="l">
              <a:lnSpc>
                <a:spcPct val="116000"/>
              </a:lnSpc>
              <a:spcBef>
                <a:spcPts val="0"/>
              </a:spcBef>
              <a:spcAft>
                <a:spcPts val="0"/>
              </a:spcAft>
            </a:pPr>
            <a:r>
              <a:rPr sz="600" b="0" i="0">
                <a:solidFill>
                  <a:srgbClr val="1F2933"/>
                </a:solidFill>
                <a:latin typeface="Consolas"/>
              </a:rPr>
              <a:t>COPY . .</a:t>
            </a:r>
          </a:p>
          <a:p>
            <a:pPr algn="l">
              <a:lnSpc>
                <a:spcPct val="116000"/>
              </a:lnSpc>
              <a:spcBef>
                <a:spcPts val="0"/>
              </a:spcBef>
              <a:spcAft>
                <a:spcPts val="0"/>
              </a:spcAft>
            </a:pPr>
            <a:r>
              <a:rPr sz="600" b="0" i="0">
                <a:solidFill>
                  <a:srgbClr val="1F2933"/>
                </a:solidFill>
                <a:latin typeface="Consolas"/>
              </a:rPr>
              <a:t>RUN if [ -n "$GO_BUILD_TAGS" ]; then \</a:t>
            </a:r>
          </a:p>
          <a:p>
            <a:pPr algn="l">
              <a:lnSpc>
                <a:spcPct val="116000"/>
              </a:lnSpc>
              <a:spcBef>
                <a:spcPts val="0"/>
              </a:spcBef>
              <a:spcAft>
                <a:spcPts val="0"/>
              </a:spcAft>
            </a:pPr>
            <a:r>
              <a:rPr sz="600" b="0" i="0">
                <a:solidFill>
                  <a:srgbClr val="1F2933"/>
                </a:solidFill>
                <a:latin typeface="Consolas"/>
              </a:rPr>
              <a:t>      CGO_ENABLED=1 go build -tags "$GO_BUILD_TAGS" \</a:t>
            </a:r>
          </a:p>
          <a:p>
            <a:pPr algn="l">
              <a:lnSpc>
                <a:spcPct val="116000"/>
              </a:lnSpc>
              <a:spcBef>
                <a:spcPts val="0"/>
              </a:spcBef>
              <a:spcAft>
                <a:spcPts val="0"/>
              </a:spcAft>
            </a:pPr>
            <a:r>
              <a:rPr sz="600" b="0" i="0">
                <a:solidFill>
                  <a:srgbClr val="1F2933"/>
                </a:solidFill>
                <a:latin typeface="Consolas"/>
              </a:rPr>
              <a:t>        -o /nodeagent ./cmd/nodeagent; \</a:t>
            </a:r>
          </a:p>
          <a:p>
            <a:pPr algn="l">
              <a:lnSpc>
                <a:spcPct val="116000"/>
              </a:lnSpc>
              <a:spcBef>
                <a:spcPts val="0"/>
              </a:spcBef>
              <a:spcAft>
                <a:spcPts val="0"/>
              </a:spcAft>
            </a:pPr>
            <a:r>
              <a:rPr sz="600" b="0" i="0">
                <a:solidFill>
                  <a:srgbClr val="1F2933"/>
                </a:solidFill>
                <a:latin typeface="Consolas"/>
              </a:rPr>
              <a:t>    else \</a:t>
            </a:r>
          </a:p>
          <a:p>
            <a:pPr algn="l">
              <a:lnSpc>
                <a:spcPct val="116000"/>
              </a:lnSpc>
              <a:spcBef>
                <a:spcPts val="0"/>
              </a:spcBef>
              <a:spcAft>
                <a:spcPts val="0"/>
              </a:spcAft>
            </a:pPr>
            <a:r>
              <a:rPr sz="600" b="0" i="0">
                <a:solidFill>
                  <a:srgbClr val="1F2933"/>
                </a:solidFill>
                <a:latin typeface="Consolas"/>
              </a:rPr>
              <a:t>      CGO_ENABLED=0 go build -o /nodeagent ./cmd/nodeagent; \</a:t>
            </a:r>
          </a:p>
          <a:p>
            <a:pPr algn="l">
              <a:lnSpc>
                <a:spcPct val="116000"/>
              </a:lnSpc>
              <a:spcBef>
                <a:spcPts val="0"/>
              </a:spcBef>
              <a:spcAft>
                <a:spcPts val="0"/>
              </a:spcAft>
            </a:pPr>
            <a:r>
              <a:rPr sz="600" b="0" i="0">
                <a:solidFill>
                  <a:srgbClr val="1F2933"/>
                </a:solidFill>
                <a:latin typeface="Consolas"/>
              </a:rPr>
              <a:t>    fi</a:t>
            </a:r>
          </a:p>
          <a:p>
            <a:pPr algn="l">
              <a:lnSpc>
                <a:spcPct val="116000"/>
              </a:lnSpc>
              <a:spcBef>
                <a:spcPts val="0"/>
              </a:spcBef>
              <a:spcAft>
                <a:spcPts val="0"/>
              </a:spcAft>
            </a:pPr>
            <a:r>
              <a:rPr sz="600" b="0" i="0">
                <a:solidFill>
                  <a:srgbClr val="1F2933"/>
                </a:solidFill>
                <a:latin typeface="Consolas"/>
              </a:rPr>
              <a:t> </a:t>
            </a:r>
          </a:p>
          <a:p>
            <a:pPr algn="l">
              <a:lnSpc>
                <a:spcPct val="116000"/>
              </a:lnSpc>
              <a:spcBef>
                <a:spcPts val="0"/>
              </a:spcBef>
              <a:spcAft>
                <a:spcPts val="0"/>
              </a:spcAft>
            </a:pPr>
            <a:r>
              <a:rPr sz="600" b="0" i="0">
                <a:solidFill>
                  <a:srgbClr val="1F2933"/>
                </a:solidFill>
                <a:latin typeface="Consolas"/>
              </a:rPr>
              <a:t>FROM gcr.io/distroless/base-debian12</a:t>
            </a:r>
          </a:p>
          <a:p>
            <a:pPr algn="l">
              <a:lnSpc>
                <a:spcPct val="116000"/>
              </a:lnSpc>
              <a:spcBef>
                <a:spcPts val="0"/>
              </a:spcBef>
              <a:spcAft>
                <a:spcPts val="0"/>
              </a:spcAft>
            </a:pPr>
            <a:r>
              <a:rPr sz="600" b="0" i="0">
                <a:solidFill>
                  <a:srgbClr val="1F2933"/>
                </a:solidFill>
                <a:latin typeface="Consolas"/>
              </a:rPr>
              <a:t>COPY --from=build /nodeagent /nodeagent</a:t>
            </a:r>
          </a:p>
          <a:p>
            <a:pPr algn="l">
              <a:lnSpc>
                <a:spcPct val="116000"/>
              </a:lnSpc>
              <a:spcBef>
                <a:spcPts val="0"/>
              </a:spcBef>
              <a:spcAft>
                <a:spcPts val="0"/>
              </a:spcAft>
            </a:pPr>
            <a:r>
              <a:rPr sz="600" b="0" i="0">
                <a:solidFill>
                  <a:srgbClr val="1F2933"/>
                </a:solidFill>
                <a:latin typeface="Consolas"/>
              </a:rPr>
              <a:t>ENTRYPOINT ["/nodeagent"]</a:t>
            </a:r>
          </a:p>
        </p:txBody>
      </p:sp>
      <p:sp>
        <p:nvSpPr>
          <p:cNvPr id="11" name="TextBox 10"/>
          <p:cNvSpPr txBox="1"/>
          <p:nvPr/>
        </p:nvSpPr>
        <p:spPr>
          <a:xfrm>
            <a:off x="6556248" y="1517904"/>
            <a:ext cx="5623560" cy="4837176"/>
          </a:xfrm>
          <a:prstGeom prst="rect">
            <a:avLst/>
          </a:prstGeom>
          <a:noFill/>
        </p:spPr>
        <p:txBody>
          <a:bodyPr wrap="square" lIns="0" rIns="0" tIns="0" bIns="0" anchor="t">
            <a:spAutoFit/>
          </a:bodyPr>
          <a:lstStyle/>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Both are multi-stage.</a:t>
            </a:r>
            <a:r>
              <a:rPr sz="1200" b="0" i="0">
                <a:solidFill>
                  <a:srgbClr val="161D26"/>
                </a:solidFill>
                <a:latin typeface="Segoe UI"/>
              </a:rPr>
              <a:t> Build on golang:1.26, ship only the binary on a distroless base - no shell, no package manager in the runtime image.</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The controller is fully static</a:t>
            </a:r>
            <a:r>
              <a:rPr sz="1200" b="0" i="0">
                <a:solidFill>
                  <a:srgbClr val="161D26"/>
                </a:solidFill>
                <a:latin typeface="Segoe UI"/>
              </a:rPr>
              <a:t> (CGO_ENABLED=0) so it runs on distroless/</a:t>
            </a:r>
            <a:r>
              <a:rPr sz="1200" b="1" i="0">
                <a:solidFill>
                  <a:srgbClr val="161D26"/>
                </a:solidFill>
                <a:latin typeface="Segoe UI"/>
              </a:rPr>
              <a:t>static</a:t>
            </a:r>
            <a:r>
              <a:rPr sz="1200" b="0" i="0">
                <a:solidFill>
                  <a:srgbClr val="161D26"/>
                </a:solidFill>
                <a:latin typeface="Segoe UI"/>
              </a:rPr>
              <a:t>-debian12.</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The node agent cannot be.</a:t>
            </a:r>
            <a:r>
              <a:rPr sz="1200" b="0" i="0">
                <a:solidFill>
                  <a:srgbClr val="161D26"/>
                </a:solidFill>
                <a:latin typeface="Segoe UI"/>
              </a:rPr>
              <a:t> The real-NVML build needs cgo, because go-nvml dlopens libnvidia-ml.so at runtime. That forces CGO_ENABLED=1 and a glibc-bearing base, hence distroless/</a:t>
            </a:r>
            <a:r>
              <a:rPr sz="1200" b="1" i="0">
                <a:solidFill>
                  <a:srgbClr val="161D26"/>
                </a:solidFill>
                <a:latin typeface="Segoe UI"/>
              </a:rPr>
              <a:t>base</a:t>
            </a:r>
            <a:r>
              <a:rPr sz="1200" b="0" i="0">
                <a:solidFill>
                  <a:srgbClr val="161D26"/>
                </a:solidFill>
                <a:latin typeface="Segoe UI"/>
              </a:rPr>
              <a:t>-debian12.</a:t>
            </a:r>
          </a:p>
          <a:p>
            <a:pPr algn="l" marL="274320" indent="-274320">
              <a:lnSpc>
                <a:spcPct val="120000"/>
              </a:lnSpc>
              <a:spcBef>
                <a:spcPts val="0"/>
              </a:spcBef>
              <a:spcAft>
                <a:spcPts val="900"/>
              </a:spcAft>
            </a:pPr>
            <a:r>
              <a:rPr sz="1200" b="0" i="0">
                <a:solidFill>
                  <a:srgbClr val="161D26"/>
                </a:solidFill>
                <a:latin typeface="Segoe UI"/>
              </a:rPr>
              <a:t>▪  The plain non-GPU build runs on that same base image, so one Dockerfile covers both cases:</a:t>
            </a:r>
          </a:p>
        </p:txBody>
      </p:sp>
      <p:sp>
        <p:nvSpPr>
          <p:cNvPr id="12" name="Rectangle 11"/>
          <p:cNvSpPr/>
          <p:nvPr/>
        </p:nvSpPr>
        <p:spPr>
          <a:xfrm>
            <a:off x="6556248" y="4764024"/>
            <a:ext cx="5623560" cy="86868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702552" y="4882896"/>
            <a:ext cx="5330952" cy="603504"/>
          </a:xfrm>
          <a:prstGeom prst="rect">
            <a:avLst/>
          </a:prstGeom>
          <a:noFill/>
        </p:spPr>
        <p:txBody>
          <a:bodyPr wrap="square" lIns="0" rIns="0" tIns="0" bIns="0" anchor="t">
            <a:spAutoFit/>
          </a:bodyPr>
          <a:lstStyle/>
          <a:p>
            <a:pPr algn="l">
              <a:lnSpc>
                <a:spcPct val="116000"/>
              </a:lnSpc>
              <a:spcBef>
                <a:spcPts val="0"/>
              </a:spcBef>
              <a:spcAft>
                <a:spcPts val="0"/>
              </a:spcAft>
            </a:pPr>
            <a:r>
              <a:rPr sz="900" b="0" i="1">
                <a:solidFill>
                  <a:srgbClr val="6B7C8B"/>
                </a:solidFill>
                <a:latin typeface="Consolas"/>
              </a:rPr>
              <a:t># GPU node: real NVML telemetry</a:t>
            </a:r>
          </a:p>
          <a:p>
            <a:pPr algn="l">
              <a:lnSpc>
                <a:spcPct val="116000"/>
              </a:lnSpc>
              <a:spcBef>
                <a:spcPts val="0"/>
              </a:spcBef>
              <a:spcAft>
                <a:spcPts val="0"/>
              </a:spcAft>
            </a:pPr>
            <a:r>
              <a:rPr sz="900" b="0" i="0">
                <a:solidFill>
                  <a:srgbClr val="1F2933"/>
                </a:solidFill>
                <a:latin typeface="Consolas"/>
              </a:rPr>
              <a:t>docker build --build-arg GO_BUILD_TAGS=gpu \</a:t>
            </a:r>
          </a:p>
          <a:p>
            <a:pPr algn="l">
              <a:lnSpc>
                <a:spcPct val="116000"/>
              </a:lnSpc>
              <a:spcBef>
                <a:spcPts val="0"/>
              </a:spcBef>
              <a:spcAft>
                <a:spcPts val="0"/>
              </a:spcAft>
            </a:pPr>
            <a:r>
              <a:rPr sz="900" b="0" i="0">
                <a:solidFill>
                  <a:srgbClr val="1F2933"/>
                </a:solidFill>
                <a:latin typeface="Consolas"/>
              </a:rPr>
              <a:t>  -t kubeedgeinfer/nodeagent:dev \</a:t>
            </a:r>
          </a:p>
          <a:p>
            <a:pPr algn="l">
              <a:lnSpc>
                <a:spcPct val="116000"/>
              </a:lnSpc>
              <a:spcBef>
                <a:spcPts val="0"/>
              </a:spcBef>
              <a:spcAft>
                <a:spcPts val="0"/>
              </a:spcAft>
            </a:pPr>
            <a:r>
              <a:rPr sz="900" b="0" i="0">
                <a:solidFill>
                  <a:srgbClr val="1F2933"/>
                </a:solidFill>
                <a:latin typeface="Consolas"/>
              </a:rPr>
              <a:t>  -f deploy/docker/nodeagent.Dockerfile .</a:t>
            </a:r>
          </a:p>
        </p:txBody>
      </p:sp>
      <p:sp>
        <p:nvSpPr>
          <p:cNvPr id="14" name="TextBox 13"/>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5" name="TextBox 14"/>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CONFIGURATION</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Cluster configuration</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63624"/>
            <a:ext cx="5394960" cy="214884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55064"/>
            <a:ext cx="513892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deploy/kind-config.yaml</a:t>
            </a:r>
          </a:p>
        </p:txBody>
      </p:sp>
      <p:sp>
        <p:nvSpPr>
          <p:cNvPr id="7" name="TextBox 6"/>
          <p:cNvSpPr txBox="1"/>
          <p:nvPr/>
        </p:nvSpPr>
        <p:spPr>
          <a:xfrm>
            <a:off x="713232" y="1892808"/>
            <a:ext cx="5102352" cy="1673352"/>
          </a:xfrm>
          <a:prstGeom prst="rect">
            <a:avLst/>
          </a:prstGeom>
          <a:noFill/>
        </p:spPr>
        <p:txBody>
          <a:bodyPr wrap="square" lIns="0" rIns="0" tIns="0" bIns="0" anchor="t">
            <a:spAutoFit/>
          </a:bodyPr>
          <a:lstStyle/>
          <a:p>
            <a:pPr algn="l">
              <a:lnSpc>
                <a:spcPct val="116000"/>
              </a:lnSpc>
              <a:spcBef>
                <a:spcPts val="0"/>
              </a:spcBef>
              <a:spcAft>
                <a:spcPts val="0"/>
              </a:spcAft>
            </a:pPr>
            <a:r>
              <a:rPr sz="623" b="0" i="0">
                <a:solidFill>
                  <a:srgbClr val="1F2933"/>
                </a:solidFill>
                <a:latin typeface="Consolas"/>
              </a:rPr>
              <a:t>kind: Cluster</a:t>
            </a:r>
          </a:p>
          <a:p>
            <a:pPr algn="l">
              <a:lnSpc>
                <a:spcPct val="116000"/>
              </a:lnSpc>
              <a:spcBef>
                <a:spcPts val="0"/>
              </a:spcBef>
              <a:spcAft>
                <a:spcPts val="0"/>
              </a:spcAft>
            </a:pPr>
            <a:r>
              <a:rPr sz="623" b="0" i="0">
                <a:solidFill>
                  <a:srgbClr val="1F2933"/>
                </a:solidFill>
                <a:latin typeface="Consolas"/>
              </a:rPr>
              <a:t>apiVersion: kind.x-k8s.io/v1alpha4</a:t>
            </a:r>
          </a:p>
          <a:p>
            <a:pPr algn="l">
              <a:lnSpc>
                <a:spcPct val="116000"/>
              </a:lnSpc>
              <a:spcBef>
                <a:spcPts val="0"/>
              </a:spcBef>
              <a:spcAft>
                <a:spcPts val="0"/>
              </a:spcAft>
            </a:pPr>
            <a:r>
              <a:rPr sz="623" b="0" i="0">
                <a:solidFill>
                  <a:srgbClr val="1F2933"/>
                </a:solidFill>
                <a:latin typeface="Consolas"/>
              </a:rPr>
              <a:t>name: kubeedgeinfer</a:t>
            </a:r>
          </a:p>
          <a:p>
            <a:pPr algn="l">
              <a:lnSpc>
                <a:spcPct val="116000"/>
              </a:lnSpc>
              <a:spcBef>
                <a:spcPts val="0"/>
              </a:spcBef>
              <a:spcAft>
                <a:spcPts val="0"/>
              </a:spcAft>
            </a:pPr>
            <a:r>
              <a:rPr sz="623" b="0" i="0">
                <a:solidFill>
                  <a:srgbClr val="1F2933"/>
                </a:solidFill>
                <a:latin typeface="Consolas"/>
              </a:rPr>
              <a:t>nodes:</a:t>
            </a:r>
          </a:p>
          <a:p>
            <a:pPr algn="l">
              <a:lnSpc>
                <a:spcPct val="116000"/>
              </a:lnSpc>
              <a:spcBef>
                <a:spcPts val="0"/>
              </a:spcBef>
              <a:spcAft>
                <a:spcPts val="0"/>
              </a:spcAft>
            </a:pPr>
            <a:r>
              <a:rPr sz="623" b="0" i="0">
                <a:solidFill>
                  <a:srgbClr val="1F2933"/>
                </a:solidFill>
                <a:latin typeface="Consolas"/>
              </a:rPr>
              <a:t>  - role: control-plane</a:t>
            </a:r>
          </a:p>
          <a:p>
            <a:pPr algn="l">
              <a:lnSpc>
                <a:spcPct val="116000"/>
              </a:lnSpc>
              <a:spcBef>
                <a:spcPts val="0"/>
              </a:spcBef>
              <a:spcAft>
                <a:spcPts val="0"/>
              </a:spcAft>
            </a:pPr>
            <a:r>
              <a:rPr sz="623" b="0" i="0">
                <a:solidFill>
                  <a:srgbClr val="1F2933"/>
                </a:solidFill>
                <a:latin typeface="Consolas"/>
              </a:rPr>
              <a:t>  - role: worker</a:t>
            </a:r>
          </a:p>
          <a:p>
            <a:pPr algn="l">
              <a:lnSpc>
                <a:spcPct val="116000"/>
              </a:lnSpc>
              <a:spcBef>
                <a:spcPts val="0"/>
              </a:spcBef>
              <a:spcAft>
                <a:spcPts val="0"/>
              </a:spcAft>
            </a:pPr>
            <a:r>
              <a:rPr sz="623" b="0" i="0">
                <a:solidFill>
                  <a:srgbClr val="1F2933"/>
                </a:solidFill>
                <a:latin typeface="Consolas"/>
              </a:rPr>
              <a:t>    labels:</a:t>
            </a:r>
          </a:p>
          <a:p>
            <a:pPr algn="l">
              <a:lnSpc>
                <a:spcPct val="116000"/>
              </a:lnSpc>
              <a:spcBef>
                <a:spcPts val="0"/>
              </a:spcBef>
              <a:spcAft>
                <a:spcPts val="0"/>
              </a:spcAft>
            </a:pPr>
            <a:r>
              <a:rPr sz="623" b="0" i="0">
                <a:solidFill>
                  <a:srgbClr val="1F2933"/>
                </a:solidFill>
                <a:latin typeface="Consolas"/>
              </a:rPr>
              <a:t>      kubeedgeinfer.io/worker: "true"</a:t>
            </a:r>
          </a:p>
          <a:p>
            <a:pPr algn="l">
              <a:lnSpc>
                <a:spcPct val="116000"/>
              </a:lnSpc>
              <a:spcBef>
                <a:spcPts val="0"/>
              </a:spcBef>
              <a:spcAft>
                <a:spcPts val="0"/>
              </a:spcAft>
            </a:pPr>
            <a:r>
              <a:rPr sz="623" b="0" i="0">
                <a:solidFill>
                  <a:srgbClr val="1F2933"/>
                </a:solidFill>
                <a:latin typeface="Consolas"/>
              </a:rPr>
              <a:t>      kubeedgeinfer.io/node-id: "w1"</a:t>
            </a:r>
          </a:p>
          <a:p>
            <a:pPr algn="l">
              <a:lnSpc>
                <a:spcPct val="116000"/>
              </a:lnSpc>
              <a:spcBef>
                <a:spcPts val="0"/>
              </a:spcBef>
              <a:spcAft>
                <a:spcPts val="0"/>
              </a:spcAft>
            </a:pPr>
            <a:r>
              <a:rPr sz="623" b="0" i="0">
                <a:solidFill>
                  <a:srgbClr val="1F2933"/>
                </a:solidFill>
                <a:latin typeface="Consolas"/>
              </a:rPr>
              <a:t>  - role: worker</a:t>
            </a:r>
          </a:p>
          <a:p>
            <a:pPr algn="l">
              <a:lnSpc>
                <a:spcPct val="116000"/>
              </a:lnSpc>
              <a:spcBef>
                <a:spcPts val="0"/>
              </a:spcBef>
              <a:spcAft>
                <a:spcPts val="0"/>
              </a:spcAft>
            </a:pPr>
            <a:r>
              <a:rPr sz="623" b="0" i="0">
                <a:solidFill>
                  <a:srgbClr val="1F2933"/>
                </a:solidFill>
                <a:latin typeface="Consolas"/>
              </a:rPr>
              <a:t>    labels:</a:t>
            </a:r>
          </a:p>
          <a:p>
            <a:pPr algn="l">
              <a:lnSpc>
                <a:spcPct val="116000"/>
              </a:lnSpc>
              <a:spcBef>
                <a:spcPts val="0"/>
              </a:spcBef>
              <a:spcAft>
                <a:spcPts val="0"/>
              </a:spcAft>
            </a:pPr>
            <a:r>
              <a:rPr sz="623" b="0" i="0">
                <a:solidFill>
                  <a:srgbClr val="1F2933"/>
                </a:solidFill>
                <a:latin typeface="Consolas"/>
              </a:rPr>
              <a:t>      kubeedgeinfer.io/worker: "true"</a:t>
            </a:r>
          </a:p>
          <a:p>
            <a:pPr algn="l">
              <a:lnSpc>
                <a:spcPct val="116000"/>
              </a:lnSpc>
              <a:spcBef>
                <a:spcPts val="0"/>
              </a:spcBef>
              <a:spcAft>
                <a:spcPts val="0"/>
              </a:spcAft>
            </a:pPr>
            <a:r>
              <a:rPr sz="623" b="0" i="0">
                <a:solidFill>
                  <a:srgbClr val="1F2933"/>
                </a:solidFill>
                <a:latin typeface="Consolas"/>
              </a:rPr>
              <a:t>      kubeedgeinfer.io/node-id: "w2"</a:t>
            </a:r>
          </a:p>
          <a:p>
            <a:pPr algn="l">
              <a:lnSpc>
                <a:spcPct val="116000"/>
              </a:lnSpc>
              <a:spcBef>
                <a:spcPts val="0"/>
              </a:spcBef>
              <a:spcAft>
                <a:spcPts val="0"/>
              </a:spcAft>
            </a:pPr>
            <a:r>
              <a:rPr sz="623" b="0" i="0">
                <a:solidFill>
                  <a:srgbClr val="1F2933"/>
                </a:solidFill>
                <a:latin typeface="Consolas"/>
              </a:rPr>
              <a:t>  - role: worker</a:t>
            </a:r>
          </a:p>
          <a:p>
            <a:pPr algn="l">
              <a:lnSpc>
                <a:spcPct val="116000"/>
              </a:lnSpc>
              <a:spcBef>
                <a:spcPts val="0"/>
              </a:spcBef>
              <a:spcAft>
                <a:spcPts val="0"/>
              </a:spcAft>
            </a:pPr>
            <a:r>
              <a:rPr sz="623" b="0" i="0">
                <a:solidFill>
                  <a:srgbClr val="1F2933"/>
                </a:solidFill>
                <a:latin typeface="Consolas"/>
              </a:rPr>
              <a:t>    labels: { kubeedgeinfer.io/worker: "true",</a:t>
            </a:r>
          </a:p>
          <a:p>
            <a:pPr algn="l">
              <a:lnSpc>
                <a:spcPct val="116000"/>
              </a:lnSpc>
              <a:spcBef>
                <a:spcPts val="0"/>
              </a:spcBef>
              <a:spcAft>
                <a:spcPts val="0"/>
              </a:spcAft>
            </a:pPr>
            <a:r>
              <a:rPr sz="623" b="0" i="0">
                <a:solidFill>
                  <a:srgbClr val="1F2933"/>
                </a:solidFill>
                <a:latin typeface="Consolas"/>
              </a:rPr>
              <a:t>              kubeedgeinfer.io/node-id: "w3" }</a:t>
            </a:r>
          </a:p>
        </p:txBody>
      </p:sp>
      <p:sp>
        <p:nvSpPr>
          <p:cNvPr id="8" name="Rectangle 7"/>
          <p:cNvSpPr/>
          <p:nvPr/>
        </p:nvSpPr>
        <p:spPr>
          <a:xfrm>
            <a:off x="566928" y="3941064"/>
            <a:ext cx="5394960" cy="169164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4059936"/>
            <a:ext cx="5102352" cy="1426463"/>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1F2933"/>
                </a:solidFill>
                <a:latin typeface="Consolas"/>
              </a:rPr>
              <a:t>$ kubectl get nodes</a:t>
            </a:r>
          </a:p>
          <a:p>
            <a:pPr algn="l">
              <a:lnSpc>
                <a:spcPct val="116000"/>
              </a:lnSpc>
              <a:spcBef>
                <a:spcPts val="0"/>
              </a:spcBef>
              <a:spcAft>
                <a:spcPts val="0"/>
              </a:spcAft>
            </a:pPr>
            <a:r>
              <a:rPr sz="1000" b="0" i="0">
                <a:solidFill>
                  <a:srgbClr val="1F2933"/>
                </a:solidFill>
                <a:latin typeface="Consolas"/>
              </a:rPr>
              <a:t>NAME                          STATUS   ROLES</a:t>
            </a:r>
          </a:p>
          <a:p>
            <a:pPr algn="l">
              <a:lnSpc>
                <a:spcPct val="116000"/>
              </a:lnSpc>
              <a:spcBef>
                <a:spcPts val="0"/>
              </a:spcBef>
              <a:spcAft>
                <a:spcPts val="0"/>
              </a:spcAft>
            </a:pPr>
            <a:r>
              <a:rPr sz="1000" b="0" i="0">
                <a:solidFill>
                  <a:srgbClr val="1F2933"/>
                </a:solidFill>
                <a:latin typeface="Consolas"/>
              </a:rPr>
              <a:t>kubeedgeinfer-control-plane   Ready    control-plane</a:t>
            </a:r>
          </a:p>
          <a:p>
            <a:pPr algn="l">
              <a:lnSpc>
                <a:spcPct val="116000"/>
              </a:lnSpc>
              <a:spcBef>
                <a:spcPts val="0"/>
              </a:spcBef>
              <a:spcAft>
                <a:spcPts val="0"/>
              </a:spcAft>
            </a:pPr>
            <a:r>
              <a:rPr sz="1000" b="0" i="0">
                <a:solidFill>
                  <a:srgbClr val="1F2933"/>
                </a:solidFill>
                <a:latin typeface="Consolas"/>
              </a:rPr>
              <a:t>kubeedgeinfer-worker          Ready    &lt;none&gt;</a:t>
            </a:r>
          </a:p>
          <a:p>
            <a:pPr algn="l">
              <a:lnSpc>
                <a:spcPct val="116000"/>
              </a:lnSpc>
              <a:spcBef>
                <a:spcPts val="0"/>
              </a:spcBef>
              <a:spcAft>
                <a:spcPts val="0"/>
              </a:spcAft>
            </a:pPr>
            <a:r>
              <a:rPr sz="1000" b="0" i="0">
                <a:solidFill>
                  <a:srgbClr val="1F2933"/>
                </a:solidFill>
                <a:latin typeface="Consolas"/>
              </a:rPr>
              <a:t>kubeedgeinfer-worker2         Ready    &lt;none&gt;</a:t>
            </a:r>
          </a:p>
          <a:p>
            <a:pPr algn="l">
              <a:lnSpc>
                <a:spcPct val="116000"/>
              </a:lnSpc>
              <a:spcBef>
                <a:spcPts val="0"/>
              </a:spcBef>
              <a:spcAft>
                <a:spcPts val="0"/>
              </a:spcAft>
            </a:pPr>
            <a:r>
              <a:rPr sz="1000" b="0" i="0">
                <a:solidFill>
                  <a:srgbClr val="1F2933"/>
                </a:solidFill>
                <a:latin typeface="Consolas"/>
              </a:rPr>
              <a:t>kubeedgeinfer-worker3         Ready    &lt;none&gt;</a:t>
            </a:r>
          </a:p>
        </p:txBody>
      </p:sp>
      <p:sp>
        <p:nvSpPr>
          <p:cNvPr id="10" name="Rectangle 9"/>
          <p:cNvSpPr/>
          <p:nvPr/>
        </p:nvSpPr>
        <p:spPr>
          <a:xfrm>
            <a:off x="6373368" y="1563624"/>
            <a:ext cx="5806440" cy="406908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1383" y="1655064"/>
            <a:ext cx="5550407"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deploy/manifests/nodeagent.yaml  (WATCH DaemonSet)</a:t>
            </a:r>
          </a:p>
        </p:txBody>
      </p:sp>
      <p:sp>
        <p:nvSpPr>
          <p:cNvPr id="12" name="TextBox 11"/>
          <p:cNvSpPr txBox="1"/>
          <p:nvPr/>
        </p:nvSpPr>
        <p:spPr>
          <a:xfrm>
            <a:off x="6519672" y="1892808"/>
            <a:ext cx="5513831" cy="3593591"/>
          </a:xfrm>
          <a:prstGeom prst="rect">
            <a:avLst/>
          </a:prstGeom>
          <a:noFill/>
        </p:spPr>
        <p:txBody>
          <a:bodyPr wrap="square" lIns="0" rIns="0" tIns="0" bIns="0" anchor="t">
            <a:spAutoFit/>
          </a:bodyPr>
          <a:lstStyle/>
          <a:p>
            <a:pPr algn="l">
              <a:lnSpc>
                <a:spcPct val="116000"/>
              </a:lnSpc>
              <a:spcBef>
                <a:spcPts val="0"/>
              </a:spcBef>
              <a:spcAft>
                <a:spcPts val="0"/>
              </a:spcAft>
            </a:pPr>
            <a:r>
              <a:rPr sz="824" b="0" i="0">
                <a:solidFill>
                  <a:srgbClr val="1F2933"/>
                </a:solidFill>
                <a:latin typeface="Consolas"/>
              </a:rPr>
              <a:t>spec:</a:t>
            </a:r>
          </a:p>
          <a:p>
            <a:pPr algn="l">
              <a:lnSpc>
                <a:spcPct val="116000"/>
              </a:lnSpc>
              <a:spcBef>
                <a:spcPts val="0"/>
              </a:spcBef>
              <a:spcAft>
                <a:spcPts val="0"/>
              </a:spcAft>
            </a:pPr>
            <a:r>
              <a:rPr sz="824" b="0" i="0">
                <a:solidFill>
                  <a:srgbClr val="1F2933"/>
                </a:solidFill>
                <a:latin typeface="Consolas"/>
              </a:rPr>
              <a:t>  nodeSelector:</a:t>
            </a:r>
          </a:p>
          <a:p>
            <a:pPr algn="l">
              <a:lnSpc>
                <a:spcPct val="116000"/>
              </a:lnSpc>
              <a:spcBef>
                <a:spcPts val="0"/>
              </a:spcBef>
              <a:spcAft>
                <a:spcPts val="0"/>
              </a:spcAft>
            </a:pPr>
            <a:r>
              <a:rPr sz="824" b="0" i="0">
                <a:solidFill>
                  <a:srgbClr val="1F2933"/>
                </a:solidFill>
                <a:latin typeface="Consolas"/>
              </a:rPr>
              <a:t>    kubeedgeinfer.io/worker: "true"</a:t>
            </a:r>
          </a:p>
          <a:p>
            <a:pPr algn="l">
              <a:lnSpc>
                <a:spcPct val="116000"/>
              </a:lnSpc>
              <a:spcBef>
                <a:spcPts val="0"/>
              </a:spcBef>
              <a:spcAft>
                <a:spcPts val="0"/>
              </a:spcAft>
            </a:pPr>
            <a:r>
              <a:rPr sz="824" b="0" i="0">
                <a:solidFill>
                  <a:srgbClr val="1F2933"/>
                </a:solidFill>
                <a:latin typeface="Consolas"/>
              </a:rPr>
              <a:t>  hostNetwork: true                # kernel-global tracepoints</a:t>
            </a:r>
          </a:p>
          <a:p>
            <a:pPr algn="l">
              <a:lnSpc>
                <a:spcPct val="116000"/>
              </a:lnSpc>
              <a:spcBef>
                <a:spcPts val="0"/>
              </a:spcBef>
              <a:spcAft>
                <a:spcPts val="0"/>
              </a:spcAft>
            </a:pPr>
            <a:r>
              <a:rPr sz="824" b="0" i="0">
                <a:solidFill>
                  <a:srgbClr val="1F2933"/>
                </a:solidFill>
                <a:latin typeface="Consolas"/>
              </a:rPr>
              <a:t>  dnsPolicy: ClusterFirstWithHostNet</a:t>
            </a:r>
          </a:p>
          <a:p>
            <a:pPr algn="l">
              <a:lnSpc>
                <a:spcPct val="116000"/>
              </a:lnSpc>
              <a:spcBef>
                <a:spcPts val="0"/>
              </a:spcBef>
              <a:spcAft>
                <a:spcPts val="0"/>
              </a:spcAft>
            </a:pPr>
            <a:r>
              <a:rPr sz="824" b="0" i="0">
                <a:solidFill>
                  <a:srgbClr val="1F2933"/>
                </a:solidFill>
                <a:latin typeface="Consolas"/>
              </a:rPr>
              <a:t>  containers:</a:t>
            </a:r>
          </a:p>
          <a:p>
            <a:pPr algn="l">
              <a:lnSpc>
                <a:spcPct val="116000"/>
              </a:lnSpc>
              <a:spcBef>
                <a:spcPts val="0"/>
              </a:spcBef>
              <a:spcAft>
                <a:spcPts val="0"/>
              </a:spcAft>
            </a:pPr>
            <a:r>
              <a:rPr sz="824" b="0" i="0">
                <a:solidFill>
                  <a:srgbClr val="1F2933"/>
                </a:solidFill>
                <a:latin typeface="Consolas"/>
              </a:rPr>
              <a:t>    - name: nodeagent</a:t>
            </a:r>
          </a:p>
          <a:p>
            <a:pPr algn="l">
              <a:lnSpc>
                <a:spcPct val="116000"/>
              </a:lnSpc>
              <a:spcBef>
                <a:spcPts val="0"/>
              </a:spcBef>
              <a:spcAft>
                <a:spcPts val="0"/>
              </a:spcAft>
            </a:pPr>
            <a:r>
              <a:rPr sz="824" b="0" i="0">
                <a:solidFill>
                  <a:srgbClr val="1F2933"/>
                </a:solidFill>
                <a:latin typeface="Consolas"/>
              </a:rPr>
              <a:t>      image: kubeedgeinfer/nodeagent:dev</a:t>
            </a:r>
          </a:p>
          <a:p>
            <a:pPr algn="l">
              <a:lnSpc>
                <a:spcPct val="116000"/>
              </a:lnSpc>
              <a:spcBef>
                <a:spcPts val="0"/>
              </a:spcBef>
              <a:spcAft>
                <a:spcPts val="0"/>
              </a:spcAft>
            </a:pPr>
            <a:r>
              <a:rPr sz="824" b="0" i="0">
                <a:solidFill>
                  <a:srgbClr val="1F2933"/>
                </a:solidFill>
                <a:latin typeface="Consolas"/>
              </a:rPr>
              <a:t>      securityContext:</a:t>
            </a:r>
          </a:p>
          <a:p>
            <a:pPr algn="l">
              <a:lnSpc>
                <a:spcPct val="116000"/>
              </a:lnSpc>
              <a:spcBef>
                <a:spcPts val="0"/>
              </a:spcBef>
              <a:spcAft>
                <a:spcPts val="0"/>
              </a:spcAft>
            </a:pPr>
            <a:r>
              <a:rPr sz="824" b="0" i="0">
                <a:solidFill>
                  <a:srgbClr val="1F2933"/>
                </a:solidFill>
                <a:latin typeface="Consolas"/>
              </a:rPr>
              <a:t>        privileged: true           # required to load BPF</a:t>
            </a:r>
          </a:p>
          <a:p>
            <a:pPr algn="l">
              <a:lnSpc>
                <a:spcPct val="116000"/>
              </a:lnSpc>
              <a:spcBef>
                <a:spcPts val="0"/>
              </a:spcBef>
              <a:spcAft>
                <a:spcPts val="0"/>
              </a:spcAft>
            </a:pPr>
            <a:r>
              <a:rPr sz="824" b="0" i="0">
                <a:solidFill>
                  <a:srgbClr val="1F2933"/>
                </a:solidFill>
                <a:latin typeface="Consolas"/>
              </a:rPr>
              <a:t>      env:</a:t>
            </a:r>
          </a:p>
          <a:p>
            <a:pPr algn="l">
              <a:lnSpc>
                <a:spcPct val="116000"/>
              </a:lnSpc>
              <a:spcBef>
                <a:spcPts val="0"/>
              </a:spcBef>
              <a:spcAft>
                <a:spcPts val="0"/>
              </a:spcAft>
            </a:pPr>
            <a:r>
              <a:rPr sz="824" b="0" i="0">
                <a:solidFill>
                  <a:srgbClr val="1F2933"/>
                </a:solidFill>
                <a:latin typeface="Consolas"/>
              </a:rPr>
              <a:t>        - name: GPU_MODE</a:t>
            </a:r>
          </a:p>
          <a:p>
            <a:pPr algn="l">
              <a:lnSpc>
                <a:spcPct val="116000"/>
              </a:lnSpc>
              <a:spcBef>
                <a:spcPts val="0"/>
              </a:spcBef>
              <a:spcAft>
                <a:spcPts val="0"/>
              </a:spcAft>
            </a:pPr>
            <a:r>
              <a:rPr sz="824" b="0" i="0">
                <a:solidFill>
                  <a:srgbClr val="1F2933"/>
                </a:solidFill>
                <a:latin typeface="Consolas"/>
              </a:rPr>
              <a:t>          value: "sim"             # sim | cputherm | nvml</a:t>
            </a:r>
          </a:p>
          <a:p>
            <a:pPr algn="l">
              <a:lnSpc>
                <a:spcPct val="116000"/>
              </a:lnSpc>
              <a:spcBef>
                <a:spcPts val="0"/>
              </a:spcBef>
              <a:spcAft>
                <a:spcPts val="0"/>
              </a:spcAft>
            </a:pPr>
            <a:r>
              <a:rPr sz="824" b="0" i="0">
                <a:solidFill>
                  <a:srgbClr val="1F2933"/>
                </a:solidFill>
                <a:latin typeface="Consolas"/>
              </a:rPr>
              <a:t>        - name: PORT_MIN</a:t>
            </a:r>
          </a:p>
          <a:p>
            <a:pPr algn="l">
              <a:lnSpc>
                <a:spcPct val="116000"/>
              </a:lnSpc>
              <a:spcBef>
                <a:spcPts val="0"/>
              </a:spcBef>
              <a:spcAft>
                <a:spcPts val="0"/>
              </a:spcAft>
            </a:pPr>
            <a:r>
              <a:rPr sz="824" b="0" i="0">
                <a:solidFill>
                  <a:srgbClr val="1F2933"/>
                </a:solidFill>
                <a:latin typeface="Consolas"/>
              </a:rPr>
              <a:t>          value: "50051"           # in-kernel flow filter</a:t>
            </a:r>
          </a:p>
          <a:p>
            <a:pPr algn="l">
              <a:lnSpc>
                <a:spcPct val="116000"/>
              </a:lnSpc>
              <a:spcBef>
                <a:spcPts val="0"/>
              </a:spcBef>
              <a:spcAft>
                <a:spcPts val="0"/>
              </a:spcAft>
            </a:pPr>
            <a:r>
              <a:rPr sz="824" b="0" i="0">
                <a:solidFill>
                  <a:srgbClr val="1F2933"/>
                </a:solidFill>
                <a:latin typeface="Consolas"/>
              </a:rPr>
              <a:t>        - name: PORT_MAX</a:t>
            </a:r>
          </a:p>
          <a:p>
            <a:pPr algn="l">
              <a:lnSpc>
                <a:spcPct val="116000"/>
              </a:lnSpc>
              <a:spcBef>
                <a:spcPts val="0"/>
              </a:spcBef>
              <a:spcAft>
                <a:spcPts val="0"/>
              </a:spcAft>
            </a:pPr>
            <a:r>
              <a:rPr sz="824" b="0" i="0">
                <a:solidFill>
                  <a:srgbClr val="1F2933"/>
                </a:solidFill>
                <a:latin typeface="Consolas"/>
              </a:rPr>
              <a:t>          value: "50052"</a:t>
            </a:r>
          </a:p>
          <a:p>
            <a:pPr algn="l">
              <a:lnSpc>
                <a:spcPct val="116000"/>
              </a:lnSpc>
              <a:spcBef>
                <a:spcPts val="0"/>
              </a:spcBef>
              <a:spcAft>
                <a:spcPts val="0"/>
              </a:spcAft>
            </a:pPr>
            <a:r>
              <a:rPr sz="824" b="0" i="0">
                <a:solidFill>
                  <a:srgbClr val="1F2933"/>
                </a:solidFill>
                <a:latin typeface="Consolas"/>
              </a:rPr>
              <a:t>      volumeMounts:</a:t>
            </a:r>
          </a:p>
          <a:p>
            <a:pPr algn="l">
              <a:lnSpc>
                <a:spcPct val="116000"/>
              </a:lnSpc>
              <a:spcBef>
                <a:spcPts val="0"/>
              </a:spcBef>
              <a:spcAft>
                <a:spcPts val="0"/>
              </a:spcAft>
            </a:pPr>
            <a:r>
              <a:rPr sz="824" b="0" i="0">
                <a:solidFill>
                  <a:srgbClr val="1F2933"/>
                </a:solidFill>
                <a:latin typeface="Consolas"/>
              </a:rPr>
              <a:t>        - { name: btf,     mountPath: /sys/kernel/btf,   readOnly: true }</a:t>
            </a:r>
          </a:p>
          <a:p>
            <a:pPr algn="l">
              <a:lnSpc>
                <a:spcPct val="116000"/>
              </a:lnSpc>
              <a:spcBef>
                <a:spcPts val="0"/>
              </a:spcBef>
              <a:spcAft>
                <a:spcPts val="0"/>
              </a:spcAft>
            </a:pPr>
            <a:r>
              <a:rPr sz="824" b="0" i="0">
                <a:solidFill>
                  <a:srgbClr val="1F2933"/>
                </a:solidFill>
                <a:latin typeface="Consolas"/>
              </a:rPr>
              <a:t>        - { name: bpffs,   mountPath: /sys/fs/bpf }</a:t>
            </a:r>
          </a:p>
          <a:p>
            <a:pPr algn="l">
              <a:lnSpc>
                <a:spcPct val="116000"/>
              </a:lnSpc>
              <a:spcBef>
                <a:spcPts val="0"/>
              </a:spcBef>
              <a:spcAft>
                <a:spcPts val="0"/>
              </a:spcAft>
            </a:pPr>
            <a:r>
              <a:rPr sz="824" b="0" i="0">
                <a:solidFill>
                  <a:srgbClr val="1F2933"/>
                </a:solidFill>
                <a:latin typeface="Consolas"/>
              </a:rPr>
              <a:t>        - { name: thermal, mountPath: /sys/class/thermal, readOnly: true }</a:t>
            </a:r>
          </a:p>
          <a:p>
            <a:pPr algn="l">
              <a:lnSpc>
                <a:spcPct val="116000"/>
              </a:lnSpc>
              <a:spcBef>
                <a:spcPts val="0"/>
              </a:spcBef>
              <a:spcAft>
                <a:spcPts val="0"/>
              </a:spcAft>
            </a:pPr>
            <a:r>
              <a:rPr sz="824" b="0" i="0">
                <a:solidFill>
                  <a:srgbClr val="1F2933"/>
                </a:solidFill>
                <a:latin typeface="Consolas"/>
              </a:rPr>
              <a:t>  volumes:</a:t>
            </a:r>
          </a:p>
          <a:p>
            <a:pPr algn="l">
              <a:lnSpc>
                <a:spcPct val="116000"/>
              </a:lnSpc>
              <a:spcBef>
                <a:spcPts val="0"/>
              </a:spcBef>
              <a:spcAft>
                <a:spcPts val="0"/>
              </a:spcAft>
            </a:pPr>
            <a:r>
              <a:rPr sz="824" b="0" i="0">
                <a:solidFill>
                  <a:srgbClr val="1F2933"/>
                </a:solidFill>
                <a:latin typeface="Consolas"/>
              </a:rPr>
              <a:t>    - name: btf</a:t>
            </a:r>
          </a:p>
          <a:p>
            <a:pPr algn="l">
              <a:lnSpc>
                <a:spcPct val="116000"/>
              </a:lnSpc>
              <a:spcBef>
                <a:spcPts val="0"/>
              </a:spcBef>
              <a:spcAft>
                <a:spcPts val="0"/>
              </a:spcAft>
            </a:pPr>
            <a:r>
              <a:rPr sz="824" b="0" i="0">
                <a:solidFill>
                  <a:srgbClr val="1F2933"/>
                </a:solidFill>
                <a:latin typeface="Consolas"/>
              </a:rPr>
              <a:t>      hostPath: { path: /sys/kernel/btf }</a:t>
            </a:r>
          </a:p>
          <a:p>
            <a:pPr algn="l">
              <a:lnSpc>
                <a:spcPct val="116000"/>
              </a:lnSpc>
              <a:spcBef>
                <a:spcPts val="0"/>
              </a:spcBef>
              <a:spcAft>
                <a:spcPts val="0"/>
              </a:spcAft>
            </a:pPr>
            <a:r>
              <a:rPr sz="824" b="0" i="0">
                <a:solidFill>
                  <a:srgbClr val="1F2933"/>
                </a:solidFill>
                <a:latin typeface="Consolas"/>
              </a:rPr>
              <a:t>    - name: bpffs</a:t>
            </a:r>
          </a:p>
          <a:p>
            <a:pPr algn="l">
              <a:lnSpc>
                <a:spcPct val="116000"/>
              </a:lnSpc>
              <a:spcBef>
                <a:spcPts val="0"/>
              </a:spcBef>
              <a:spcAft>
                <a:spcPts val="0"/>
              </a:spcAft>
            </a:pPr>
            <a:r>
              <a:rPr sz="824" b="0" i="0">
                <a:solidFill>
                  <a:srgbClr val="1F2933"/>
                </a:solidFill>
                <a:latin typeface="Consolas"/>
              </a:rPr>
              <a:t>      hostPath: { path: /sys/fs/bpf }</a:t>
            </a:r>
          </a:p>
        </p:txBody>
      </p:sp>
      <p:sp>
        <p:nvSpPr>
          <p:cNvPr id="13" name="TextBox 12"/>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4" name="TextBox 13"/>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487168"/>
            <a:ext cx="9144000" cy="457200"/>
          </a:xfrm>
          <a:prstGeom prst="rect">
            <a:avLst/>
          </a:prstGeom>
          <a:noFill/>
        </p:spPr>
        <p:txBody>
          <a:bodyPr wrap="square" lIns="0" rIns="0" tIns="0" bIns="0" anchor="t">
            <a:spAutoFit/>
          </a:bodyPr>
          <a:lstStyle/>
          <a:p>
            <a:pPr algn="l">
              <a:lnSpc>
                <a:spcPct val="115000"/>
              </a:lnSpc>
              <a:spcBef>
                <a:spcPts val="0"/>
              </a:spcBef>
              <a:spcAft>
                <a:spcPts val="400"/>
              </a:spcAft>
            </a:pPr>
            <a:r>
              <a:rPr sz="1500" b="1" i="0">
                <a:solidFill>
                  <a:srgbClr val="2A78D6"/>
                </a:solidFill>
                <a:latin typeface="Segoe UI"/>
              </a:rPr>
              <a:t>CODE</a:t>
            </a:r>
          </a:p>
        </p:txBody>
      </p:sp>
      <p:sp>
        <p:nvSpPr>
          <p:cNvPr id="5" name="TextBox 4"/>
          <p:cNvSpPr txBox="1"/>
          <p:nvPr/>
        </p:nvSpPr>
        <p:spPr>
          <a:xfrm>
            <a:off x="1371600" y="2926080"/>
            <a:ext cx="9692640" cy="914400"/>
          </a:xfrm>
          <a:prstGeom prst="rect">
            <a:avLst/>
          </a:prstGeom>
          <a:noFill/>
        </p:spPr>
        <p:txBody>
          <a:bodyPr wrap="square" lIns="0" rIns="0" tIns="0" bIns="0" anchor="t">
            <a:spAutoFit/>
          </a:bodyPr>
          <a:lstStyle/>
          <a:p>
            <a:pPr algn="l">
              <a:lnSpc>
                <a:spcPct val="115000"/>
              </a:lnSpc>
              <a:spcBef>
                <a:spcPts val="0"/>
              </a:spcBef>
              <a:spcAft>
                <a:spcPts val="0"/>
              </a:spcAft>
            </a:pPr>
            <a:r>
              <a:rPr sz="3800" b="1" i="0">
                <a:solidFill>
                  <a:srgbClr val="0E2A47"/>
                </a:solidFill>
                <a:latin typeface="Segoe UI"/>
              </a:rPr>
              <a:t>The four stages, in source</a:t>
            </a:r>
          </a:p>
        </p:txBody>
      </p:sp>
      <p:sp>
        <p:nvSpPr>
          <p:cNvPr id="6" name="TextBox 5"/>
          <p:cNvSpPr txBox="1"/>
          <p:nvPr/>
        </p:nvSpPr>
        <p:spPr>
          <a:xfrm>
            <a:off x="1371600" y="3977639"/>
            <a:ext cx="8778240" cy="822960"/>
          </a:xfrm>
          <a:prstGeom prst="rect">
            <a:avLst/>
          </a:prstGeom>
          <a:noFill/>
        </p:spPr>
        <p:txBody>
          <a:bodyPr wrap="square" lIns="0" rIns="0" tIns="0" bIns="0" anchor="t">
            <a:spAutoFit/>
          </a:bodyPr>
          <a:lstStyle/>
          <a:p>
            <a:pPr algn="l">
              <a:lnSpc>
                <a:spcPct val="130000"/>
              </a:lnSpc>
              <a:spcBef>
                <a:spcPts val="0"/>
              </a:spcBef>
              <a:spcAft>
                <a:spcPts val="600"/>
              </a:spcAft>
            </a:pPr>
            <a:r>
              <a:rPr sz="1550" b="0" i="0">
                <a:solidFill>
                  <a:srgbClr val="5E6E7E"/>
                </a:solidFill>
                <a:latin typeface="Segoe UI"/>
              </a:rPr>
              <a:t>One slide per stage of the control loop.</a:t>
            </a:r>
          </a:p>
        </p:txBody>
      </p:sp>
      <p:sp>
        <p:nvSpPr>
          <p:cNvPr id="7" name="TextBox 6"/>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8" name="TextBox 7"/>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CODE  ·  STAGE 1</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WATCH — the eBPF programs</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11057839" cy="384048"/>
          </a:xfrm>
          <a:prstGeom prst="rect">
            <a:avLst/>
          </a:prstGeom>
          <a:noFill/>
        </p:spPr>
        <p:txBody>
          <a:bodyPr wrap="square" lIns="0" rIns="0" tIns="0" bIns="0" anchor="t">
            <a:spAutoFit/>
          </a:bodyPr>
          <a:lstStyle/>
          <a:p>
            <a:pPr algn="l">
              <a:lnSpc>
                <a:spcPct val="120000"/>
              </a:lnSpc>
              <a:spcBef>
                <a:spcPts val="0"/>
              </a:spcBef>
              <a:spcAft>
                <a:spcPts val="0"/>
              </a:spcAft>
            </a:pPr>
            <a:r>
              <a:rPr sz="1350" b="0" i="1">
                <a:solidFill>
                  <a:srgbClr val="5E6E7E"/>
                </a:solidFill>
                <a:latin typeface="Segoe UI"/>
              </a:rPr>
              <a:t>internal/ebpf/bpf/tcpmon.c — compiled CO-RE, loaded with cilium/ebpf from the privileged DaemonSet.</a:t>
            </a:r>
          </a:p>
        </p:txBody>
      </p:sp>
      <p:sp>
        <p:nvSpPr>
          <p:cNvPr id="6" name="Rectangle 5"/>
          <p:cNvSpPr/>
          <p:nvPr/>
        </p:nvSpPr>
        <p:spPr>
          <a:xfrm>
            <a:off x="566928" y="2002536"/>
            <a:ext cx="6400800" cy="3977639"/>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121408"/>
            <a:ext cx="6108192" cy="3712463"/>
          </a:xfrm>
          <a:prstGeom prst="rect">
            <a:avLst/>
          </a:prstGeom>
          <a:noFill/>
        </p:spPr>
        <p:txBody>
          <a:bodyPr wrap="square" lIns="0" rIns="0" tIns="0" bIns="0" anchor="t">
            <a:spAutoFit/>
          </a:bodyPr>
          <a:lstStyle/>
          <a:p>
            <a:pPr algn="l">
              <a:lnSpc>
                <a:spcPct val="116000"/>
              </a:lnSpc>
              <a:spcBef>
                <a:spcPts val="0"/>
              </a:spcBef>
              <a:spcAft>
                <a:spcPts val="0"/>
              </a:spcAft>
            </a:pPr>
            <a:r>
              <a:rPr sz="714" b="0" i="0">
                <a:solidFill>
                  <a:srgbClr val="1F2933"/>
                </a:solidFill>
                <a:latin typeface="Consolas"/>
              </a:rPr>
              <a:t>char LICENSE[] SEC("license") = "GPL";</a:t>
            </a:r>
          </a:p>
          <a:p>
            <a:pPr algn="l">
              <a:lnSpc>
                <a:spcPct val="116000"/>
              </a:lnSpc>
              <a:spcBef>
                <a:spcPts val="0"/>
              </a:spcBef>
              <a:spcAft>
                <a:spcPts val="0"/>
              </a:spcAft>
            </a:pPr>
            <a:r>
              <a:rPr sz="714" b="0" i="0">
                <a:solidFill>
                  <a:srgbClr val="1F2933"/>
                </a:solidFill>
                <a:latin typeface="Consolas"/>
              </a:rPr>
              <a:t> </a:t>
            </a:r>
          </a:p>
          <a:p>
            <a:pPr algn="l">
              <a:lnSpc>
                <a:spcPct val="116000"/>
              </a:lnSpc>
              <a:spcBef>
                <a:spcPts val="0"/>
              </a:spcBef>
              <a:spcAft>
                <a:spcPts val="0"/>
              </a:spcAft>
            </a:pPr>
            <a:r>
              <a:rPr sz="714" b="0" i="0">
                <a:solidFill>
                  <a:srgbClr val="1F2933"/>
                </a:solidFill>
                <a:latin typeface="Consolas"/>
              </a:rPr>
              <a:t>struct flow_key { __u32 saddr, daddr; __u16 sport, dport; };</a:t>
            </a:r>
          </a:p>
          <a:p>
            <a:pPr algn="l">
              <a:lnSpc>
                <a:spcPct val="116000"/>
              </a:lnSpc>
              <a:spcBef>
                <a:spcPts val="0"/>
              </a:spcBef>
              <a:spcAft>
                <a:spcPts val="0"/>
              </a:spcAft>
            </a:pPr>
            <a:r>
              <a:rPr sz="714" b="0" i="0">
                <a:solidFill>
                  <a:srgbClr val="1F2933"/>
                </a:solidFill>
                <a:latin typeface="Consolas"/>
              </a:rPr>
              <a:t>struct flow_val { __u32 srtt_us; __u64 srtt_samples,</a:t>
            </a:r>
          </a:p>
          <a:p>
            <a:pPr algn="l">
              <a:lnSpc>
                <a:spcPct val="116000"/>
              </a:lnSpc>
              <a:spcBef>
                <a:spcPts val="0"/>
              </a:spcBef>
              <a:spcAft>
                <a:spcPts val="0"/>
              </a:spcAft>
            </a:pPr>
            <a:r>
              <a:rPr sz="714" b="0" i="0">
                <a:solidFill>
                  <a:srgbClr val="1F2933"/>
                </a:solidFill>
                <a:latin typeface="Consolas"/>
              </a:rPr>
              <a:t>                  bytes, last_seen_ns; };</a:t>
            </a:r>
          </a:p>
          <a:p>
            <a:pPr algn="l">
              <a:lnSpc>
                <a:spcPct val="116000"/>
              </a:lnSpc>
              <a:spcBef>
                <a:spcPts val="0"/>
              </a:spcBef>
              <a:spcAft>
                <a:spcPts val="0"/>
              </a:spcAft>
            </a:pPr>
            <a:r>
              <a:rPr sz="714" b="0" i="0">
                <a:solidFill>
                  <a:srgbClr val="1F2933"/>
                </a:solidFill>
                <a:latin typeface="Consolas"/>
              </a:rPr>
              <a:t> </a:t>
            </a:r>
          </a:p>
          <a:p>
            <a:pPr algn="l">
              <a:lnSpc>
                <a:spcPct val="116000"/>
              </a:lnSpc>
              <a:spcBef>
                <a:spcPts val="0"/>
              </a:spcBef>
              <a:spcAft>
                <a:spcPts val="0"/>
              </a:spcAft>
            </a:pPr>
            <a:r>
              <a:rPr sz="714" b="0" i="0">
                <a:solidFill>
                  <a:srgbClr val="1F2933"/>
                </a:solidFill>
                <a:latin typeface="Consolas"/>
              </a:rPr>
              <a:t>struct { __uint(type, BPF_MAP_TYPE_HASH);</a:t>
            </a:r>
          </a:p>
          <a:p>
            <a:pPr algn="l">
              <a:lnSpc>
                <a:spcPct val="116000"/>
              </a:lnSpc>
              <a:spcBef>
                <a:spcPts val="0"/>
              </a:spcBef>
              <a:spcAft>
                <a:spcPts val="0"/>
              </a:spcAft>
            </a:pPr>
            <a:r>
              <a:rPr sz="714" b="0" i="0">
                <a:solidFill>
                  <a:srgbClr val="1F2933"/>
                </a:solidFill>
                <a:latin typeface="Consolas"/>
              </a:rPr>
              <a:t>         __type(key, struct flow_key);</a:t>
            </a:r>
          </a:p>
          <a:p>
            <a:pPr algn="l">
              <a:lnSpc>
                <a:spcPct val="116000"/>
              </a:lnSpc>
              <a:spcBef>
                <a:spcPts val="0"/>
              </a:spcBef>
              <a:spcAft>
                <a:spcPts val="0"/>
              </a:spcAft>
            </a:pPr>
            <a:r>
              <a:rPr sz="714" b="0" i="0">
                <a:solidFill>
                  <a:srgbClr val="1F2933"/>
                </a:solidFill>
                <a:latin typeface="Consolas"/>
              </a:rPr>
              <a:t>         __type(value, struct flow_val); } flows SEC(".maps");</a:t>
            </a:r>
          </a:p>
          <a:p>
            <a:pPr algn="l">
              <a:lnSpc>
                <a:spcPct val="116000"/>
              </a:lnSpc>
              <a:spcBef>
                <a:spcPts val="0"/>
              </a:spcBef>
              <a:spcAft>
                <a:spcPts val="0"/>
              </a:spcAft>
            </a:pPr>
            <a:r>
              <a:rPr sz="714" b="0" i="0">
                <a:solidFill>
                  <a:srgbClr val="1F2933"/>
                </a:solidFill>
                <a:latin typeface="Consolas"/>
              </a:rPr>
              <a:t> </a:t>
            </a:r>
          </a:p>
          <a:p>
            <a:pPr algn="l">
              <a:lnSpc>
                <a:spcPct val="116000"/>
              </a:lnSpc>
              <a:spcBef>
                <a:spcPts val="0"/>
              </a:spcBef>
              <a:spcAft>
                <a:spcPts val="0"/>
              </a:spcAft>
            </a:pPr>
            <a:r>
              <a:rPr sz="714" b="0" i="0">
                <a:solidFill>
                  <a:srgbClr val="1F2933"/>
                </a:solidFill>
                <a:latin typeface="Consolas"/>
              </a:rPr>
              <a:t>SEC("tp_btf/tcp_probe")</a:t>
            </a:r>
          </a:p>
          <a:p>
            <a:pPr algn="l">
              <a:lnSpc>
                <a:spcPct val="116000"/>
              </a:lnSpc>
              <a:spcBef>
                <a:spcPts val="0"/>
              </a:spcBef>
              <a:spcAft>
                <a:spcPts val="0"/>
              </a:spcAft>
            </a:pPr>
            <a:r>
              <a:rPr sz="714" b="0" i="0">
                <a:solidFill>
                  <a:srgbClr val="1F2933"/>
                </a:solidFill>
                <a:latin typeface="Consolas"/>
              </a:rPr>
              <a:t>int BPF_PROG(tcp_probe_hook, struct sock *sk, struct sk_buff *skb)</a:t>
            </a:r>
          </a:p>
          <a:p>
            <a:pPr algn="l">
              <a:lnSpc>
                <a:spcPct val="116000"/>
              </a:lnSpc>
              <a:spcBef>
                <a:spcPts val="0"/>
              </a:spcBef>
              <a:spcAft>
                <a:spcPts val="0"/>
              </a:spcAft>
            </a:pPr>
            <a:r>
              <a:rPr sz="714" b="0" i="0">
                <a:solidFill>
                  <a:srgbClr val="1F2933"/>
                </a:solidFill>
                <a:latin typeface="Consolas"/>
              </a:rPr>
              <a:t>{</a:t>
            </a:r>
          </a:p>
          <a:p>
            <a:pPr algn="l">
              <a:lnSpc>
                <a:spcPct val="116000"/>
              </a:lnSpc>
              <a:spcBef>
                <a:spcPts val="0"/>
              </a:spcBef>
              <a:spcAft>
                <a:spcPts val="0"/>
              </a:spcAft>
            </a:pPr>
            <a:r>
              <a:rPr sz="714" b="0" i="0">
                <a:solidFill>
                  <a:srgbClr val="1F2933"/>
                </a:solidFill>
                <a:latin typeface="Consolas"/>
              </a:rPr>
              <a:t>    struct flow_key key = {};</a:t>
            </a:r>
          </a:p>
          <a:p>
            <a:pPr algn="l">
              <a:lnSpc>
                <a:spcPct val="116000"/>
              </a:lnSpc>
              <a:spcBef>
                <a:spcPts val="0"/>
              </a:spcBef>
              <a:spcAft>
                <a:spcPts val="0"/>
              </a:spcAft>
            </a:pPr>
            <a:r>
              <a:rPr sz="714" b="0" i="0">
                <a:solidFill>
                  <a:srgbClr val="1F2933"/>
                </a:solidFill>
                <a:latin typeface="Consolas"/>
              </a:rPr>
              <a:t>    if (flow_from_sock(sk, &amp;key))          // filters to worker ports</a:t>
            </a:r>
          </a:p>
          <a:p>
            <a:pPr algn="l">
              <a:lnSpc>
                <a:spcPct val="116000"/>
              </a:lnSpc>
              <a:spcBef>
                <a:spcPts val="0"/>
              </a:spcBef>
              <a:spcAft>
                <a:spcPts val="0"/>
              </a:spcAft>
            </a:pPr>
            <a:r>
              <a:rPr sz="714" b="0" i="0">
                <a:solidFill>
                  <a:srgbClr val="1F2933"/>
                </a:solidFill>
                <a:latin typeface="Consolas"/>
              </a:rPr>
              <a:t>        return 0;</a:t>
            </a:r>
          </a:p>
          <a:p>
            <a:pPr algn="l">
              <a:lnSpc>
                <a:spcPct val="116000"/>
              </a:lnSpc>
              <a:spcBef>
                <a:spcPts val="0"/>
              </a:spcBef>
              <a:spcAft>
                <a:spcPts val="0"/>
              </a:spcAft>
            </a:pPr>
            <a:r>
              <a:rPr sz="714" b="0" i="0">
                <a:solidFill>
                  <a:srgbClr val="1F2933"/>
                </a:solidFill>
                <a:latin typeface="Consolas"/>
              </a:rPr>
              <a:t>    struct tcp_sock *tp = (struct tcp_sock *)sk;</a:t>
            </a:r>
          </a:p>
          <a:p>
            <a:pPr algn="l">
              <a:lnSpc>
                <a:spcPct val="116000"/>
              </a:lnSpc>
              <a:spcBef>
                <a:spcPts val="0"/>
              </a:spcBef>
              <a:spcAft>
                <a:spcPts val="0"/>
              </a:spcAft>
            </a:pPr>
            <a:r>
              <a:rPr sz="714" b="0" i="0">
                <a:solidFill>
                  <a:srgbClr val="1F2933"/>
                </a:solidFill>
                <a:latin typeface="Consolas"/>
              </a:rPr>
              <a:t>    __u32 srtt = BPF_CORE_READ(tp, srtt_us) &gt;&gt; 3;</a:t>
            </a:r>
          </a:p>
          <a:p>
            <a:pPr algn="l">
              <a:lnSpc>
                <a:spcPct val="116000"/>
              </a:lnSpc>
              <a:spcBef>
                <a:spcPts val="0"/>
              </a:spcBef>
              <a:spcAft>
                <a:spcPts val="0"/>
              </a:spcAft>
            </a:pPr>
            <a:r>
              <a:rPr sz="714" b="0" i="0">
                <a:solidFill>
                  <a:srgbClr val="1F2933"/>
                </a:solidFill>
                <a:latin typeface="Consolas"/>
              </a:rPr>
              <a:t> </a:t>
            </a:r>
          </a:p>
          <a:p>
            <a:pPr algn="l">
              <a:lnSpc>
                <a:spcPct val="116000"/>
              </a:lnSpc>
              <a:spcBef>
                <a:spcPts val="0"/>
              </a:spcBef>
              <a:spcAft>
                <a:spcPts val="0"/>
              </a:spcAft>
            </a:pPr>
            <a:r>
              <a:rPr sz="714" b="0" i="0">
                <a:solidFill>
                  <a:srgbClr val="1F2933"/>
                </a:solidFill>
                <a:latin typeface="Consolas"/>
              </a:rPr>
              <a:t>    struct flow_val *val = flow_lookup_or_init(&amp;key);</a:t>
            </a:r>
          </a:p>
          <a:p>
            <a:pPr algn="l">
              <a:lnSpc>
                <a:spcPct val="116000"/>
              </a:lnSpc>
              <a:spcBef>
                <a:spcPts val="0"/>
              </a:spcBef>
              <a:spcAft>
                <a:spcPts val="0"/>
              </a:spcAft>
            </a:pPr>
            <a:r>
              <a:rPr sz="714" b="0" i="0">
                <a:solidFill>
                  <a:srgbClr val="1F2933"/>
                </a:solidFill>
                <a:latin typeface="Consolas"/>
              </a:rPr>
              <a:t>    if (!val) return 0;</a:t>
            </a:r>
          </a:p>
          <a:p>
            <a:pPr algn="l">
              <a:lnSpc>
                <a:spcPct val="116000"/>
              </a:lnSpc>
              <a:spcBef>
                <a:spcPts val="0"/>
              </a:spcBef>
              <a:spcAft>
                <a:spcPts val="0"/>
              </a:spcAft>
            </a:pPr>
            <a:r>
              <a:rPr sz="714" b="0" i="0">
                <a:solidFill>
                  <a:srgbClr val="1F2933"/>
                </a:solidFill>
                <a:latin typeface="Consolas"/>
              </a:rPr>
              <a:t>    val-&gt;srtt_us = srtt;</a:t>
            </a:r>
          </a:p>
          <a:p>
            <a:pPr algn="l">
              <a:lnSpc>
                <a:spcPct val="116000"/>
              </a:lnSpc>
              <a:spcBef>
                <a:spcPts val="0"/>
              </a:spcBef>
              <a:spcAft>
                <a:spcPts val="0"/>
              </a:spcAft>
            </a:pPr>
            <a:r>
              <a:rPr sz="714" b="0" i="0">
                <a:solidFill>
                  <a:srgbClr val="1F2933"/>
                </a:solidFill>
                <a:latin typeface="Consolas"/>
              </a:rPr>
              <a:t>    __sync_fetch_and_add(&amp;val-&gt;srtt_samples, 1);</a:t>
            </a:r>
          </a:p>
          <a:p>
            <a:pPr algn="l">
              <a:lnSpc>
                <a:spcPct val="116000"/>
              </a:lnSpc>
              <a:spcBef>
                <a:spcPts val="0"/>
              </a:spcBef>
              <a:spcAft>
                <a:spcPts val="0"/>
              </a:spcAft>
            </a:pPr>
            <a:r>
              <a:rPr sz="714" b="0" i="0">
                <a:solidFill>
                  <a:srgbClr val="1F2933"/>
                </a:solidFill>
                <a:latin typeface="Consolas"/>
              </a:rPr>
              <a:t>    val-&gt;last_seen_ns = bpf_ktime_get_ns();</a:t>
            </a:r>
          </a:p>
          <a:p>
            <a:pPr algn="l">
              <a:lnSpc>
                <a:spcPct val="116000"/>
              </a:lnSpc>
              <a:spcBef>
                <a:spcPts val="0"/>
              </a:spcBef>
              <a:spcAft>
                <a:spcPts val="0"/>
              </a:spcAft>
            </a:pPr>
            <a:r>
              <a:rPr sz="714" b="0" i="0">
                <a:solidFill>
                  <a:srgbClr val="1F2933"/>
                </a:solidFill>
                <a:latin typeface="Consolas"/>
              </a:rPr>
              <a:t>    return 0;</a:t>
            </a:r>
          </a:p>
          <a:p>
            <a:pPr algn="l">
              <a:lnSpc>
                <a:spcPct val="116000"/>
              </a:lnSpc>
              <a:spcBef>
                <a:spcPts val="0"/>
              </a:spcBef>
              <a:spcAft>
                <a:spcPts val="0"/>
              </a:spcAft>
            </a:pPr>
            <a:r>
              <a:rPr sz="714" b="0" i="0">
                <a:solidFill>
                  <a:srgbClr val="1F2933"/>
                </a:solidFill>
                <a:latin typeface="Consolas"/>
              </a:rPr>
              <a:t>}</a:t>
            </a:r>
          </a:p>
          <a:p>
            <a:pPr algn="l">
              <a:lnSpc>
                <a:spcPct val="116000"/>
              </a:lnSpc>
              <a:spcBef>
                <a:spcPts val="0"/>
              </a:spcBef>
              <a:spcAft>
                <a:spcPts val="0"/>
              </a:spcAft>
            </a:pPr>
            <a:r>
              <a:rPr sz="714" b="0" i="0">
                <a:solidFill>
                  <a:srgbClr val="1F2933"/>
                </a:solidFill>
                <a:latin typeface="Consolas"/>
              </a:rPr>
              <a:t> </a:t>
            </a:r>
          </a:p>
          <a:p>
            <a:pPr algn="l">
              <a:lnSpc>
                <a:spcPct val="116000"/>
              </a:lnSpc>
              <a:spcBef>
                <a:spcPts val="0"/>
              </a:spcBef>
              <a:spcAft>
                <a:spcPts val="0"/>
              </a:spcAft>
            </a:pPr>
            <a:r>
              <a:rPr sz="714" b="0" i="0">
                <a:solidFill>
                  <a:srgbClr val="1F2933"/>
                </a:solidFill>
                <a:latin typeface="Consolas"/>
              </a:rPr>
              <a:t>SEC("fentry/tcp_sendmsg")</a:t>
            </a:r>
          </a:p>
          <a:p>
            <a:pPr algn="l">
              <a:lnSpc>
                <a:spcPct val="116000"/>
              </a:lnSpc>
              <a:spcBef>
                <a:spcPts val="0"/>
              </a:spcBef>
              <a:spcAft>
                <a:spcPts val="0"/>
              </a:spcAft>
            </a:pPr>
            <a:r>
              <a:rPr sz="714" b="0" i="0">
                <a:solidFill>
                  <a:srgbClr val="1F2933"/>
                </a:solidFill>
                <a:latin typeface="Consolas"/>
              </a:rPr>
              <a:t>int BPF_PROG(tcp_sendmsg_hook, struct sock *sk,</a:t>
            </a:r>
          </a:p>
          <a:p>
            <a:pPr algn="l">
              <a:lnSpc>
                <a:spcPct val="116000"/>
              </a:lnSpc>
              <a:spcBef>
                <a:spcPts val="0"/>
              </a:spcBef>
              <a:spcAft>
                <a:spcPts val="0"/>
              </a:spcAft>
            </a:pPr>
            <a:r>
              <a:rPr sz="714" b="0" i="0">
                <a:solidFill>
                  <a:srgbClr val="1F2933"/>
                </a:solidFill>
                <a:latin typeface="Consolas"/>
              </a:rPr>
              <a:t>             struct msghdr *msg, size_t size)</a:t>
            </a:r>
          </a:p>
          <a:p>
            <a:pPr algn="l">
              <a:lnSpc>
                <a:spcPct val="116000"/>
              </a:lnSpc>
              <a:spcBef>
                <a:spcPts val="0"/>
              </a:spcBef>
              <a:spcAft>
                <a:spcPts val="0"/>
              </a:spcAft>
            </a:pPr>
            <a:r>
              <a:rPr sz="714" b="0" i="0">
                <a:solidFill>
                  <a:srgbClr val="1F2933"/>
                </a:solidFill>
                <a:latin typeface="Consolas"/>
              </a:rPr>
              <a:t>{ /* ... __sync_fetch_and_add(&amp;val-&gt;bytes, size); ... */ }</a:t>
            </a:r>
          </a:p>
        </p:txBody>
      </p:sp>
      <p:sp>
        <p:nvSpPr>
          <p:cNvPr id="8" name="TextBox 7"/>
          <p:cNvSpPr txBox="1"/>
          <p:nvPr/>
        </p:nvSpPr>
        <p:spPr>
          <a:xfrm>
            <a:off x="7379208" y="1956816"/>
            <a:ext cx="4800600" cy="4398264"/>
          </a:xfrm>
          <a:prstGeom prst="rect">
            <a:avLst/>
          </a:prstGeom>
          <a:noFill/>
        </p:spPr>
        <p:txBody>
          <a:bodyPr wrap="square" lIns="0" rIns="0" tIns="0" bIns="0" anchor="t">
            <a:spAutoFit/>
          </a:bodyPr>
          <a:lstStyle/>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tp_btf/tcp_probe</a:t>
            </a:r>
            <a:r>
              <a:rPr sz="1200" b="0" i="0">
                <a:solidFill>
                  <a:srgbClr val="161D26"/>
                </a:solidFill>
                <a:latin typeface="Segoe UI"/>
              </a:rPr>
              <a:t> is a BTF-typed tracepoint - it reads the kernel's own smoothed RTT estimate rather than timing anything in userspace.</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srtt_us &gt;&gt; 3</a:t>
            </a:r>
            <a:r>
              <a:rPr sz="1200" b="0" i="0">
                <a:solidFill>
                  <a:srgbClr val="161D26"/>
                </a:solidFill>
                <a:latin typeface="Segoe UI"/>
              </a:rPr>
              <a:t> because the kernel stores sRTT shifted left by 3 with a fractional part.</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BPF_CORE_READ</a:t>
            </a:r>
            <a:r>
              <a:rPr sz="1200" b="0" i="0">
                <a:solidFill>
                  <a:srgbClr val="161D26"/>
                </a:solidFill>
                <a:latin typeface="Segoe UI"/>
              </a:rPr>
              <a:t> is what makes this CO-RE: field offsets are relocated against the running kernel's BTF at load time, so one compiled object works across kernel versions.</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Filtering happens in-kernel</a:t>
            </a:r>
            <a:r>
              <a:rPr sz="1200" b="0" i="0">
                <a:solidFill>
                  <a:srgbClr val="161D26"/>
                </a:solidFill>
                <a:latin typeface="Segoe UI"/>
              </a:rPr>
              <a:t> - flow_from_sock rejects anything outside PORT_MIN..PORT_MAX, so userspace only ever sees pipeline traffic.</a:t>
            </a:r>
          </a:p>
          <a:p>
            <a:pPr algn="l" marL="274320" indent="-274320">
              <a:lnSpc>
                <a:spcPct val="120000"/>
              </a:lnSpc>
              <a:spcBef>
                <a:spcPts val="0"/>
              </a:spcBef>
              <a:spcAft>
                <a:spcPts val="900"/>
              </a:spcAft>
            </a:pPr>
            <a:r>
              <a:rPr sz="1200" b="0" i="0">
                <a:solidFill>
                  <a:srgbClr val="161D26"/>
                </a:solidFill>
                <a:latin typeface="Segoe UI"/>
              </a:rPr>
              <a:t>▪  The node agent reads this map once per second and ships it to the controller as LinkStat entries - which double as the liveness heartbeat.</a:t>
            </a:r>
          </a:p>
        </p:txBody>
      </p:sp>
      <p:sp>
        <p:nvSpPr>
          <p:cNvPr id="9" name="TextBox 8"/>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0" name="TextBox 9"/>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CODE  ·  STAGE 2</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DECIDE — the optimiser and the gate</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63624"/>
            <a:ext cx="5852160" cy="228600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55064"/>
            <a:ext cx="559612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internal/partition/partition.go</a:t>
            </a:r>
          </a:p>
        </p:txBody>
      </p:sp>
      <p:sp>
        <p:nvSpPr>
          <p:cNvPr id="7" name="TextBox 6"/>
          <p:cNvSpPr txBox="1"/>
          <p:nvPr/>
        </p:nvSpPr>
        <p:spPr>
          <a:xfrm>
            <a:off x="713232" y="1892808"/>
            <a:ext cx="5559552" cy="1810511"/>
          </a:xfrm>
          <a:prstGeom prst="rect">
            <a:avLst/>
          </a:prstGeom>
          <a:noFill/>
        </p:spPr>
        <p:txBody>
          <a:bodyPr wrap="square" lIns="0" rIns="0" tIns="0" bIns="0" anchor="t">
            <a:spAutoFit/>
          </a:bodyPr>
          <a:lstStyle/>
          <a:p>
            <a:pPr algn="l">
              <a:lnSpc>
                <a:spcPct val="116000"/>
              </a:lnSpc>
              <a:spcBef>
                <a:spcPts val="0"/>
              </a:spcBef>
              <a:spcAft>
                <a:spcPts val="0"/>
              </a:spcAft>
            </a:pPr>
            <a:r>
              <a:rPr sz="981" b="0" i="1">
                <a:solidFill>
                  <a:srgbClr val="6B7C8B"/>
                </a:solidFill>
                <a:latin typeface="Consolas"/>
              </a:rPr>
              <a:t>// An empty stage is skipped by the router entirely, so it</a:t>
            </a:r>
          </a:p>
          <a:p>
            <a:pPr algn="l">
              <a:lnSpc>
                <a:spcPct val="116000"/>
              </a:lnSpc>
              <a:spcBef>
                <a:spcPts val="0"/>
              </a:spcBef>
              <a:spcAft>
                <a:spcPts val="0"/>
              </a:spcAft>
            </a:pPr>
            <a:r>
              <a:rPr sz="981" b="0" i="1">
                <a:solidFill>
                  <a:srgbClr val="6B7C8B"/>
                </a:solidFill>
                <a:latin typeface="Consolas"/>
              </a:rPr>
              <a:t>// costs nothing -- not even its hop. This lets the partitioner</a:t>
            </a:r>
          </a:p>
          <a:p>
            <a:pPr algn="l">
              <a:lnSpc>
                <a:spcPct val="116000"/>
              </a:lnSpc>
              <a:spcBef>
                <a:spcPts val="0"/>
              </a:spcBef>
              <a:spcAft>
                <a:spcPts val="0"/>
              </a:spcAft>
            </a:pPr>
            <a:r>
              <a:rPr sz="981" b="0" i="1">
                <a:solidFill>
                  <a:srgbClr val="6B7C8B"/>
                </a:solidFill>
                <a:latin typeface="Consolas"/>
              </a:rPr>
              <a:t>// bypass a worker whose link degraded so badly that</a:t>
            </a:r>
          </a:p>
          <a:p>
            <a:pPr algn="l">
              <a:lnSpc>
                <a:spcPct val="116000"/>
              </a:lnSpc>
              <a:spcBef>
                <a:spcPts val="0"/>
              </a:spcBef>
              <a:spcAft>
                <a:spcPts val="0"/>
              </a:spcAft>
            </a:pPr>
            <a:r>
              <a:rPr sz="981" b="0" i="1">
                <a:solidFill>
                  <a:srgbClr val="6B7C8B"/>
                </a:solidFill>
                <a:latin typeface="Consolas"/>
              </a:rPr>
              <a:t>// redistributing its layers is cheaper than the hop.</a:t>
            </a:r>
          </a:p>
          <a:p>
            <a:pPr algn="l">
              <a:lnSpc>
                <a:spcPct val="116000"/>
              </a:lnSpc>
              <a:spcBef>
                <a:spcPts val="0"/>
              </a:spcBef>
              <a:spcAft>
                <a:spcPts val="0"/>
              </a:spcAft>
            </a:pPr>
            <a:r>
              <a:rPr sz="981" b="0" i="0">
                <a:solidFill>
                  <a:srgbClr val="1F2933"/>
                </a:solidFill>
                <a:latin typeface="Consolas"/>
              </a:rPr>
              <a:t>func stageCost(in Input, worker, layers int) float64 {</a:t>
            </a:r>
          </a:p>
          <a:p>
            <a:pPr algn="l">
              <a:lnSpc>
                <a:spcPct val="116000"/>
              </a:lnSpc>
              <a:spcBef>
                <a:spcPts val="0"/>
              </a:spcBef>
              <a:spcAft>
                <a:spcPts val="0"/>
              </a:spcAft>
            </a:pPr>
            <a:r>
              <a:rPr sz="981" b="0" i="0">
                <a:solidFill>
                  <a:srgbClr val="1F2933"/>
                </a:solidFill>
                <a:latin typeface="Consolas"/>
              </a:rPr>
              <a:t>    if layers == 0 { return 0 }</a:t>
            </a:r>
          </a:p>
          <a:p>
            <a:pPr algn="l">
              <a:lnSpc>
                <a:spcPct val="116000"/>
              </a:lnSpc>
              <a:spcBef>
                <a:spcPts val="0"/>
              </a:spcBef>
              <a:spcAft>
                <a:spcPts val="0"/>
              </a:spcAft>
            </a:pPr>
            <a:r>
              <a:rPr sz="981" b="0" i="0">
                <a:solidFill>
                  <a:srgbClr val="1F2933"/>
                </a:solidFill>
                <a:latin typeface="Consolas"/>
              </a:rPr>
              <a:t>    cost := float64(layers) * in.PerLayerMs /</a:t>
            </a:r>
          </a:p>
          <a:p>
            <a:pPr algn="l">
              <a:lnSpc>
                <a:spcPct val="116000"/>
              </a:lnSpc>
              <a:spcBef>
                <a:spcPts val="0"/>
              </a:spcBef>
              <a:spcAft>
                <a:spcPts val="0"/>
              </a:spcAft>
            </a:pPr>
            <a:r>
              <a:rPr sz="981" b="0" i="0">
                <a:solidFill>
                  <a:srgbClr val="1F2933"/>
                </a:solidFill>
                <a:latin typeface="Consolas"/>
              </a:rPr>
              <a:t>            math.Max(in.Workers[worker].Speed, 0.01)</a:t>
            </a:r>
          </a:p>
          <a:p>
            <a:pPr algn="l">
              <a:lnSpc>
                <a:spcPct val="116000"/>
              </a:lnSpc>
              <a:spcBef>
                <a:spcPts val="0"/>
              </a:spcBef>
              <a:spcAft>
                <a:spcPts val="0"/>
              </a:spcAft>
            </a:pPr>
            <a:r>
              <a:rPr sz="981" b="0" i="0">
                <a:solidFill>
                  <a:srgbClr val="1F2933"/>
                </a:solidFill>
                <a:latin typeface="Consolas"/>
              </a:rPr>
              <a:t>    if worker &gt; 0 { cost += in.LinkMs[worker-1] }</a:t>
            </a:r>
          </a:p>
          <a:p>
            <a:pPr algn="l">
              <a:lnSpc>
                <a:spcPct val="116000"/>
              </a:lnSpc>
              <a:spcBef>
                <a:spcPts val="0"/>
              </a:spcBef>
              <a:spcAft>
                <a:spcPts val="0"/>
              </a:spcAft>
            </a:pPr>
            <a:r>
              <a:rPr sz="981" b="0" i="0">
                <a:solidFill>
                  <a:srgbClr val="1F2933"/>
                </a:solidFill>
                <a:latin typeface="Consolas"/>
              </a:rPr>
              <a:t>    return cost</a:t>
            </a:r>
          </a:p>
          <a:p>
            <a:pPr algn="l">
              <a:lnSpc>
                <a:spcPct val="116000"/>
              </a:lnSpc>
              <a:spcBef>
                <a:spcPts val="0"/>
              </a:spcBef>
              <a:spcAft>
                <a:spcPts val="0"/>
              </a:spcAft>
            </a:pPr>
            <a:r>
              <a:rPr sz="981" b="0" i="0">
                <a:solidFill>
                  <a:srgbClr val="1F2933"/>
                </a:solidFill>
                <a:latin typeface="Consolas"/>
              </a:rPr>
              <a:t>}</a:t>
            </a:r>
          </a:p>
        </p:txBody>
      </p:sp>
      <p:sp>
        <p:nvSpPr>
          <p:cNvPr id="8" name="Rectangle 7"/>
          <p:cNvSpPr/>
          <p:nvPr/>
        </p:nvSpPr>
        <p:spPr>
          <a:xfrm>
            <a:off x="566928" y="4078224"/>
            <a:ext cx="5852160" cy="155448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4197096"/>
            <a:ext cx="5559552" cy="1289304"/>
          </a:xfrm>
          <a:prstGeom prst="rect">
            <a:avLst/>
          </a:prstGeom>
          <a:noFill/>
        </p:spPr>
        <p:txBody>
          <a:bodyPr wrap="square" lIns="0" rIns="0" tIns="0" bIns="0" anchor="t">
            <a:spAutoFit/>
          </a:bodyPr>
          <a:lstStyle/>
          <a:p>
            <a:pPr algn="l">
              <a:lnSpc>
                <a:spcPct val="116000"/>
              </a:lnSpc>
              <a:spcBef>
                <a:spcPts val="0"/>
              </a:spcBef>
              <a:spcAft>
                <a:spcPts val="0"/>
              </a:spcAft>
            </a:pPr>
            <a:r>
              <a:rPr sz="854" b="0" i="1">
                <a:solidFill>
                  <a:srgbClr val="6B7C8B"/>
                </a:solidFill>
                <a:latin typeface="Consolas"/>
              </a:rPr>
              <a:t>// Optimal solves the linear partition exactly, O(N^2 * K).</a:t>
            </a:r>
          </a:p>
          <a:p>
            <a:pPr algn="l">
              <a:lnSpc>
                <a:spcPct val="116000"/>
              </a:lnSpc>
              <a:spcBef>
                <a:spcPts val="0"/>
              </a:spcBef>
              <a:spcAft>
                <a:spcPts val="0"/>
              </a:spcAft>
            </a:pPr>
            <a:r>
              <a:rPr sz="854" b="0" i="0">
                <a:solidFill>
                  <a:srgbClr val="1F2933"/>
                </a:solidFill>
                <a:latin typeface="Consolas"/>
              </a:rPr>
              <a:t>for w := 1; w &lt;= k; w++ {</a:t>
            </a:r>
          </a:p>
          <a:p>
            <a:pPr algn="l">
              <a:lnSpc>
                <a:spcPct val="116000"/>
              </a:lnSpc>
              <a:spcBef>
                <a:spcPts val="0"/>
              </a:spcBef>
              <a:spcAft>
                <a:spcPts val="0"/>
              </a:spcAft>
            </a:pPr>
            <a:r>
              <a:rPr sz="854" b="0" i="0">
                <a:solidFill>
                  <a:srgbClr val="1F2933"/>
                </a:solidFill>
                <a:latin typeface="Consolas"/>
              </a:rPr>
              <a:t>  for j := 0; j &lt;= n; j++ {</a:t>
            </a:r>
          </a:p>
          <a:p>
            <a:pPr algn="l">
              <a:lnSpc>
                <a:spcPct val="116000"/>
              </a:lnSpc>
              <a:spcBef>
                <a:spcPts val="0"/>
              </a:spcBef>
              <a:spcAft>
                <a:spcPts val="0"/>
              </a:spcAft>
            </a:pPr>
            <a:r>
              <a:rPr sz="854" b="0" i="0">
                <a:solidFill>
                  <a:srgbClr val="1F2933"/>
                </a:solidFill>
                <a:latin typeface="Consolas"/>
              </a:rPr>
              <a:t>    for split := 0; split &lt;= j; split++ {</a:t>
            </a:r>
          </a:p>
          <a:p>
            <a:pPr algn="l">
              <a:lnSpc>
                <a:spcPct val="116000"/>
              </a:lnSpc>
              <a:spcBef>
                <a:spcPts val="0"/>
              </a:spcBef>
              <a:spcAft>
                <a:spcPts val="0"/>
              </a:spcAft>
            </a:pPr>
            <a:r>
              <a:rPr sz="854" b="0" i="0">
                <a:solidFill>
                  <a:srgbClr val="1F2933"/>
                </a:solidFill>
                <a:latin typeface="Consolas"/>
              </a:rPr>
              <a:t>      cost := math.Max(f[split][w-1], stageCost(in, w-1, j-split))</a:t>
            </a:r>
          </a:p>
          <a:p>
            <a:pPr algn="l">
              <a:lnSpc>
                <a:spcPct val="116000"/>
              </a:lnSpc>
              <a:spcBef>
                <a:spcPts val="0"/>
              </a:spcBef>
              <a:spcAft>
                <a:spcPts val="0"/>
              </a:spcAft>
            </a:pPr>
            <a:r>
              <a:rPr sz="854" b="0" i="0">
                <a:solidFill>
                  <a:srgbClr val="1F2933"/>
                </a:solidFill>
                <a:latin typeface="Consolas"/>
              </a:rPr>
              <a:t>      if cost &lt; f[j][w] { f[j][w] = cost; choice[j][w] = split }</a:t>
            </a:r>
          </a:p>
          <a:p>
            <a:pPr algn="l">
              <a:lnSpc>
                <a:spcPct val="116000"/>
              </a:lnSpc>
              <a:spcBef>
                <a:spcPts val="0"/>
              </a:spcBef>
              <a:spcAft>
                <a:spcPts val="0"/>
              </a:spcAft>
            </a:pPr>
            <a:r>
              <a:rPr sz="854" b="0" i="0">
                <a:solidFill>
                  <a:srgbClr val="1F2933"/>
                </a:solidFill>
                <a:latin typeface="Consolas"/>
              </a:rPr>
              <a:t>    }</a:t>
            </a:r>
          </a:p>
          <a:p>
            <a:pPr algn="l">
              <a:lnSpc>
                <a:spcPct val="116000"/>
              </a:lnSpc>
              <a:spcBef>
                <a:spcPts val="0"/>
              </a:spcBef>
              <a:spcAft>
                <a:spcPts val="0"/>
              </a:spcAft>
            </a:pPr>
            <a:r>
              <a:rPr sz="854" b="0" i="0">
                <a:solidFill>
                  <a:srgbClr val="1F2933"/>
                </a:solidFill>
                <a:latin typeface="Consolas"/>
              </a:rPr>
              <a:t>  }</a:t>
            </a:r>
          </a:p>
          <a:p>
            <a:pPr algn="l">
              <a:lnSpc>
                <a:spcPct val="116000"/>
              </a:lnSpc>
              <a:spcBef>
                <a:spcPts val="0"/>
              </a:spcBef>
              <a:spcAft>
                <a:spcPts val="0"/>
              </a:spcAft>
            </a:pPr>
            <a:r>
              <a:rPr sz="854" b="0" i="0">
                <a:solidFill>
                  <a:srgbClr val="1F2933"/>
                </a:solidFill>
                <a:latin typeface="Consolas"/>
              </a:rPr>
              <a:t>}</a:t>
            </a:r>
          </a:p>
        </p:txBody>
      </p:sp>
      <p:sp>
        <p:nvSpPr>
          <p:cNvPr id="10" name="Rectangle 9"/>
          <p:cNvSpPr/>
          <p:nvPr/>
        </p:nvSpPr>
        <p:spPr>
          <a:xfrm>
            <a:off x="6830568" y="1563624"/>
            <a:ext cx="5349240" cy="278892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958583" y="1655064"/>
            <a:ext cx="5093207"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the hysteresis gate</a:t>
            </a:r>
          </a:p>
        </p:txBody>
      </p:sp>
      <p:sp>
        <p:nvSpPr>
          <p:cNvPr id="12" name="TextBox 11"/>
          <p:cNvSpPr txBox="1"/>
          <p:nvPr/>
        </p:nvSpPr>
        <p:spPr>
          <a:xfrm>
            <a:off x="6976872" y="1892808"/>
            <a:ext cx="5056631" cy="2313431"/>
          </a:xfrm>
          <a:prstGeom prst="rect">
            <a:avLst/>
          </a:prstGeom>
          <a:noFill/>
        </p:spPr>
        <p:txBody>
          <a:bodyPr wrap="square" lIns="0" rIns="0" tIns="0" bIns="0" anchor="t">
            <a:spAutoFit/>
          </a:bodyPr>
          <a:lstStyle/>
          <a:p>
            <a:pPr algn="l">
              <a:lnSpc>
                <a:spcPct val="116000"/>
              </a:lnSpc>
              <a:spcBef>
                <a:spcPts val="0"/>
              </a:spcBef>
              <a:spcAft>
                <a:spcPts val="0"/>
              </a:spcAft>
            </a:pPr>
            <a:r>
              <a:rPr sz="600" b="0" i="0">
                <a:solidFill>
                  <a:srgbClr val="1F2933"/>
                </a:solidFill>
                <a:latin typeface="Consolas"/>
              </a:rPr>
              <a:t>func (d *Decider) Decide(now time.Time, in Input,</a:t>
            </a:r>
          </a:p>
          <a:p>
            <a:pPr algn="l">
              <a:lnSpc>
                <a:spcPct val="116000"/>
              </a:lnSpc>
              <a:spcBef>
                <a:spcPts val="0"/>
              </a:spcBef>
              <a:spcAft>
                <a:spcPts val="0"/>
              </a:spcAft>
            </a:pPr>
            <a:r>
              <a:rPr sz="600" b="0" i="0">
                <a:solidFill>
                  <a:srgbClr val="1F2933"/>
                </a:solidFill>
                <a:latin typeface="Consolas"/>
              </a:rPr>
              <a:t>                         force bool) (*Result, bool, error) {</a:t>
            </a:r>
          </a:p>
          <a:p>
            <a:pPr algn="l">
              <a:lnSpc>
                <a:spcPct val="116000"/>
              </a:lnSpc>
              <a:spcBef>
                <a:spcPts val="0"/>
              </a:spcBef>
              <a:spcAft>
                <a:spcPts val="0"/>
              </a:spcAft>
            </a:pPr>
            <a:r>
              <a:rPr sz="600" b="0" i="0">
                <a:solidFill>
                  <a:srgbClr val="1F2933"/>
                </a:solidFill>
                <a:latin typeface="Consolas"/>
              </a:rPr>
              <a:t>    opt, err := Optimal(in)</a:t>
            </a:r>
          </a:p>
          <a:p>
            <a:pPr algn="l">
              <a:lnSpc>
                <a:spcPct val="116000"/>
              </a:lnSpc>
              <a:spcBef>
                <a:spcPts val="0"/>
              </a:spcBef>
              <a:spcAft>
                <a:spcPts val="0"/>
              </a:spcAft>
            </a:pPr>
            <a:r>
              <a:rPr sz="600" b="0" i="0">
                <a:solidFill>
                  <a:srgbClr val="1F2933"/>
                </a:solidFill>
                <a:latin typeface="Consolas"/>
              </a:rPr>
              <a:t>    if err != nil { return nil, false, err }</a:t>
            </a:r>
          </a:p>
          <a:p>
            <a:pPr algn="l">
              <a:lnSpc>
                <a:spcPct val="116000"/>
              </a:lnSpc>
              <a:spcBef>
                <a:spcPts val="0"/>
              </a:spcBef>
              <a:spcAft>
                <a:spcPts val="0"/>
              </a:spcAft>
            </a:pPr>
            <a:r>
              <a:rPr sz="600" b="0" i="0">
                <a:solidFill>
                  <a:srgbClr val="1F2933"/>
                </a:solidFill>
                <a:latin typeface="Consolas"/>
              </a:rPr>
              <a:t> </a:t>
            </a:r>
          </a:p>
          <a:p>
            <a:pPr algn="l">
              <a:lnSpc>
                <a:spcPct val="116000"/>
              </a:lnSpc>
              <a:spcBef>
                <a:spcPts val="0"/>
              </a:spcBef>
              <a:spcAft>
                <a:spcPts val="0"/>
              </a:spcAft>
            </a:pPr>
            <a:r>
              <a:rPr sz="600" b="0" i="1">
                <a:solidFill>
                  <a:srgbClr val="6B7C8B"/>
                </a:solidFill>
                <a:latin typeface="Consolas"/>
              </a:rPr>
              <a:t>    // A node joined or died: repartition immediately,</a:t>
            </a:r>
          </a:p>
          <a:p>
            <a:pPr algn="l">
              <a:lnSpc>
                <a:spcPct val="116000"/>
              </a:lnSpc>
              <a:spcBef>
                <a:spcPts val="0"/>
              </a:spcBef>
              <a:spcAft>
                <a:spcPts val="0"/>
              </a:spcAft>
            </a:pPr>
            <a:r>
              <a:rPr sz="600" b="0" i="1">
                <a:solidFill>
                  <a:srgbClr val="6B7C8B"/>
                </a:solidFill>
                <a:latin typeface="Consolas"/>
              </a:rPr>
              <a:t>    // bypassing both gates. Healing must not wait.</a:t>
            </a:r>
          </a:p>
          <a:p>
            <a:pPr algn="l">
              <a:lnSpc>
                <a:spcPct val="116000"/>
              </a:lnSpc>
              <a:spcBef>
                <a:spcPts val="0"/>
              </a:spcBef>
              <a:spcAft>
                <a:spcPts val="0"/>
              </a:spcAft>
            </a:pPr>
            <a:r>
              <a:rPr sz="600" b="0" i="0">
                <a:solidFill>
                  <a:srgbClr val="1F2933"/>
                </a:solidFill>
                <a:latin typeface="Consolas"/>
              </a:rPr>
              <a:t>    if d.current == nil || force ||</a:t>
            </a:r>
          </a:p>
          <a:p>
            <a:pPr algn="l">
              <a:lnSpc>
                <a:spcPct val="116000"/>
              </a:lnSpc>
              <a:spcBef>
                <a:spcPts val="0"/>
              </a:spcBef>
              <a:spcAft>
                <a:spcPts val="0"/>
              </a:spcAft>
            </a:pPr>
            <a:r>
              <a:rPr sz="600" b="0" i="0">
                <a:solidFill>
                  <a:srgbClr val="1F2933"/>
                </a:solidFill>
                <a:latin typeface="Consolas"/>
              </a:rPr>
              <a:t>       workersChanged(d.current, in.Workers) {</a:t>
            </a:r>
          </a:p>
          <a:p>
            <a:pPr algn="l">
              <a:lnSpc>
                <a:spcPct val="116000"/>
              </a:lnSpc>
              <a:spcBef>
                <a:spcPts val="0"/>
              </a:spcBef>
              <a:spcAft>
                <a:spcPts val="0"/>
              </a:spcAft>
            </a:pPr>
            <a:r>
              <a:rPr sz="600" b="0" i="0">
                <a:solidFill>
                  <a:srgbClr val="1F2933"/>
                </a:solidFill>
                <a:latin typeface="Consolas"/>
              </a:rPr>
              <a:t>        d.current, d.lastChange = opt, now</a:t>
            </a:r>
          </a:p>
          <a:p>
            <a:pPr algn="l">
              <a:lnSpc>
                <a:spcPct val="116000"/>
              </a:lnSpc>
              <a:spcBef>
                <a:spcPts val="0"/>
              </a:spcBef>
              <a:spcAft>
                <a:spcPts val="0"/>
              </a:spcAft>
            </a:pPr>
            <a:r>
              <a:rPr sz="600" b="0" i="0">
                <a:solidFill>
                  <a:srgbClr val="1F2933"/>
                </a:solidFill>
                <a:latin typeface="Consolas"/>
              </a:rPr>
              <a:t>        return opt, true, nil</a:t>
            </a:r>
          </a:p>
          <a:p>
            <a:pPr algn="l">
              <a:lnSpc>
                <a:spcPct val="116000"/>
              </a:lnSpc>
              <a:spcBef>
                <a:spcPts val="0"/>
              </a:spcBef>
              <a:spcAft>
                <a:spcPts val="0"/>
              </a:spcAft>
            </a:pPr>
            <a:r>
              <a:rPr sz="600" b="0" i="0">
                <a:solidFill>
                  <a:srgbClr val="1F2933"/>
                </a:solidFill>
                <a:latin typeface="Consolas"/>
              </a:rPr>
              <a:t>    }</a:t>
            </a:r>
          </a:p>
          <a:p>
            <a:pPr algn="l">
              <a:lnSpc>
                <a:spcPct val="116000"/>
              </a:lnSpc>
              <a:spcBef>
                <a:spcPts val="0"/>
              </a:spcBef>
              <a:spcAft>
                <a:spcPts val="0"/>
              </a:spcAft>
            </a:pPr>
            <a:r>
              <a:rPr sz="600" b="0" i="0">
                <a:solidFill>
                  <a:srgbClr val="1F2933"/>
                </a:solidFill>
                <a:latin typeface="Consolas"/>
              </a:rPr>
              <a:t> </a:t>
            </a:r>
          </a:p>
          <a:p>
            <a:pPr algn="l">
              <a:lnSpc>
                <a:spcPct val="116000"/>
              </a:lnSpc>
              <a:spcBef>
                <a:spcPts val="0"/>
              </a:spcBef>
              <a:spcAft>
                <a:spcPts val="0"/>
              </a:spcAft>
            </a:pPr>
            <a:r>
              <a:rPr sz="600" b="0" i="0">
                <a:solidFill>
                  <a:srgbClr val="1F2933"/>
                </a:solidFill>
                <a:latin typeface="Consolas"/>
              </a:rPr>
              <a:t>    currentCost := Evaluate(in, d.current.Splits())</a:t>
            </a:r>
          </a:p>
          <a:p>
            <a:pPr algn="l">
              <a:lnSpc>
                <a:spcPct val="116000"/>
              </a:lnSpc>
              <a:spcBef>
                <a:spcPts val="0"/>
              </a:spcBef>
              <a:spcAft>
                <a:spcPts val="0"/>
              </a:spcAft>
            </a:pPr>
            <a:r>
              <a:rPr sz="600" b="0" i="0">
                <a:solidFill>
                  <a:srgbClr val="1F2933"/>
                </a:solidFill>
                <a:latin typeface="Consolas"/>
              </a:rPr>
              <a:t>    improved := opt.BottleneckMs &lt;</a:t>
            </a:r>
          </a:p>
          <a:p>
            <a:pPr algn="l">
              <a:lnSpc>
                <a:spcPct val="116000"/>
              </a:lnSpc>
              <a:spcBef>
                <a:spcPts val="0"/>
              </a:spcBef>
              <a:spcAft>
                <a:spcPts val="0"/>
              </a:spcAft>
            </a:pPr>
            <a:r>
              <a:rPr sz="600" b="0" i="0">
                <a:solidFill>
                  <a:srgbClr val="1F2933"/>
                </a:solidFill>
                <a:latin typeface="Consolas"/>
              </a:rPr>
              <a:t>                currentCost*(1-d.ImprovementFrac)</a:t>
            </a:r>
          </a:p>
          <a:p>
            <a:pPr algn="l">
              <a:lnSpc>
                <a:spcPct val="116000"/>
              </a:lnSpc>
              <a:spcBef>
                <a:spcPts val="0"/>
              </a:spcBef>
              <a:spcAft>
                <a:spcPts val="0"/>
              </a:spcAft>
            </a:pPr>
            <a:r>
              <a:rPr sz="600" b="0" i="0">
                <a:solidFill>
                  <a:srgbClr val="1F2933"/>
                </a:solidFill>
                <a:latin typeface="Consolas"/>
              </a:rPr>
              <a:t>    if improved &amp;&amp; now.Sub(d.lastChange) &gt;= d.Cooldown {</a:t>
            </a:r>
          </a:p>
          <a:p>
            <a:pPr algn="l">
              <a:lnSpc>
                <a:spcPct val="116000"/>
              </a:lnSpc>
              <a:spcBef>
                <a:spcPts val="0"/>
              </a:spcBef>
              <a:spcAft>
                <a:spcPts val="0"/>
              </a:spcAft>
            </a:pPr>
            <a:r>
              <a:rPr sz="600" b="0" i="0">
                <a:solidFill>
                  <a:srgbClr val="1F2933"/>
                </a:solidFill>
                <a:latin typeface="Consolas"/>
              </a:rPr>
              <a:t>        d.current, d.lastChange = opt, now</a:t>
            </a:r>
          </a:p>
          <a:p>
            <a:pPr algn="l">
              <a:lnSpc>
                <a:spcPct val="116000"/>
              </a:lnSpc>
              <a:spcBef>
                <a:spcPts val="0"/>
              </a:spcBef>
              <a:spcAft>
                <a:spcPts val="0"/>
              </a:spcAft>
            </a:pPr>
            <a:r>
              <a:rPr sz="600" b="0" i="0">
                <a:solidFill>
                  <a:srgbClr val="1F2933"/>
                </a:solidFill>
                <a:latin typeface="Consolas"/>
              </a:rPr>
              <a:t>        return opt, true, nil</a:t>
            </a:r>
          </a:p>
          <a:p>
            <a:pPr algn="l">
              <a:lnSpc>
                <a:spcPct val="116000"/>
              </a:lnSpc>
              <a:spcBef>
                <a:spcPts val="0"/>
              </a:spcBef>
              <a:spcAft>
                <a:spcPts val="0"/>
              </a:spcAft>
            </a:pPr>
            <a:r>
              <a:rPr sz="600" b="0" i="0">
                <a:solidFill>
                  <a:srgbClr val="1F2933"/>
                </a:solidFill>
                <a:latin typeface="Consolas"/>
              </a:rPr>
              <a:t>    }</a:t>
            </a:r>
          </a:p>
          <a:p>
            <a:pPr algn="l">
              <a:lnSpc>
                <a:spcPct val="116000"/>
              </a:lnSpc>
              <a:spcBef>
                <a:spcPts val="0"/>
              </a:spcBef>
              <a:spcAft>
                <a:spcPts val="0"/>
              </a:spcAft>
            </a:pPr>
            <a:r>
              <a:rPr sz="600" b="0" i="1">
                <a:solidFill>
                  <a:srgbClr val="6B7C8B"/>
                </a:solidFill>
                <a:latin typeface="Consolas"/>
              </a:rPr>
              <a:t>    // Keep the split; refresh its bottleneck for status.</a:t>
            </a:r>
          </a:p>
          <a:p>
            <a:pPr algn="l">
              <a:lnSpc>
                <a:spcPct val="116000"/>
              </a:lnSpc>
              <a:spcBef>
                <a:spcPts val="0"/>
              </a:spcBef>
              <a:spcAft>
                <a:spcPts val="0"/>
              </a:spcAft>
            </a:pPr>
            <a:r>
              <a:rPr sz="600" b="0" i="0">
                <a:solidFill>
                  <a:srgbClr val="1F2933"/>
                </a:solidFill>
                <a:latin typeface="Consolas"/>
              </a:rPr>
              <a:t>    kept := &amp;Result{Assignments: d.current.Assignments,</a:t>
            </a:r>
          </a:p>
          <a:p>
            <a:pPr algn="l">
              <a:lnSpc>
                <a:spcPct val="116000"/>
              </a:lnSpc>
              <a:spcBef>
                <a:spcPts val="0"/>
              </a:spcBef>
              <a:spcAft>
                <a:spcPts val="0"/>
              </a:spcAft>
            </a:pPr>
            <a:r>
              <a:rPr sz="600" b="0" i="0">
                <a:solidFill>
                  <a:srgbClr val="1F2933"/>
                </a:solidFill>
                <a:latin typeface="Consolas"/>
              </a:rPr>
              <a:t>                    BottleneckMs: currentCost}</a:t>
            </a:r>
          </a:p>
          <a:p>
            <a:pPr algn="l">
              <a:lnSpc>
                <a:spcPct val="116000"/>
              </a:lnSpc>
              <a:spcBef>
                <a:spcPts val="0"/>
              </a:spcBef>
              <a:spcAft>
                <a:spcPts val="0"/>
              </a:spcAft>
            </a:pPr>
            <a:r>
              <a:rPr sz="600" b="0" i="0">
                <a:solidFill>
                  <a:srgbClr val="1F2933"/>
                </a:solidFill>
                <a:latin typeface="Consolas"/>
              </a:rPr>
              <a:t>    d.current = kept</a:t>
            </a:r>
          </a:p>
          <a:p>
            <a:pPr algn="l">
              <a:lnSpc>
                <a:spcPct val="116000"/>
              </a:lnSpc>
              <a:spcBef>
                <a:spcPts val="0"/>
              </a:spcBef>
              <a:spcAft>
                <a:spcPts val="0"/>
              </a:spcAft>
            </a:pPr>
            <a:r>
              <a:rPr sz="600" b="0" i="0">
                <a:solidFill>
                  <a:srgbClr val="1F2933"/>
                </a:solidFill>
                <a:latin typeface="Consolas"/>
              </a:rPr>
              <a:t>    return kept, false, nil</a:t>
            </a:r>
          </a:p>
          <a:p>
            <a:pPr algn="l">
              <a:lnSpc>
                <a:spcPct val="116000"/>
              </a:lnSpc>
              <a:spcBef>
                <a:spcPts val="0"/>
              </a:spcBef>
              <a:spcAft>
                <a:spcPts val="0"/>
              </a:spcAft>
            </a:pPr>
            <a:r>
              <a:rPr sz="600" b="0" i="0">
                <a:solidFill>
                  <a:srgbClr val="1F2933"/>
                </a:solidFill>
                <a:latin typeface="Consolas"/>
              </a:rPr>
              <a:t>}</a:t>
            </a:r>
          </a:p>
        </p:txBody>
      </p:sp>
      <p:sp>
        <p:nvSpPr>
          <p:cNvPr id="13" name="Rectangle 12"/>
          <p:cNvSpPr/>
          <p:nvPr/>
        </p:nvSpPr>
        <p:spPr>
          <a:xfrm>
            <a:off x="6830568" y="4581144"/>
            <a:ext cx="5349240" cy="105156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830568" y="4581144"/>
            <a:ext cx="50292" cy="1051560"/>
          </a:xfrm>
          <a:prstGeom prst="rect">
            <a:avLst/>
          </a:prstGeom>
          <a:solidFill>
            <a:srgbClr val="2C9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050024" y="4700016"/>
            <a:ext cx="4965192" cy="832103"/>
          </a:xfrm>
          <a:prstGeom prst="rect">
            <a:avLst/>
          </a:prstGeom>
          <a:noFill/>
        </p:spPr>
        <p:txBody>
          <a:bodyPr wrap="square" lIns="0" rIns="0" tIns="0" bIns="0" anchor="ctr">
            <a:spAutoFit/>
          </a:bodyPr>
          <a:lstStyle/>
          <a:p>
            <a:pPr algn="l">
              <a:lnSpc>
                <a:spcPct val="115000"/>
              </a:lnSpc>
              <a:spcBef>
                <a:spcPts val="0"/>
              </a:spcBef>
              <a:spcAft>
                <a:spcPts val="300"/>
              </a:spcAft>
            </a:pPr>
            <a:r>
              <a:rPr sz="950" b="1" i="0">
                <a:solidFill>
                  <a:srgbClr val="2C9355"/>
                </a:solidFill>
                <a:latin typeface="Segoe UI"/>
              </a:rPr>
              <a:t>WHERE THE NUMBERS COME FROM</a:t>
            </a:r>
          </a:p>
          <a:p>
            <a:pPr algn="l">
              <a:lnSpc>
                <a:spcPct val="120000"/>
              </a:lnSpc>
              <a:spcBef>
                <a:spcPts val="0"/>
              </a:spcBef>
              <a:spcAft>
                <a:spcPts val="0"/>
              </a:spcAft>
            </a:pPr>
            <a:r>
              <a:rPr sz="1200" b="0" i="0">
                <a:solidFill>
                  <a:srgbClr val="161D26"/>
                </a:solidFill>
                <a:latin typeface="Segoe UI"/>
              </a:rPr>
              <a:t>NewDecider(0.15, 30*time.Second) — the 15% / 30 s figures quoted throughout the main deck are these two constructor arguments, and are overridable live via IMPROVEMENT_FRAC and COOLDOWN_S.</a:t>
            </a:r>
          </a:p>
        </p:txBody>
      </p:sp>
      <p:sp>
        <p:nvSpPr>
          <p:cNvPr id="16" name="TextBox 15"/>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7" name="TextBox 16"/>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CODE  ·  STAGE 3</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ACT — the gRPC contract behind a live repartition</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63624"/>
            <a:ext cx="5760720" cy="402336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55064"/>
            <a:ext cx="550468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proto/pipeline.proto</a:t>
            </a:r>
          </a:p>
        </p:txBody>
      </p:sp>
      <p:sp>
        <p:nvSpPr>
          <p:cNvPr id="7" name="TextBox 6"/>
          <p:cNvSpPr txBox="1"/>
          <p:nvPr/>
        </p:nvSpPr>
        <p:spPr>
          <a:xfrm>
            <a:off x="713232" y="1892808"/>
            <a:ext cx="5468112" cy="3547872"/>
          </a:xfrm>
          <a:prstGeom prst="rect">
            <a:avLst/>
          </a:prstGeom>
          <a:noFill/>
        </p:spPr>
        <p:txBody>
          <a:bodyPr wrap="square" lIns="0" rIns="0" tIns="0" bIns="0" anchor="t">
            <a:spAutoFit/>
          </a:bodyPr>
          <a:lstStyle/>
          <a:p>
            <a:pPr algn="l">
              <a:lnSpc>
                <a:spcPct val="116000"/>
              </a:lnSpc>
              <a:spcBef>
                <a:spcPts val="0"/>
              </a:spcBef>
              <a:spcAft>
                <a:spcPts val="0"/>
              </a:spcAft>
            </a:pPr>
            <a:r>
              <a:rPr sz="783" b="0" i="0">
                <a:solidFill>
                  <a:srgbClr val="1F2933"/>
                </a:solidFill>
                <a:latin typeface="Consolas"/>
              </a:rPr>
              <a:t>service Worker {</a:t>
            </a:r>
          </a:p>
          <a:p>
            <a:pPr algn="l">
              <a:lnSpc>
                <a:spcPct val="116000"/>
              </a:lnSpc>
              <a:spcBef>
                <a:spcPts val="0"/>
              </a:spcBef>
              <a:spcAft>
                <a:spcPts val="0"/>
              </a:spcAft>
            </a:pPr>
            <a:r>
              <a:rPr sz="783" b="0" i="0">
                <a:solidFill>
                  <a:srgbClr val="1F2933"/>
                </a:solidFill>
                <a:latin typeface="Consolas"/>
              </a:rPr>
              <a:t>  rpc AssignLayers(AssignLayersRequest) returns (AssignLayersReply);</a:t>
            </a:r>
          </a:p>
          <a:p>
            <a:pPr algn="l">
              <a:lnSpc>
                <a:spcPct val="116000"/>
              </a:lnSpc>
              <a:spcBef>
                <a:spcPts val="0"/>
              </a:spcBef>
              <a:spcAft>
                <a:spcPts val="0"/>
              </a:spcAft>
            </a:pPr>
            <a:r>
              <a:rPr sz="783" b="0" i="0">
                <a:solidFill>
                  <a:srgbClr val="1F2933"/>
                </a:solidFill>
                <a:latin typeface="Consolas"/>
              </a:rPr>
              <a:t>  rpc Forward(ForwardRequest) returns (ForwardReply);</a:t>
            </a:r>
          </a:p>
          <a:p>
            <a:pPr algn="l">
              <a:lnSpc>
                <a:spcPct val="116000"/>
              </a:lnSpc>
              <a:spcBef>
                <a:spcPts val="0"/>
              </a:spcBef>
              <a:spcAft>
                <a:spcPts val="0"/>
              </a:spcAft>
            </a:pPr>
            <a:r>
              <a:rPr sz="783" b="0" i="0">
                <a:solidFill>
                  <a:srgbClr val="1F2933"/>
                </a:solidFill>
                <a:latin typeface="Consolas"/>
              </a:rPr>
              <a:t>  rpc Stats(StatsRequest) returns (StatsReply);</a:t>
            </a:r>
          </a:p>
          <a:p>
            <a:pPr algn="l">
              <a:lnSpc>
                <a:spcPct val="116000"/>
              </a:lnSpc>
              <a:spcBef>
                <a:spcPts val="0"/>
              </a:spcBef>
              <a:spcAft>
                <a:spcPts val="0"/>
              </a:spcAft>
            </a:pPr>
            <a:r>
              <a:rPr sz="783" b="0" i="0">
                <a:solidFill>
                  <a:srgbClr val="1F2933"/>
                </a:solidFill>
                <a:latin typeface="Consolas"/>
              </a:rPr>
              <a:t>}</a:t>
            </a:r>
          </a:p>
          <a:p>
            <a:pPr algn="l">
              <a:lnSpc>
                <a:spcPct val="116000"/>
              </a:lnSpc>
              <a:spcBef>
                <a:spcPts val="0"/>
              </a:spcBef>
              <a:spcAft>
                <a:spcPts val="0"/>
              </a:spcAft>
            </a:pPr>
            <a:r>
              <a:rPr sz="783" b="0" i="0">
                <a:solidFill>
                  <a:srgbClr val="1F2933"/>
                </a:solidFill>
                <a:latin typeface="Consolas"/>
              </a:rPr>
              <a:t> </a:t>
            </a:r>
          </a:p>
          <a:p>
            <a:pPr algn="l">
              <a:lnSpc>
                <a:spcPct val="116000"/>
              </a:lnSpc>
              <a:spcBef>
                <a:spcPts val="0"/>
              </a:spcBef>
              <a:spcAft>
                <a:spcPts val="0"/>
              </a:spcAft>
            </a:pPr>
            <a:r>
              <a:rPr sz="783" b="0" i="0">
                <a:solidFill>
                  <a:srgbClr val="1F2933"/>
                </a:solidFill>
                <a:latin typeface="Consolas"/>
              </a:rPr>
              <a:t>message AssignLayersRequest {</a:t>
            </a:r>
          </a:p>
          <a:p>
            <a:pPr algn="l">
              <a:lnSpc>
                <a:spcPct val="116000"/>
              </a:lnSpc>
              <a:spcBef>
                <a:spcPts val="0"/>
              </a:spcBef>
              <a:spcAft>
                <a:spcPts val="0"/>
              </a:spcAft>
            </a:pPr>
            <a:r>
              <a:rPr sz="783" b="0" i="0">
                <a:solidFill>
                  <a:srgbClr val="1F2933"/>
                </a:solidFill>
                <a:latin typeface="Consolas"/>
              </a:rPr>
              <a:t>  int32 start_layer  = 1;   // inclusive</a:t>
            </a:r>
          </a:p>
          <a:p>
            <a:pPr algn="l">
              <a:lnSpc>
                <a:spcPct val="116000"/>
              </a:lnSpc>
              <a:spcBef>
                <a:spcPts val="0"/>
              </a:spcBef>
              <a:spcAft>
                <a:spcPts val="0"/>
              </a:spcAft>
            </a:pPr>
            <a:r>
              <a:rPr sz="783" b="0" i="0">
                <a:solidFill>
                  <a:srgbClr val="1F2933"/>
                </a:solidFill>
                <a:latin typeface="Consolas"/>
              </a:rPr>
              <a:t>  int32 end_layer    = 2;   // exclusive</a:t>
            </a:r>
          </a:p>
          <a:p>
            <a:pPr algn="l">
              <a:lnSpc>
                <a:spcPct val="116000"/>
              </a:lnSpc>
              <a:spcBef>
                <a:spcPts val="0"/>
              </a:spcBef>
              <a:spcAft>
                <a:spcPts val="0"/>
              </a:spcAft>
            </a:pPr>
            <a:r>
              <a:rPr sz="783" b="0" i="0">
                <a:solidFill>
                  <a:srgbClr val="1F2933"/>
                </a:solidFill>
                <a:latin typeface="Consolas"/>
              </a:rPr>
              <a:t>  int32 total_layers = 3;</a:t>
            </a:r>
          </a:p>
          <a:p>
            <a:pPr algn="l">
              <a:lnSpc>
                <a:spcPct val="116000"/>
              </a:lnSpc>
              <a:spcBef>
                <a:spcPts val="0"/>
              </a:spcBef>
              <a:spcAft>
                <a:spcPts val="0"/>
              </a:spcAft>
            </a:pPr>
            <a:r>
              <a:rPr sz="783" b="0" i="0">
                <a:solidFill>
                  <a:srgbClr val="1F2933"/>
                </a:solidFill>
                <a:latin typeface="Consolas"/>
              </a:rPr>
              <a:t>  string backend     = 4;   // "sim" | "gpt2"</a:t>
            </a:r>
          </a:p>
          <a:p>
            <a:pPr algn="l">
              <a:lnSpc>
                <a:spcPct val="116000"/>
              </a:lnSpc>
              <a:spcBef>
                <a:spcPts val="0"/>
              </a:spcBef>
              <a:spcAft>
                <a:spcPts val="0"/>
              </a:spcAft>
            </a:pPr>
            <a:r>
              <a:rPr sz="783" b="0" i="0">
                <a:solidFill>
                  <a:srgbClr val="1F2933"/>
                </a:solidFill>
                <a:latin typeface="Consolas"/>
              </a:rPr>
              <a:t>  string model       = 5;</a:t>
            </a:r>
          </a:p>
          <a:p>
            <a:pPr algn="l">
              <a:lnSpc>
                <a:spcPct val="116000"/>
              </a:lnSpc>
              <a:spcBef>
                <a:spcPts val="0"/>
              </a:spcBef>
              <a:spcAft>
                <a:spcPts val="0"/>
              </a:spcAft>
            </a:pPr>
            <a:r>
              <a:rPr sz="783" b="0" i="0">
                <a:solidFill>
                  <a:srgbClr val="1F2933"/>
                </a:solidFill>
                <a:latin typeface="Consolas"/>
              </a:rPr>
              <a:t>  int64  generation  = 6;   // monotonic assignment version</a:t>
            </a:r>
          </a:p>
          <a:p>
            <a:pPr algn="l">
              <a:lnSpc>
                <a:spcPct val="116000"/>
              </a:lnSpc>
              <a:spcBef>
                <a:spcPts val="0"/>
              </a:spcBef>
              <a:spcAft>
                <a:spcPts val="0"/>
              </a:spcAft>
            </a:pPr>
            <a:r>
              <a:rPr sz="783" b="0" i="0">
                <a:solidFill>
                  <a:srgbClr val="1F2933"/>
                </a:solidFill>
                <a:latin typeface="Consolas"/>
              </a:rPr>
              <a:t>}</a:t>
            </a:r>
          </a:p>
          <a:p>
            <a:pPr algn="l">
              <a:lnSpc>
                <a:spcPct val="116000"/>
              </a:lnSpc>
              <a:spcBef>
                <a:spcPts val="0"/>
              </a:spcBef>
              <a:spcAft>
                <a:spcPts val="0"/>
              </a:spcAft>
            </a:pPr>
            <a:r>
              <a:rPr sz="783" b="0" i="0">
                <a:solidFill>
                  <a:srgbClr val="1F2933"/>
                </a:solidFill>
                <a:latin typeface="Consolas"/>
              </a:rPr>
              <a:t> </a:t>
            </a:r>
          </a:p>
          <a:p>
            <a:pPr algn="l">
              <a:lnSpc>
                <a:spcPct val="116000"/>
              </a:lnSpc>
              <a:spcBef>
                <a:spcPts val="0"/>
              </a:spcBef>
              <a:spcAft>
                <a:spcPts val="0"/>
              </a:spcAft>
            </a:pPr>
            <a:r>
              <a:rPr sz="783" b="0" i="0">
                <a:solidFill>
                  <a:srgbClr val="1F2933"/>
                </a:solidFill>
                <a:latin typeface="Consolas"/>
              </a:rPr>
              <a:t>message ForwardRequest {</a:t>
            </a:r>
          </a:p>
          <a:p>
            <a:pPr algn="l">
              <a:lnSpc>
                <a:spcPct val="116000"/>
              </a:lnSpc>
              <a:spcBef>
                <a:spcPts val="0"/>
              </a:spcBef>
              <a:spcAft>
                <a:spcPts val="0"/>
              </a:spcAft>
            </a:pPr>
            <a:r>
              <a:rPr sz="783" b="0" i="0">
                <a:solidFill>
                  <a:srgbClr val="1F2933"/>
                </a:solidFill>
                <a:latin typeface="Consolas"/>
              </a:rPr>
              <a:t>  int64 request_id   = 1;</a:t>
            </a:r>
          </a:p>
          <a:p>
            <a:pPr algn="l">
              <a:lnSpc>
                <a:spcPct val="116000"/>
              </a:lnSpc>
              <a:spcBef>
                <a:spcPts val="0"/>
              </a:spcBef>
              <a:spcAft>
                <a:spcPts val="0"/>
              </a:spcAft>
            </a:pPr>
            <a:r>
              <a:rPr sz="783" b="0" i="0">
                <a:solidFill>
                  <a:srgbClr val="1F2933"/>
                </a:solidFill>
                <a:latin typeface="Consolas"/>
              </a:rPr>
              <a:t>  int32 step         = 2;   // 0 = prefill</a:t>
            </a:r>
          </a:p>
          <a:p>
            <a:pPr algn="l">
              <a:lnSpc>
                <a:spcPct val="116000"/>
              </a:lnSpc>
              <a:spcBef>
                <a:spcPts val="0"/>
              </a:spcBef>
              <a:spcAft>
                <a:spcPts val="0"/>
              </a:spcAft>
            </a:pPr>
            <a:r>
              <a:rPr sz="783" b="0" i="0">
                <a:solidFill>
                  <a:srgbClr val="1F2933"/>
                </a:solidFill>
                <a:latin typeface="Consolas"/>
              </a:rPr>
              <a:t>  repeated int32 input_ids = 3;</a:t>
            </a:r>
          </a:p>
          <a:p>
            <a:pPr algn="l">
              <a:lnSpc>
                <a:spcPct val="116000"/>
              </a:lnSpc>
              <a:spcBef>
                <a:spcPts val="0"/>
              </a:spcBef>
              <a:spcAft>
                <a:spcPts val="0"/>
              </a:spcAft>
            </a:pPr>
            <a:r>
              <a:rPr sz="783" b="0" i="0">
                <a:solidFill>
                  <a:srgbClr val="1F2933"/>
                </a:solidFill>
                <a:latin typeface="Consolas"/>
              </a:rPr>
              <a:t>  bytes hidden       = 4;   // fp32 LE activations</a:t>
            </a:r>
          </a:p>
          <a:p>
            <a:pPr algn="l">
              <a:lnSpc>
                <a:spcPct val="116000"/>
              </a:lnSpc>
              <a:spcBef>
                <a:spcPts val="0"/>
              </a:spcBef>
              <a:spcAft>
                <a:spcPts val="0"/>
              </a:spcAft>
            </a:pPr>
            <a:r>
              <a:rPr sz="783" b="0" i="0">
                <a:solidFill>
                  <a:srgbClr val="1F2933"/>
                </a:solidFill>
                <a:latin typeface="Consolas"/>
              </a:rPr>
              <a:t>  repeated int32 shape = 5;</a:t>
            </a:r>
          </a:p>
          <a:p>
            <a:pPr algn="l">
              <a:lnSpc>
                <a:spcPct val="116000"/>
              </a:lnSpc>
              <a:spcBef>
                <a:spcPts val="0"/>
              </a:spcBef>
              <a:spcAft>
                <a:spcPts val="0"/>
              </a:spcAft>
            </a:pPr>
            <a:r>
              <a:rPr sz="783" b="0" i="0">
                <a:solidFill>
                  <a:srgbClr val="1F2933"/>
                </a:solidFill>
                <a:latin typeface="Consolas"/>
              </a:rPr>
              <a:t>  int64 generation   = 6;   // MUST match the worker's assignment</a:t>
            </a:r>
          </a:p>
          <a:p>
            <a:pPr algn="l">
              <a:lnSpc>
                <a:spcPct val="116000"/>
              </a:lnSpc>
              <a:spcBef>
                <a:spcPts val="0"/>
              </a:spcBef>
              <a:spcAft>
                <a:spcPts val="0"/>
              </a:spcAft>
            </a:pPr>
            <a:r>
              <a:rPr sz="783" b="0" i="0">
                <a:solidFill>
                  <a:srgbClr val="1F2933"/>
                </a:solidFill>
                <a:latin typeface="Consolas"/>
              </a:rPr>
              <a:t>}</a:t>
            </a:r>
          </a:p>
          <a:p>
            <a:pPr algn="l">
              <a:lnSpc>
                <a:spcPct val="116000"/>
              </a:lnSpc>
              <a:spcBef>
                <a:spcPts val="0"/>
              </a:spcBef>
              <a:spcAft>
                <a:spcPts val="0"/>
              </a:spcAft>
            </a:pPr>
            <a:r>
              <a:rPr sz="783" b="0" i="0">
                <a:solidFill>
                  <a:srgbClr val="1F2933"/>
                </a:solidFill>
                <a:latin typeface="Consolas"/>
              </a:rPr>
              <a:t> </a:t>
            </a:r>
          </a:p>
          <a:p>
            <a:pPr algn="l">
              <a:lnSpc>
                <a:spcPct val="116000"/>
              </a:lnSpc>
              <a:spcBef>
                <a:spcPts val="0"/>
              </a:spcBef>
              <a:spcAft>
                <a:spcPts val="0"/>
              </a:spcAft>
            </a:pPr>
            <a:r>
              <a:rPr sz="783" b="0" i="0">
                <a:solidFill>
                  <a:srgbClr val="1F2933"/>
                </a:solidFill>
                <a:latin typeface="Consolas"/>
              </a:rPr>
              <a:t>service Router {</a:t>
            </a:r>
          </a:p>
          <a:p>
            <a:pPr algn="l">
              <a:lnSpc>
                <a:spcPct val="116000"/>
              </a:lnSpc>
              <a:spcBef>
                <a:spcPts val="0"/>
              </a:spcBef>
              <a:spcAft>
                <a:spcPts val="0"/>
              </a:spcAft>
            </a:pPr>
            <a:r>
              <a:rPr sz="783" b="0" i="0">
                <a:solidFill>
                  <a:srgbClr val="1F2933"/>
                </a:solidFill>
                <a:latin typeface="Consolas"/>
              </a:rPr>
              <a:t>  rpc SetPipeline(SetPipelineRequest) returns (Ack);</a:t>
            </a:r>
          </a:p>
          <a:p>
            <a:pPr algn="l">
              <a:lnSpc>
                <a:spcPct val="116000"/>
              </a:lnSpc>
              <a:spcBef>
                <a:spcPts val="0"/>
              </a:spcBef>
              <a:spcAft>
                <a:spcPts val="0"/>
              </a:spcAft>
            </a:pPr>
            <a:r>
              <a:rPr sz="783" b="0" i="0">
                <a:solidFill>
                  <a:srgbClr val="1F2933"/>
                </a:solidFill>
                <a:latin typeface="Consolas"/>
              </a:rPr>
              <a:t>}</a:t>
            </a:r>
          </a:p>
        </p:txBody>
      </p:sp>
      <p:sp>
        <p:nvSpPr>
          <p:cNvPr id="8" name="TextBox 7"/>
          <p:cNvSpPr txBox="1"/>
          <p:nvPr/>
        </p:nvSpPr>
        <p:spPr>
          <a:xfrm>
            <a:off x="6739128" y="1517904"/>
            <a:ext cx="5440680" cy="4837176"/>
          </a:xfrm>
          <a:prstGeom prst="rect">
            <a:avLst/>
          </a:prstGeom>
          <a:noFill/>
        </p:spPr>
        <p:txBody>
          <a:bodyPr wrap="square" lIns="0" rIns="0" tIns="0" bIns="0" anchor="t">
            <a:spAutoFit/>
          </a:bodyPr>
          <a:lstStyle/>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AssignLayers is the whole mechanism.</a:t>
            </a:r>
            <a:r>
              <a:rPr sz="1200" b="0" i="0">
                <a:solidFill>
                  <a:srgbClr val="161D26"/>
                </a:solidFill>
                <a:latin typeface="Segoe UI"/>
              </a:rPr>
              <a:t> Changing the partition is one gRPC call per worker - no pod restart, no model reload, no state transfer.</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generation appears in both messages.</a:t>
            </a:r>
            <a:r>
              <a:rPr sz="1200" b="0" i="0">
                <a:solidFill>
                  <a:srgbClr val="161D26"/>
                </a:solidFill>
                <a:latin typeface="Segoe UI"/>
              </a:rPr>
              <a:t> That is the fence: a worker rejects any Forward whose generation does not match its current assignment.</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The router reacts to rejection by replaying</a:t>
            </a:r>
            <a:r>
              <a:rPr sz="1200" b="0" i="0">
                <a:solidFill>
                  <a:srgbClr val="161D26"/>
                </a:solidFill>
                <a:latin typeface="Segoe UI"/>
              </a:rPr>
              <a:t>, not by failing. It refetches the layout and re-sends the full accumulated context.</a:t>
            </a:r>
          </a:p>
          <a:p>
            <a:pPr algn="l" marL="274320" indent="-274320">
              <a:lnSpc>
                <a:spcPct val="120000"/>
              </a:lnSpc>
              <a:spcBef>
                <a:spcPts val="0"/>
              </a:spcBef>
              <a:spcAft>
                <a:spcPts val="900"/>
              </a:spcAft>
            </a:pPr>
            <a:r>
              <a:rPr sz="1200" b="0" i="0">
                <a:solidFill>
                  <a:srgbClr val="2C9355"/>
                </a:solidFill>
                <a:latin typeface="Segoe UI"/>
              </a:rPr>
              <a:t>▪  </a:t>
            </a:r>
            <a:r>
              <a:rPr sz="1200" b="1" i="0">
                <a:solidFill>
                  <a:srgbClr val="2C9355"/>
                </a:solidFill>
                <a:latin typeface="Segoe UI"/>
              </a:rPr>
              <a:t>This is only correct because workers are stateless</a:t>
            </a:r>
            <a:r>
              <a:rPr sz="1200" b="0" i="0">
                <a:solidFill>
                  <a:srgbClr val="2C9355"/>
                </a:solidFill>
                <a:latin typeface="Segoe UI"/>
              </a:rPr>
              <a:t> - each recomputes from the whole context every step, so replay on a new split is indistinguishable from having started with it.</a:t>
            </a:r>
          </a:p>
          <a:p>
            <a:pPr algn="l" marL="274320" indent="-274320">
              <a:lnSpc>
                <a:spcPct val="120000"/>
              </a:lnSpc>
              <a:spcBef>
                <a:spcPts val="0"/>
              </a:spcBef>
              <a:spcAft>
                <a:spcPts val="900"/>
              </a:spcAft>
            </a:pPr>
            <a:r>
              <a:rPr sz="1200" b="0" i="0">
                <a:solidFill>
                  <a:srgbClr val="161D26"/>
                </a:solidFill>
                <a:latin typeface="Segoe UI"/>
              </a:rPr>
              <a:t>▪  The Telemetry service closes the loop in the other direction: node agents push NodeTelemetry (GpuStat + LinkStat) to the controller roughly once a second, doubling as the heartbeat.</a:t>
            </a:r>
          </a:p>
        </p:txBody>
      </p:sp>
      <p:sp>
        <p:nvSpPr>
          <p:cNvPr id="9" name="TextBox 8"/>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0" name="TextBox 9"/>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CODE  ·  STAGE 4</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HEAL — reconciliation and re-assertion</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63624"/>
            <a:ext cx="5943600" cy="214884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55064"/>
            <a:ext cx="568756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internal/controller/controller.go</a:t>
            </a:r>
          </a:p>
        </p:txBody>
      </p:sp>
      <p:sp>
        <p:nvSpPr>
          <p:cNvPr id="7" name="TextBox 6"/>
          <p:cNvSpPr txBox="1"/>
          <p:nvPr/>
        </p:nvSpPr>
        <p:spPr>
          <a:xfrm>
            <a:off x="713232" y="1892808"/>
            <a:ext cx="5650992" cy="1673352"/>
          </a:xfrm>
          <a:prstGeom prst="rect">
            <a:avLst/>
          </a:prstGeom>
          <a:noFill/>
        </p:spPr>
        <p:txBody>
          <a:bodyPr wrap="square" lIns="0" rIns="0" tIns="0" bIns="0" anchor="t">
            <a:spAutoFit/>
          </a:bodyPr>
          <a:lstStyle/>
          <a:p>
            <a:pPr algn="l">
              <a:lnSpc>
                <a:spcPct val="116000"/>
              </a:lnSpc>
              <a:spcBef>
                <a:spcPts val="0"/>
              </a:spcBef>
              <a:spcAft>
                <a:spcPts val="0"/>
              </a:spcAft>
            </a:pPr>
            <a:r>
              <a:rPr sz="1000" b="0" i="1">
                <a:solidFill>
                  <a:srgbClr val="6B7C8B"/>
                </a:solidFill>
                <a:latin typeface="Consolas"/>
              </a:rPr>
              <a:t>// Every applied split bumps the generation under lock.</a:t>
            </a:r>
          </a:p>
          <a:p>
            <a:pPr algn="l">
              <a:lnSpc>
                <a:spcPct val="116000"/>
              </a:lnSpc>
              <a:spcBef>
                <a:spcPts val="0"/>
              </a:spcBef>
              <a:spcAft>
                <a:spcPts val="0"/>
              </a:spcAft>
            </a:pPr>
            <a:r>
              <a:rPr sz="1000" b="0" i="0">
                <a:solidFill>
                  <a:srgbClr val="1F2933"/>
                </a:solidFill>
                <a:latin typeface="Consolas"/>
              </a:rPr>
              <a:t>func (c *Controller) apply(ctx context.Context, sp spec,</a:t>
            </a:r>
          </a:p>
          <a:p>
            <a:pPr algn="l">
              <a:lnSpc>
                <a:spcPct val="116000"/>
              </a:lnSpc>
              <a:spcBef>
                <a:spcPts val="0"/>
              </a:spcBef>
              <a:spcAft>
                <a:spcPts val="0"/>
              </a:spcAft>
            </a:pPr>
            <a:r>
              <a:rPr sz="1000" b="0" i="0">
                <a:solidFill>
                  <a:srgbClr val="1F2933"/>
                </a:solidFill>
                <a:latin typeface="Consolas"/>
              </a:rPr>
              <a:t>                           res *partition.Result) error {</a:t>
            </a:r>
          </a:p>
          <a:p>
            <a:pPr algn="l">
              <a:lnSpc>
                <a:spcPct val="116000"/>
              </a:lnSpc>
              <a:spcBef>
                <a:spcPts val="0"/>
              </a:spcBef>
              <a:spcAft>
                <a:spcPts val="0"/>
              </a:spcAft>
            </a:pPr>
            <a:r>
              <a:rPr sz="1000" b="0" i="0">
                <a:solidFill>
                  <a:srgbClr val="1F2933"/>
                </a:solidFill>
                <a:latin typeface="Consolas"/>
              </a:rPr>
              <a:t>    c.mu.Lock()</a:t>
            </a:r>
          </a:p>
          <a:p>
            <a:pPr algn="l">
              <a:lnSpc>
                <a:spcPct val="116000"/>
              </a:lnSpc>
              <a:spcBef>
                <a:spcPts val="0"/>
              </a:spcBef>
              <a:spcAft>
                <a:spcPts val="0"/>
              </a:spcAft>
            </a:pPr>
            <a:r>
              <a:rPr sz="1000" b="0" i="0">
                <a:solidFill>
                  <a:srgbClr val="1F2933"/>
                </a:solidFill>
                <a:latin typeface="Consolas"/>
              </a:rPr>
              <a:t>    c.generation++</a:t>
            </a:r>
          </a:p>
          <a:p>
            <a:pPr algn="l">
              <a:lnSpc>
                <a:spcPct val="116000"/>
              </a:lnSpc>
              <a:spcBef>
                <a:spcPts val="0"/>
              </a:spcBef>
              <a:spcAft>
                <a:spcPts val="0"/>
              </a:spcAft>
            </a:pPr>
            <a:r>
              <a:rPr sz="1000" b="0" i="0">
                <a:solidFill>
                  <a:srgbClr val="1F2933"/>
                </a:solidFill>
                <a:latin typeface="Consolas"/>
              </a:rPr>
              <a:t>    gen := c.generation</a:t>
            </a:r>
          </a:p>
          <a:p>
            <a:pPr algn="l">
              <a:lnSpc>
                <a:spcPct val="116000"/>
              </a:lnSpc>
              <a:spcBef>
                <a:spcPts val="0"/>
              </a:spcBef>
              <a:spcAft>
                <a:spcPts val="0"/>
              </a:spcAft>
            </a:pPr>
            <a:r>
              <a:rPr sz="1000" b="0" i="0">
                <a:solidFill>
                  <a:srgbClr val="1F2933"/>
                </a:solidFill>
                <a:latin typeface="Consolas"/>
              </a:rPr>
              <a:t>    c.mu.Unlock()</a:t>
            </a:r>
          </a:p>
          <a:p>
            <a:pPr algn="l">
              <a:lnSpc>
                <a:spcPct val="116000"/>
              </a:lnSpc>
              <a:spcBef>
                <a:spcPts val="0"/>
              </a:spcBef>
              <a:spcAft>
                <a:spcPts val="0"/>
              </a:spcAft>
            </a:pPr>
            <a:r>
              <a:rPr sz="1000" b="0" i="0">
                <a:solidFill>
                  <a:srgbClr val="1F2933"/>
                </a:solidFill>
                <a:latin typeface="Consolas"/>
              </a:rPr>
              <a:t>    return c.push(ctx, sp, res, gen)</a:t>
            </a:r>
          </a:p>
          <a:p>
            <a:pPr algn="l">
              <a:lnSpc>
                <a:spcPct val="116000"/>
              </a:lnSpc>
              <a:spcBef>
                <a:spcPts val="0"/>
              </a:spcBef>
              <a:spcAft>
                <a:spcPts val="0"/>
              </a:spcAft>
            </a:pPr>
            <a:r>
              <a:rPr sz="1000" b="0" i="0">
                <a:solidFill>
                  <a:srgbClr val="1F2933"/>
                </a:solidFill>
                <a:latin typeface="Consolas"/>
              </a:rPr>
              <a:t>}</a:t>
            </a:r>
          </a:p>
        </p:txBody>
      </p:sp>
      <p:sp>
        <p:nvSpPr>
          <p:cNvPr id="8" name="Rectangle 7"/>
          <p:cNvSpPr/>
          <p:nvPr/>
        </p:nvSpPr>
        <p:spPr>
          <a:xfrm>
            <a:off x="566928" y="3941064"/>
            <a:ext cx="5943600" cy="169164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4059936"/>
            <a:ext cx="5650992" cy="1426463"/>
          </a:xfrm>
          <a:prstGeom prst="rect">
            <a:avLst/>
          </a:prstGeom>
          <a:noFill/>
        </p:spPr>
        <p:txBody>
          <a:bodyPr wrap="square" lIns="0" rIns="0" tIns="0" bIns="0" anchor="t">
            <a:spAutoFit/>
          </a:bodyPr>
          <a:lstStyle/>
          <a:p>
            <a:pPr algn="l">
              <a:lnSpc>
                <a:spcPct val="116000"/>
              </a:lnSpc>
              <a:spcBef>
                <a:spcPts val="0"/>
              </a:spcBef>
              <a:spcAft>
                <a:spcPts val="0"/>
              </a:spcAft>
            </a:pPr>
            <a:r>
              <a:rPr sz="850" b="0" i="1">
                <a:solidFill>
                  <a:srgbClr val="6B7C8B"/>
                </a:solidFill>
                <a:latin typeface="Consolas"/>
              </a:rPr>
              <a:t>// A router or worker that restarts comes up with an empty</a:t>
            </a:r>
          </a:p>
          <a:p>
            <a:pPr algn="l">
              <a:lnSpc>
                <a:spcPct val="116000"/>
              </a:lnSpc>
              <a:spcBef>
                <a:spcPts val="0"/>
              </a:spcBef>
              <a:spcAft>
                <a:spcPts val="0"/>
              </a:spcAft>
            </a:pPr>
            <a:r>
              <a:rPr sz="850" b="0" i="1">
                <a:solidFill>
                  <a:srgbClr val="6B7C8B"/>
                </a:solidFill>
                <a:latin typeface="Consolas"/>
              </a:rPr>
              <a:t>// layout. Re-push the CURRENT generation periodically so it</a:t>
            </a:r>
          </a:p>
          <a:p>
            <a:pPr algn="l">
              <a:lnSpc>
                <a:spcPct val="116000"/>
              </a:lnSpc>
              <a:spcBef>
                <a:spcPts val="0"/>
              </a:spcBef>
              <a:spcAft>
                <a:spcPts val="0"/>
              </a:spcAft>
            </a:pPr>
            <a:r>
              <a:rPr sz="850" b="0" i="1">
                <a:solidFill>
                  <a:srgbClr val="6B7C8B"/>
                </a:solidFill>
                <a:latin typeface="Consolas"/>
              </a:rPr>
              <a:t>// is reconciled back in, without inventing a new generation.</a:t>
            </a:r>
          </a:p>
          <a:p>
            <a:pPr algn="l">
              <a:lnSpc>
                <a:spcPct val="116000"/>
              </a:lnSpc>
              <a:spcBef>
                <a:spcPts val="0"/>
              </a:spcBef>
              <a:spcAft>
                <a:spcPts val="0"/>
              </a:spcAft>
            </a:pPr>
            <a:r>
              <a:rPr sz="850" b="0" i="0">
                <a:solidFill>
                  <a:srgbClr val="1F2933"/>
                </a:solidFill>
                <a:latin typeface="Consolas"/>
              </a:rPr>
              <a:t>func (c *Controller) reassertDue(now time.Time) (int64, bool) {</a:t>
            </a:r>
          </a:p>
          <a:p>
            <a:pPr algn="l">
              <a:lnSpc>
                <a:spcPct val="116000"/>
              </a:lnSpc>
              <a:spcBef>
                <a:spcPts val="0"/>
              </a:spcBef>
              <a:spcAft>
                <a:spcPts val="0"/>
              </a:spcAft>
            </a:pPr>
            <a:r>
              <a:rPr sz="850" b="0" i="0">
                <a:solidFill>
                  <a:srgbClr val="1F2933"/>
                </a:solidFill>
                <a:latin typeface="Consolas"/>
              </a:rPr>
              <a:t>    c.mu.Lock(); defer c.mu.Unlock()</a:t>
            </a:r>
          </a:p>
          <a:p>
            <a:pPr algn="l">
              <a:lnSpc>
                <a:spcPct val="116000"/>
              </a:lnSpc>
              <a:spcBef>
                <a:spcPts val="0"/>
              </a:spcBef>
              <a:spcAft>
                <a:spcPts val="0"/>
              </a:spcAft>
            </a:pPr>
            <a:r>
              <a:rPr sz="850" b="0" i="0">
                <a:solidFill>
                  <a:srgbClr val="1F2933"/>
                </a:solidFill>
                <a:latin typeface="Consolas"/>
              </a:rPr>
              <a:t>    if c.lastApplied == nil || c.cfg.ReassertInterval &lt;= 0 {</a:t>
            </a:r>
          </a:p>
          <a:p>
            <a:pPr algn="l">
              <a:lnSpc>
                <a:spcPct val="116000"/>
              </a:lnSpc>
              <a:spcBef>
                <a:spcPts val="0"/>
              </a:spcBef>
              <a:spcAft>
                <a:spcPts val="0"/>
              </a:spcAft>
            </a:pPr>
            <a:r>
              <a:rPr sz="850" b="0" i="0">
                <a:solidFill>
                  <a:srgbClr val="1F2933"/>
                </a:solidFill>
                <a:latin typeface="Consolas"/>
              </a:rPr>
              <a:t>        return 0, false</a:t>
            </a:r>
          </a:p>
          <a:p>
            <a:pPr algn="l">
              <a:lnSpc>
                <a:spcPct val="116000"/>
              </a:lnSpc>
              <a:spcBef>
                <a:spcPts val="0"/>
              </a:spcBef>
              <a:spcAft>
                <a:spcPts val="0"/>
              </a:spcAft>
            </a:pPr>
            <a:r>
              <a:rPr sz="850" b="0" i="0">
                <a:solidFill>
                  <a:srgbClr val="1F2933"/>
                </a:solidFill>
                <a:latin typeface="Consolas"/>
              </a:rPr>
              <a:t>    }</a:t>
            </a:r>
          </a:p>
          <a:p>
            <a:pPr algn="l">
              <a:lnSpc>
                <a:spcPct val="116000"/>
              </a:lnSpc>
              <a:spcBef>
                <a:spcPts val="0"/>
              </a:spcBef>
              <a:spcAft>
                <a:spcPts val="0"/>
              </a:spcAft>
            </a:pPr>
            <a:r>
              <a:rPr sz="850" b="0" i="0">
                <a:solidFill>
                  <a:srgbClr val="1F2933"/>
                </a:solidFill>
                <a:latin typeface="Consolas"/>
              </a:rPr>
              <a:t>    return c.generation, now.Sub(c.lastPush) &gt;= c.cfg.ReassertInterval</a:t>
            </a:r>
          </a:p>
          <a:p>
            <a:pPr algn="l">
              <a:lnSpc>
                <a:spcPct val="116000"/>
              </a:lnSpc>
              <a:spcBef>
                <a:spcPts val="0"/>
              </a:spcBef>
              <a:spcAft>
                <a:spcPts val="0"/>
              </a:spcAft>
            </a:pPr>
            <a:r>
              <a:rPr sz="850" b="0" i="0">
                <a:solidFill>
                  <a:srgbClr val="1F2933"/>
                </a:solidFill>
                <a:latin typeface="Consolas"/>
              </a:rPr>
              <a:t>}</a:t>
            </a:r>
          </a:p>
        </p:txBody>
      </p:sp>
      <p:sp>
        <p:nvSpPr>
          <p:cNvPr id="10" name="TextBox 9"/>
          <p:cNvSpPr txBox="1"/>
          <p:nvPr/>
        </p:nvSpPr>
        <p:spPr>
          <a:xfrm>
            <a:off x="6922008" y="1517904"/>
            <a:ext cx="5257800" cy="4837176"/>
          </a:xfrm>
          <a:prstGeom prst="rect">
            <a:avLst/>
          </a:prstGeom>
          <a:noFill/>
        </p:spPr>
        <p:txBody>
          <a:bodyPr wrap="square" lIns="0" rIns="0" tIns="0" bIns="0" anchor="t">
            <a:spAutoFit/>
          </a:bodyPr>
          <a:lstStyle/>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Heartbeat timeout is 3 s.</a:t>
            </a:r>
            <a:r>
              <a:rPr sz="1200" b="0" i="0">
                <a:solidFill>
                  <a:srgbClr val="161D26"/>
                </a:solidFill>
                <a:latin typeface="Segoe UI"/>
              </a:rPr>
              <a:t> A node whose telemetry goes stale is dropped from the worker set, which makes workersChanged() true, which forces a repartition past the hysteresis gate.</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Re-assertion every 10 s</a:t>
            </a:r>
            <a:r>
              <a:rPr sz="1200" b="0" i="0">
                <a:solidFill>
                  <a:srgbClr val="161D26"/>
                </a:solidFill>
                <a:latin typeface="Segoe UI"/>
              </a:rPr>
              <a:t> fixes a real bug found during testing: a router restarting mid-run was pushed to while terminating, and was then never pushed to again - wedging the pipeline permanently.</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Stage ordering is deterministic</a:t>
            </a:r>
            <a:r>
              <a:rPr sz="1200" b="0" i="0">
                <a:solidFill>
                  <a:srgbClr val="161D26"/>
                </a:solidFill>
                <a:latin typeface="Segoe UI"/>
              </a:rPr>
              <a:t>, sorted by (node, pod name). Before that fix, an unstable sort could reorder identical stages and trigger spurious repartitions.</a:t>
            </a:r>
          </a:p>
          <a:p>
            <a:pPr algn="l" marL="274320" indent="-274320">
              <a:lnSpc>
                <a:spcPct val="120000"/>
              </a:lnSpc>
              <a:spcBef>
                <a:spcPts val="0"/>
              </a:spcBef>
              <a:spcAft>
                <a:spcPts val="900"/>
              </a:spcAft>
            </a:pPr>
            <a:r>
              <a:rPr sz="1200" b="0" i="0">
                <a:solidFill>
                  <a:srgbClr val="161D26"/>
                </a:solidFill>
                <a:latin typeface="Segoe UI"/>
              </a:rPr>
              <a:t>▪  </a:t>
            </a:r>
            <a:r>
              <a:rPr sz="1200" b="1" i="0">
                <a:solidFill>
                  <a:srgbClr val="161D26"/>
                </a:solidFill>
                <a:latin typeface="Segoe UI"/>
              </a:rPr>
              <a:t>The CRD is the observable output.</a:t>
            </a:r>
            <a:r>
              <a:rPr sz="1200" b="0" i="0">
                <a:solidFill>
                  <a:srgbClr val="161D26"/>
                </a:solidFill>
                <a:latin typeface="Segoe UI"/>
              </a:rPr>
              <a:t> Assignments, predicted bottleneck and generation are written to .status every reconcile.</a:t>
            </a:r>
          </a:p>
        </p:txBody>
      </p:sp>
      <p:sp>
        <p:nvSpPr>
          <p:cNvPr id="11" name="Rectangle 10"/>
          <p:cNvSpPr/>
          <p:nvPr/>
        </p:nvSpPr>
        <p:spPr>
          <a:xfrm>
            <a:off x="6922008" y="4809744"/>
            <a:ext cx="5257800" cy="82296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068312" y="4928616"/>
            <a:ext cx="4965192" cy="557784"/>
          </a:xfrm>
          <a:prstGeom prst="rect">
            <a:avLst/>
          </a:prstGeom>
          <a:noFill/>
        </p:spPr>
        <p:txBody>
          <a:bodyPr wrap="square" lIns="0" rIns="0" tIns="0" bIns="0" anchor="t">
            <a:spAutoFit/>
          </a:bodyPr>
          <a:lstStyle/>
          <a:p>
            <a:pPr algn="l">
              <a:lnSpc>
                <a:spcPct val="116000"/>
              </a:lnSpc>
              <a:spcBef>
                <a:spcPts val="0"/>
              </a:spcBef>
              <a:spcAft>
                <a:spcPts val="0"/>
              </a:spcAft>
            </a:pPr>
            <a:r>
              <a:rPr sz="1000" b="0" i="0">
                <a:solidFill>
                  <a:srgbClr val="1F2933"/>
                </a:solidFill>
                <a:latin typeface="Consolas"/>
              </a:rPr>
              <a:t>$ kubectl -n kubeedgeinfer get ipl demo</a:t>
            </a:r>
          </a:p>
          <a:p>
            <a:pPr algn="l">
              <a:lnSpc>
                <a:spcPct val="116000"/>
              </a:lnSpc>
              <a:spcBef>
                <a:spcPts val="0"/>
              </a:spcBef>
              <a:spcAft>
                <a:spcPts val="0"/>
              </a:spcAft>
            </a:pPr>
            <a:r>
              <a:rPr sz="1000" b="0" i="0">
                <a:solidFill>
                  <a:srgbClr val="1F2933"/>
                </a:solidFill>
                <a:latin typeface="Consolas"/>
              </a:rPr>
              <a:t>NAME   PHASE     BOTTLENECK   GENERATION</a:t>
            </a:r>
          </a:p>
          <a:p>
            <a:pPr algn="l">
              <a:lnSpc>
                <a:spcPct val="116000"/>
              </a:lnSpc>
              <a:spcBef>
                <a:spcPts val="0"/>
              </a:spcBef>
              <a:spcAft>
                <a:spcPts val="0"/>
              </a:spcAft>
            </a:pPr>
            <a:r>
              <a:rPr sz="1000" b="0" i="0">
                <a:solidFill>
                  <a:srgbClr val="1F2933"/>
                </a:solidFill>
                <a:latin typeface="Consolas"/>
              </a:rPr>
              <a:t>demo   Serving   121.4        7</a:t>
            </a:r>
          </a:p>
        </p:txBody>
      </p:sp>
      <p:sp>
        <p:nvSpPr>
          <p:cNvPr id="13" name="TextBox 12"/>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4" name="TextBox 13"/>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487168"/>
            <a:ext cx="9144000" cy="457200"/>
          </a:xfrm>
          <a:prstGeom prst="rect">
            <a:avLst/>
          </a:prstGeom>
          <a:noFill/>
        </p:spPr>
        <p:txBody>
          <a:bodyPr wrap="square" lIns="0" rIns="0" tIns="0" bIns="0" anchor="t">
            <a:spAutoFit/>
          </a:bodyPr>
          <a:lstStyle/>
          <a:p>
            <a:pPr algn="l">
              <a:lnSpc>
                <a:spcPct val="115000"/>
              </a:lnSpc>
              <a:spcBef>
                <a:spcPts val="0"/>
              </a:spcBef>
              <a:spcAft>
                <a:spcPts val="400"/>
              </a:spcAft>
            </a:pPr>
            <a:r>
              <a:rPr sz="1500" b="1" i="0">
                <a:solidFill>
                  <a:srgbClr val="2A78D6"/>
                </a:solidFill>
                <a:latin typeface="Segoe UI"/>
              </a:rPr>
              <a:t>LIVE DEMO</a:t>
            </a:r>
          </a:p>
        </p:txBody>
      </p:sp>
      <p:sp>
        <p:nvSpPr>
          <p:cNvPr id="5" name="TextBox 4"/>
          <p:cNvSpPr txBox="1"/>
          <p:nvPr/>
        </p:nvSpPr>
        <p:spPr>
          <a:xfrm>
            <a:off x="1371600" y="2926080"/>
            <a:ext cx="9692640" cy="914400"/>
          </a:xfrm>
          <a:prstGeom prst="rect">
            <a:avLst/>
          </a:prstGeom>
          <a:noFill/>
        </p:spPr>
        <p:txBody>
          <a:bodyPr wrap="square" lIns="0" rIns="0" tIns="0" bIns="0" anchor="t">
            <a:spAutoFit/>
          </a:bodyPr>
          <a:lstStyle/>
          <a:p>
            <a:pPr algn="l">
              <a:lnSpc>
                <a:spcPct val="115000"/>
              </a:lnSpc>
              <a:spcBef>
                <a:spcPts val="0"/>
              </a:spcBef>
              <a:spcAft>
                <a:spcPts val="0"/>
              </a:spcAft>
            </a:pPr>
            <a:r>
              <a:rPr sz="3800" b="1" i="0">
                <a:solidFill>
                  <a:srgbClr val="0E2A47"/>
                </a:solidFill>
                <a:latin typeface="Segoe UI"/>
              </a:rPr>
              <a:t>The demonstration, step by step</a:t>
            </a:r>
          </a:p>
        </p:txBody>
      </p:sp>
      <p:sp>
        <p:nvSpPr>
          <p:cNvPr id="6" name="TextBox 5"/>
          <p:cNvSpPr txBox="1"/>
          <p:nvPr/>
        </p:nvSpPr>
        <p:spPr>
          <a:xfrm>
            <a:off x="1371600" y="3977639"/>
            <a:ext cx="8778240" cy="822960"/>
          </a:xfrm>
          <a:prstGeom prst="rect">
            <a:avLst/>
          </a:prstGeom>
          <a:noFill/>
        </p:spPr>
        <p:txBody>
          <a:bodyPr wrap="square" lIns="0" rIns="0" tIns="0" bIns="0" anchor="t">
            <a:spAutoFit/>
          </a:bodyPr>
          <a:lstStyle/>
          <a:p>
            <a:pPr algn="l">
              <a:lnSpc>
                <a:spcPct val="130000"/>
              </a:lnSpc>
              <a:spcBef>
                <a:spcPts val="0"/>
              </a:spcBef>
              <a:spcAft>
                <a:spcPts val="600"/>
              </a:spcAft>
            </a:pPr>
            <a:r>
              <a:rPr sz="1550" b="0" i="0">
                <a:solidFill>
                  <a:srgbClr val="5E6E7E"/>
                </a:solidFill>
                <a:latin typeface="Segoe UI"/>
              </a:rPr>
              <a:t>Exact commands, in the order they will be run.</a:t>
            </a:r>
          </a:p>
        </p:txBody>
      </p:sp>
      <p:sp>
        <p:nvSpPr>
          <p:cNvPr id="7" name="TextBox 6"/>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8" name="TextBox 7"/>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LIVE DEMO</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Demo 1 — bring up the pipeline and watch the loop</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3017520" cy="640080"/>
          </a:xfrm>
          <a:prstGeom prst="rect">
            <a:avLst/>
          </a:prstGeom>
          <a:noFill/>
        </p:spPr>
        <p:txBody>
          <a:bodyPr wrap="square" lIns="0" rIns="0" tIns="0" bIns="0" anchor="t">
            <a:spAutoFit/>
          </a:bodyPr>
          <a:lstStyle/>
          <a:p>
            <a:pPr algn="l">
              <a:lnSpc>
                <a:spcPct val="115000"/>
              </a:lnSpc>
              <a:spcBef>
                <a:spcPts val="0"/>
              </a:spcBef>
              <a:spcAft>
                <a:spcPts val="400"/>
              </a:spcAft>
            </a:pPr>
            <a:r>
              <a:rPr sz="1350" b="1" i="0">
                <a:solidFill>
                  <a:srgbClr val="0E2A47"/>
                </a:solidFill>
                <a:latin typeface="Segoe UI"/>
              </a:rPr>
              <a:t>Start everything</a:t>
            </a:r>
          </a:p>
          <a:p>
            <a:pPr algn="l">
              <a:lnSpc>
                <a:spcPct val="116000"/>
              </a:lnSpc>
              <a:spcBef>
                <a:spcPts val="0"/>
              </a:spcBef>
              <a:spcAft>
                <a:spcPts val="0"/>
              </a:spcAft>
            </a:pPr>
            <a:r>
              <a:rPr sz="1050" b="0" i="0">
                <a:solidFill>
                  <a:srgbClr val="5E6E7E"/>
                </a:solidFill>
                <a:latin typeface="Segoe UI"/>
              </a:rPr>
              <a:t>Builds if needed, creates the kind cluster, deploys, opens the dashboard on :8000.</a:t>
            </a:r>
          </a:p>
        </p:txBody>
      </p:sp>
      <p:sp>
        <p:nvSpPr>
          <p:cNvPr id="6" name="Rectangle 5"/>
          <p:cNvSpPr/>
          <p:nvPr/>
        </p:nvSpPr>
        <p:spPr>
          <a:xfrm>
            <a:off x="3767328" y="1527048"/>
            <a:ext cx="8412480" cy="475488"/>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913632" y="1645920"/>
            <a:ext cx="8119871" cy="210311"/>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F2933"/>
                </a:solidFill>
                <a:latin typeface="Consolas"/>
              </a:rPr>
              <a:t>./run-demo.sh</a:t>
            </a:r>
          </a:p>
        </p:txBody>
      </p:sp>
      <p:sp>
        <p:nvSpPr>
          <p:cNvPr id="8" name="TextBox 7"/>
          <p:cNvSpPr txBox="1"/>
          <p:nvPr/>
        </p:nvSpPr>
        <p:spPr>
          <a:xfrm>
            <a:off x="566928" y="2569464"/>
            <a:ext cx="3017520" cy="640080"/>
          </a:xfrm>
          <a:prstGeom prst="rect">
            <a:avLst/>
          </a:prstGeom>
          <a:noFill/>
        </p:spPr>
        <p:txBody>
          <a:bodyPr wrap="square" lIns="0" rIns="0" tIns="0" bIns="0" anchor="t">
            <a:spAutoFit/>
          </a:bodyPr>
          <a:lstStyle/>
          <a:p>
            <a:pPr algn="l">
              <a:lnSpc>
                <a:spcPct val="115000"/>
              </a:lnSpc>
              <a:spcBef>
                <a:spcPts val="0"/>
              </a:spcBef>
              <a:spcAft>
                <a:spcPts val="400"/>
              </a:spcAft>
            </a:pPr>
            <a:r>
              <a:rPr sz="1350" b="1" i="0">
                <a:solidFill>
                  <a:srgbClr val="0E2A47"/>
                </a:solidFill>
                <a:latin typeface="Segoe UI"/>
              </a:rPr>
              <a:t>Show the declared intent</a:t>
            </a:r>
          </a:p>
          <a:p>
            <a:pPr algn="l">
              <a:lnSpc>
                <a:spcPct val="116000"/>
              </a:lnSpc>
              <a:spcBef>
                <a:spcPts val="0"/>
              </a:spcBef>
              <a:spcAft>
                <a:spcPts val="0"/>
              </a:spcAft>
            </a:pPr>
            <a:r>
              <a:rPr sz="1050" b="0" i="0">
                <a:solidFill>
                  <a:srgbClr val="5E6E7E"/>
                </a:solidFill>
                <a:latin typeface="Segoe UI"/>
              </a:rPr>
              <a:t>spec is what the user asked for; status is what the controller decided.</a:t>
            </a:r>
          </a:p>
        </p:txBody>
      </p:sp>
      <p:sp>
        <p:nvSpPr>
          <p:cNvPr id="9" name="Rectangle 8"/>
          <p:cNvSpPr/>
          <p:nvPr/>
        </p:nvSpPr>
        <p:spPr>
          <a:xfrm>
            <a:off x="3767328" y="2532888"/>
            <a:ext cx="8412480" cy="475488"/>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913632" y="2651760"/>
            <a:ext cx="8119871" cy="210311"/>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F2933"/>
                </a:solidFill>
                <a:latin typeface="Consolas"/>
              </a:rPr>
              <a:t>kubectl -n kubeedgeinfer get ipl demo -o yaml</a:t>
            </a:r>
          </a:p>
        </p:txBody>
      </p:sp>
      <p:sp>
        <p:nvSpPr>
          <p:cNvPr id="11" name="TextBox 10"/>
          <p:cNvSpPr txBox="1"/>
          <p:nvPr/>
        </p:nvSpPr>
        <p:spPr>
          <a:xfrm>
            <a:off x="566928" y="3575304"/>
            <a:ext cx="3017520" cy="640080"/>
          </a:xfrm>
          <a:prstGeom prst="rect">
            <a:avLst/>
          </a:prstGeom>
          <a:noFill/>
        </p:spPr>
        <p:txBody>
          <a:bodyPr wrap="square" lIns="0" rIns="0" tIns="0" bIns="0" anchor="t">
            <a:spAutoFit/>
          </a:bodyPr>
          <a:lstStyle/>
          <a:p>
            <a:pPr algn="l">
              <a:lnSpc>
                <a:spcPct val="115000"/>
              </a:lnSpc>
              <a:spcBef>
                <a:spcPts val="0"/>
              </a:spcBef>
              <a:spcAft>
                <a:spcPts val="400"/>
              </a:spcAft>
            </a:pPr>
            <a:r>
              <a:rPr sz="1350" b="1" i="0">
                <a:solidFill>
                  <a:srgbClr val="0E2A47"/>
                </a:solidFill>
                <a:latin typeface="Segoe UI"/>
              </a:rPr>
              <a:t>Show the live split</a:t>
            </a:r>
          </a:p>
          <a:p>
            <a:pPr algn="l">
              <a:lnSpc>
                <a:spcPct val="116000"/>
              </a:lnSpc>
              <a:spcBef>
                <a:spcPts val="0"/>
              </a:spcBef>
              <a:spcAft>
                <a:spcPts val="0"/>
              </a:spcAft>
            </a:pPr>
            <a:r>
              <a:rPr sz="1050" b="0" i="0">
                <a:solidFill>
                  <a:srgbClr val="5E6E7E"/>
                </a:solidFill>
                <a:latin typeface="Segoe UI"/>
              </a:rPr>
              <a:t>Three stages, contiguous layer ranges, current generation.</a:t>
            </a:r>
          </a:p>
        </p:txBody>
      </p:sp>
      <p:sp>
        <p:nvSpPr>
          <p:cNvPr id="12" name="Rectangle 11"/>
          <p:cNvSpPr/>
          <p:nvPr/>
        </p:nvSpPr>
        <p:spPr>
          <a:xfrm>
            <a:off x="3767328" y="3538728"/>
            <a:ext cx="8412480" cy="475488"/>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913632" y="3657600"/>
            <a:ext cx="8119871" cy="210311"/>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F2933"/>
                </a:solidFill>
                <a:latin typeface="Consolas"/>
              </a:rPr>
              <a:t>curl -s localhost:18080/pipeline | jq</a:t>
            </a:r>
          </a:p>
        </p:txBody>
      </p:sp>
      <p:sp>
        <p:nvSpPr>
          <p:cNvPr id="14" name="TextBox 13"/>
          <p:cNvSpPr txBox="1"/>
          <p:nvPr/>
        </p:nvSpPr>
        <p:spPr>
          <a:xfrm>
            <a:off x="566928" y="4581144"/>
            <a:ext cx="3017520" cy="640080"/>
          </a:xfrm>
          <a:prstGeom prst="rect">
            <a:avLst/>
          </a:prstGeom>
          <a:noFill/>
        </p:spPr>
        <p:txBody>
          <a:bodyPr wrap="square" lIns="0" rIns="0" tIns="0" bIns="0" anchor="t">
            <a:spAutoFit/>
          </a:bodyPr>
          <a:lstStyle/>
          <a:p>
            <a:pPr algn="l">
              <a:lnSpc>
                <a:spcPct val="115000"/>
              </a:lnSpc>
              <a:spcBef>
                <a:spcPts val="0"/>
              </a:spcBef>
              <a:spcAft>
                <a:spcPts val="400"/>
              </a:spcAft>
            </a:pPr>
            <a:r>
              <a:rPr sz="1350" b="1" i="0">
                <a:solidFill>
                  <a:srgbClr val="0E2A47"/>
                </a:solidFill>
                <a:latin typeface="Segoe UI"/>
              </a:rPr>
              <a:t>Send a real request</a:t>
            </a:r>
          </a:p>
          <a:p>
            <a:pPr algn="l">
              <a:lnSpc>
                <a:spcPct val="116000"/>
              </a:lnSpc>
              <a:spcBef>
                <a:spcPts val="0"/>
              </a:spcBef>
              <a:spcAft>
                <a:spcPts val="0"/>
              </a:spcAft>
            </a:pPr>
            <a:r>
              <a:rPr sz="1050" b="0" i="0">
                <a:solidFill>
                  <a:srgbClr val="5E6E7E"/>
                </a:solidFill>
                <a:latin typeface="Segoe UI"/>
              </a:rPr>
              <a:t>Returns tokens plus per-stage timing.</a:t>
            </a:r>
          </a:p>
        </p:txBody>
      </p:sp>
      <p:sp>
        <p:nvSpPr>
          <p:cNvPr id="15" name="Rectangle 14"/>
          <p:cNvSpPr/>
          <p:nvPr/>
        </p:nvSpPr>
        <p:spPr>
          <a:xfrm>
            <a:off x="3767328" y="4544568"/>
            <a:ext cx="8412480" cy="676656"/>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913632" y="4663440"/>
            <a:ext cx="8119871" cy="411480"/>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F2933"/>
                </a:solidFill>
                <a:latin typeface="Consolas"/>
              </a:rPr>
              <a:t>curl -s -X POST localhost:18080/generate \</a:t>
            </a:r>
          </a:p>
          <a:p>
            <a:pPr algn="l">
              <a:lnSpc>
                <a:spcPct val="116000"/>
              </a:lnSpc>
              <a:spcBef>
                <a:spcPts val="0"/>
              </a:spcBef>
              <a:spcAft>
                <a:spcPts val="0"/>
              </a:spcAft>
            </a:pPr>
            <a:r>
              <a:rPr sz="1100" b="0" i="0">
                <a:solidFill>
                  <a:srgbClr val="1F2933"/>
                </a:solidFill>
                <a:latin typeface="Consolas"/>
              </a:rPr>
              <a:t>  -d '{"prompt_len":16,"max_new_tokens":8}'</a:t>
            </a:r>
          </a:p>
        </p:txBody>
      </p:sp>
      <p:sp>
        <p:nvSpPr>
          <p:cNvPr id="17" name="Rectangle 16"/>
          <p:cNvSpPr/>
          <p:nvPr/>
        </p:nvSpPr>
        <p:spPr>
          <a:xfrm>
            <a:off x="566928" y="5632704"/>
            <a:ext cx="11057839" cy="713232"/>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5632704"/>
            <a:ext cx="50292" cy="713232"/>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86384" y="5751576"/>
            <a:ext cx="10673791" cy="493776"/>
          </a:xfrm>
          <a:prstGeom prst="rect">
            <a:avLst/>
          </a:prstGeom>
          <a:noFill/>
        </p:spPr>
        <p:txBody>
          <a:bodyPr wrap="square" lIns="0" rIns="0" tIns="0" bIns="0" anchor="ctr">
            <a:spAutoFit/>
          </a:bodyPr>
          <a:lstStyle/>
          <a:p>
            <a:pPr algn="l">
              <a:lnSpc>
                <a:spcPct val="115000"/>
              </a:lnSpc>
              <a:spcBef>
                <a:spcPts val="0"/>
              </a:spcBef>
              <a:spcAft>
                <a:spcPts val="300"/>
              </a:spcAft>
            </a:pPr>
            <a:r>
              <a:rPr sz="950" b="1" i="0">
                <a:solidFill>
                  <a:srgbClr val="2A78D6"/>
                </a:solidFill>
                <a:latin typeface="Segoe UI"/>
              </a:rPr>
              <a:t>WHAT TO POINT AT ON SCREEN</a:t>
            </a:r>
          </a:p>
          <a:p>
            <a:pPr algn="l">
              <a:lnSpc>
                <a:spcPct val="120000"/>
              </a:lnSpc>
              <a:spcBef>
                <a:spcPts val="0"/>
              </a:spcBef>
              <a:spcAft>
                <a:spcPts val="0"/>
              </a:spcAft>
            </a:pPr>
            <a:r>
              <a:rPr sz="1250" b="0" i="0">
                <a:solidFill>
                  <a:srgbClr val="161D26"/>
                </a:solidFill>
                <a:latin typeface="Segoe UI"/>
              </a:rPr>
              <a:t>At this point the dashboard is already updating every 2 s: generation, layer assignment, per-stage utilisation, node temperatures and live eBPF flow sRTTs.</a:t>
            </a:r>
          </a:p>
        </p:txBody>
      </p:sp>
      <p:sp>
        <p:nvSpPr>
          <p:cNvPr id="20" name="TextBox 19"/>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21" name="TextBox 20"/>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LIVE DEMO</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Demo 2 — inject a thermal fault, watch it heal</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63624"/>
            <a:ext cx="5806440" cy="182880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55064"/>
            <a:ext cx="5550407"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inject</a:t>
            </a:r>
          </a:p>
        </p:txBody>
      </p:sp>
      <p:sp>
        <p:nvSpPr>
          <p:cNvPr id="7" name="TextBox 6"/>
          <p:cNvSpPr txBox="1"/>
          <p:nvPr/>
        </p:nvSpPr>
        <p:spPr>
          <a:xfrm>
            <a:off x="713232" y="1892808"/>
            <a:ext cx="5513831" cy="1353311"/>
          </a:xfrm>
          <a:prstGeom prst="rect">
            <a:avLst/>
          </a:prstGeom>
          <a:noFill/>
        </p:spPr>
        <p:txBody>
          <a:bodyPr wrap="square" lIns="0" rIns="0" tIns="0" bIns="0" anchor="t">
            <a:spAutoFit/>
          </a:bodyPr>
          <a:lstStyle/>
          <a:p>
            <a:pPr algn="l">
              <a:lnSpc>
                <a:spcPct val="116000"/>
              </a:lnSpc>
              <a:spcBef>
                <a:spcPts val="0"/>
              </a:spcBef>
              <a:spcAft>
                <a:spcPts val="0"/>
              </a:spcAft>
            </a:pPr>
            <a:r>
              <a:rPr sz="1000" b="0" i="1">
                <a:solidFill>
                  <a:srgbClr val="6B7C8B"/>
                </a:solidFill>
                <a:latin typeface="Consolas"/>
              </a:rPr>
              <a:t># find the node agent on worker2</a:t>
            </a:r>
          </a:p>
          <a:p>
            <a:pPr algn="l">
              <a:lnSpc>
                <a:spcPct val="116000"/>
              </a:lnSpc>
              <a:spcBef>
                <a:spcPts val="0"/>
              </a:spcBef>
              <a:spcAft>
                <a:spcPts val="0"/>
              </a:spcAft>
            </a:pPr>
            <a:r>
              <a:rPr sz="1000" b="0" i="0">
                <a:solidFill>
                  <a:srgbClr val="1F2933"/>
                </a:solidFill>
                <a:latin typeface="Consolas"/>
              </a:rPr>
              <a:t>W2=$(docker inspect -f \</a:t>
            </a:r>
          </a:p>
          <a:p>
            <a:pPr algn="l">
              <a:lnSpc>
                <a:spcPct val="116000"/>
              </a:lnSpc>
              <a:spcBef>
                <a:spcPts val="0"/>
              </a:spcBef>
              <a:spcAft>
                <a:spcPts val="0"/>
              </a:spcAft>
            </a:pPr>
            <a:r>
              <a:rPr sz="1000" b="0" i="0">
                <a:solidFill>
                  <a:srgbClr val="1F2933"/>
                </a:solidFill>
                <a:latin typeface="Consolas"/>
              </a:rPr>
              <a:t>  '{{range .NetworkSettings.Networks}}{{.IPAddress}}{{end}}' \</a:t>
            </a:r>
          </a:p>
          <a:p>
            <a:pPr algn="l">
              <a:lnSpc>
                <a:spcPct val="116000"/>
              </a:lnSpc>
              <a:spcBef>
                <a:spcPts val="0"/>
              </a:spcBef>
              <a:spcAft>
                <a:spcPts val="0"/>
              </a:spcAft>
            </a:pPr>
            <a:r>
              <a:rPr sz="1000" b="0" i="0">
                <a:solidFill>
                  <a:srgbClr val="1F2933"/>
                </a:solidFill>
                <a:latin typeface="Consolas"/>
              </a:rPr>
              <a:t>  kubeedgeinfer-worker2)</a:t>
            </a:r>
          </a:p>
          <a:p>
            <a:pPr algn="l">
              <a:lnSpc>
                <a:spcPct val="116000"/>
              </a:lnSpc>
              <a:spcBef>
                <a:spcPts val="0"/>
              </a:spcBef>
              <a:spcAft>
                <a:spcPts val="0"/>
              </a:spcAft>
            </a:pPr>
            <a:r>
              <a:rPr sz="1000" b="0" i="0">
                <a:solidFill>
                  <a:srgbClr val="1F2933"/>
                </a:solidFill>
                <a:latin typeface="Consolas"/>
              </a:rPr>
              <a:t> </a:t>
            </a:r>
          </a:p>
          <a:p>
            <a:pPr algn="l">
              <a:lnSpc>
                <a:spcPct val="116000"/>
              </a:lnSpc>
              <a:spcBef>
                <a:spcPts val="0"/>
              </a:spcBef>
              <a:spcAft>
                <a:spcPts val="0"/>
              </a:spcAft>
            </a:pPr>
            <a:r>
              <a:rPr sz="1000" b="0" i="1">
                <a:solidFill>
                  <a:srgbClr val="6B7C8B"/>
                </a:solidFill>
                <a:latin typeface="Consolas"/>
              </a:rPr>
              <a:t># inject: force the simulated GPU to 92 C</a:t>
            </a:r>
          </a:p>
          <a:p>
            <a:pPr algn="l">
              <a:lnSpc>
                <a:spcPct val="116000"/>
              </a:lnSpc>
              <a:spcBef>
                <a:spcPts val="0"/>
              </a:spcBef>
              <a:spcAft>
                <a:spcPts val="0"/>
              </a:spcAft>
            </a:pPr>
            <a:r>
              <a:rPr sz="1000" b="0" i="0">
                <a:solidFill>
                  <a:srgbClr val="1F2933"/>
                </a:solidFill>
                <a:latin typeface="Consolas"/>
              </a:rPr>
              <a:t>curl -X POST http://$W2:9101/gpu/override -d '{"temp_c": 92}'</a:t>
            </a:r>
          </a:p>
        </p:txBody>
      </p:sp>
      <p:sp>
        <p:nvSpPr>
          <p:cNvPr id="8" name="Rectangle 7"/>
          <p:cNvSpPr/>
          <p:nvPr/>
        </p:nvSpPr>
        <p:spPr>
          <a:xfrm>
            <a:off x="566928" y="3621024"/>
            <a:ext cx="5806440" cy="105156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4944" y="3712463"/>
            <a:ext cx="5550407"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clear</a:t>
            </a:r>
          </a:p>
        </p:txBody>
      </p:sp>
      <p:sp>
        <p:nvSpPr>
          <p:cNvPr id="10" name="TextBox 9"/>
          <p:cNvSpPr txBox="1"/>
          <p:nvPr/>
        </p:nvSpPr>
        <p:spPr>
          <a:xfrm>
            <a:off x="713232" y="3950208"/>
            <a:ext cx="5513831" cy="576071"/>
          </a:xfrm>
          <a:prstGeom prst="rect">
            <a:avLst/>
          </a:prstGeom>
          <a:noFill/>
        </p:spPr>
        <p:txBody>
          <a:bodyPr wrap="square" lIns="0" rIns="0" tIns="0" bIns="0" anchor="t">
            <a:spAutoFit/>
          </a:bodyPr>
          <a:lstStyle/>
          <a:p>
            <a:pPr algn="l">
              <a:lnSpc>
                <a:spcPct val="116000"/>
              </a:lnSpc>
              <a:spcBef>
                <a:spcPts val="0"/>
              </a:spcBef>
              <a:spcAft>
                <a:spcPts val="0"/>
              </a:spcAft>
            </a:pPr>
            <a:r>
              <a:rPr sz="1000" b="0" i="1">
                <a:solidFill>
                  <a:srgbClr val="6B7C8B"/>
                </a:solidFill>
                <a:latin typeface="Consolas"/>
              </a:rPr>
              <a:t># recover</a:t>
            </a:r>
          </a:p>
          <a:p>
            <a:pPr algn="l">
              <a:lnSpc>
                <a:spcPct val="116000"/>
              </a:lnSpc>
              <a:spcBef>
                <a:spcPts val="0"/>
              </a:spcBef>
              <a:spcAft>
                <a:spcPts val="0"/>
              </a:spcAft>
            </a:pPr>
            <a:r>
              <a:rPr sz="1000" b="0" i="0">
                <a:solidFill>
                  <a:srgbClr val="1F2933"/>
                </a:solidFill>
                <a:latin typeface="Consolas"/>
              </a:rPr>
              <a:t>curl -X POST http://$W2:9101/gpu/override -d '{"clear": true}'</a:t>
            </a:r>
          </a:p>
        </p:txBody>
      </p:sp>
      <p:sp>
        <p:nvSpPr>
          <p:cNvPr id="11" name="Rectangle 10"/>
          <p:cNvSpPr/>
          <p:nvPr/>
        </p:nvSpPr>
        <p:spPr>
          <a:xfrm>
            <a:off x="566928" y="4855464"/>
            <a:ext cx="5806440" cy="77724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4855464"/>
            <a:ext cx="50292" cy="777240"/>
          </a:xfrm>
          <a:prstGeom prst="rect">
            <a:avLst/>
          </a:prstGeom>
          <a:solidFill>
            <a:srgbClr val="2C9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86384" y="4974336"/>
            <a:ext cx="5422392" cy="557784"/>
          </a:xfrm>
          <a:prstGeom prst="rect">
            <a:avLst/>
          </a:prstGeom>
          <a:noFill/>
        </p:spPr>
        <p:txBody>
          <a:bodyPr wrap="square" lIns="0" rIns="0" tIns="0" bIns="0" anchor="ctr">
            <a:spAutoFit/>
          </a:bodyPr>
          <a:lstStyle/>
          <a:p>
            <a:pPr algn="l">
              <a:lnSpc>
                <a:spcPct val="120000"/>
              </a:lnSpc>
              <a:spcBef>
                <a:spcPts val="0"/>
              </a:spcBef>
              <a:spcAft>
                <a:spcPts val="0"/>
              </a:spcAft>
            </a:pPr>
            <a:r>
              <a:rPr sz="1200" b="0" i="0">
                <a:solidFill>
                  <a:srgbClr val="161D26"/>
                </a:solidFill>
                <a:latin typeface="Segoe UI"/>
              </a:rPr>
              <a:t>Or just press the Inject / Clear buttons on the dashboard - they call exactly these endpoints.</a:t>
            </a:r>
          </a:p>
        </p:txBody>
      </p:sp>
      <p:sp>
        <p:nvSpPr>
          <p:cNvPr id="14" name="Rectangle 13"/>
          <p:cNvSpPr/>
          <p:nvPr/>
        </p:nvSpPr>
        <p:spPr>
          <a:xfrm>
            <a:off x="6784848" y="1563624"/>
            <a:ext cx="5394960" cy="4069080"/>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1746504"/>
            <a:ext cx="4937760" cy="274320"/>
          </a:xfrm>
          <a:prstGeom prst="rect">
            <a:avLst/>
          </a:prstGeom>
          <a:noFill/>
        </p:spPr>
        <p:txBody>
          <a:bodyPr wrap="square" lIns="0" rIns="0" tIns="0" bIns="0" anchor="t">
            <a:spAutoFit/>
          </a:bodyPr>
          <a:lstStyle/>
          <a:p>
            <a:pPr algn="l">
              <a:lnSpc>
                <a:spcPct val="115000"/>
              </a:lnSpc>
              <a:spcBef>
                <a:spcPts val="0"/>
              </a:spcBef>
              <a:spcAft>
                <a:spcPts val="1000"/>
              </a:spcAft>
            </a:pPr>
            <a:r>
              <a:rPr sz="1000" b="1" i="0">
                <a:solidFill>
                  <a:srgbClr val="2A78D6"/>
                </a:solidFill>
                <a:latin typeface="Segoe UI"/>
              </a:rPr>
              <a:t>WHAT THE AUDIENCE SEES</a:t>
            </a:r>
          </a:p>
        </p:txBody>
      </p:sp>
      <p:sp>
        <p:nvSpPr>
          <p:cNvPr id="16" name="Rectangle 15"/>
          <p:cNvSpPr/>
          <p:nvPr/>
        </p:nvSpPr>
        <p:spPr>
          <a:xfrm>
            <a:off x="6995160" y="2167128"/>
            <a:ext cx="68580" cy="68580"/>
          </a:xfrm>
          <a:prstGeom prst="rect">
            <a:avLst/>
          </a:prstGeom>
          <a:solidFill>
            <a:srgbClr val="D97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187184" y="2093976"/>
            <a:ext cx="749808" cy="237744"/>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D97626"/>
                </a:solidFill>
                <a:latin typeface="Consolas"/>
              </a:rPr>
              <a:t>t + 0 s</a:t>
            </a:r>
          </a:p>
        </p:txBody>
      </p:sp>
      <p:sp>
        <p:nvSpPr>
          <p:cNvPr id="18" name="TextBox 17"/>
          <p:cNvSpPr txBox="1"/>
          <p:nvPr/>
        </p:nvSpPr>
        <p:spPr>
          <a:xfrm>
            <a:off x="8046719" y="2093976"/>
            <a:ext cx="3977639" cy="566928"/>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61D26"/>
                </a:solidFill>
                <a:latin typeface="Segoe UI"/>
              </a:rPr>
              <a:t>worker2 temperature jumps to 92 °C; the node agent marks it throttled and drops speed_factor to 0.4</a:t>
            </a:r>
          </a:p>
        </p:txBody>
      </p:sp>
      <p:sp>
        <p:nvSpPr>
          <p:cNvPr id="19" name="Rectangle 18"/>
          <p:cNvSpPr/>
          <p:nvPr/>
        </p:nvSpPr>
        <p:spPr>
          <a:xfrm>
            <a:off x="6995160" y="2743200"/>
            <a:ext cx="68580" cy="685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187184" y="2670048"/>
            <a:ext cx="749808" cy="237744"/>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t + 2 s</a:t>
            </a:r>
          </a:p>
        </p:txBody>
      </p:sp>
      <p:sp>
        <p:nvSpPr>
          <p:cNvPr id="21" name="TextBox 20"/>
          <p:cNvSpPr txBox="1"/>
          <p:nvPr/>
        </p:nvSpPr>
        <p:spPr>
          <a:xfrm>
            <a:off x="8046719" y="2670048"/>
            <a:ext cx="3977639" cy="566928"/>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61D26"/>
                </a:solidFill>
                <a:latin typeface="Segoe UI"/>
              </a:rPr>
              <a:t>controller tick: the DP finds a materially better split</a:t>
            </a:r>
          </a:p>
        </p:txBody>
      </p:sp>
      <p:sp>
        <p:nvSpPr>
          <p:cNvPr id="22" name="Rectangle 21"/>
          <p:cNvSpPr/>
          <p:nvPr/>
        </p:nvSpPr>
        <p:spPr>
          <a:xfrm>
            <a:off x="6995160" y="3319272"/>
            <a:ext cx="68580" cy="685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187184" y="3246120"/>
            <a:ext cx="749808" cy="237744"/>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t + 2 s</a:t>
            </a:r>
          </a:p>
        </p:txBody>
      </p:sp>
      <p:sp>
        <p:nvSpPr>
          <p:cNvPr id="24" name="TextBox 23"/>
          <p:cNvSpPr txBox="1"/>
          <p:nvPr/>
        </p:nvSpPr>
        <p:spPr>
          <a:xfrm>
            <a:off x="8046719" y="3246120"/>
            <a:ext cx="3977639" cy="566928"/>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61D26"/>
                </a:solidFill>
                <a:latin typeface="Segoe UI"/>
              </a:rPr>
              <a:t>hysteresis gate passes - &gt;15% improvement, cooldown elapsed</a:t>
            </a:r>
          </a:p>
        </p:txBody>
      </p:sp>
      <p:sp>
        <p:nvSpPr>
          <p:cNvPr id="25" name="Rectangle 24"/>
          <p:cNvSpPr/>
          <p:nvPr/>
        </p:nvSpPr>
        <p:spPr>
          <a:xfrm>
            <a:off x="6995160" y="3895344"/>
            <a:ext cx="68580" cy="68580"/>
          </a:xfrm>
          <a:prstGeom prst="rect">
            <a:avLst/>
          </a:prstGeom>
          <a:solidFill>
            <a:srgbClr val="2C9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87184" y="3822192"/>
            <a:ext cx="749808" cy="237744"/>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C9355"/>
                </a:solidFill>
                <a:latin typeface="Consolas"/>
              </a:rPr>
              <a:t>t + 2 s</a:t>
            </a:r>
          </a:p>
        </p:txBody>
      </p:sp>
      <p:sp>
        <p:nvSpPr>
          <p:cNvPr id="27" name="TextBox 26"/>
          <p:cNvSpPr txBox="1"/>
          <p:nvPr/>
        </p:nvSpPr>
        <p:spPr>
          <a:xfrm>
            <a:off x="8046719" y="3822192"/>
            <a:ext cx="3977639" cy="566928"/>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61D26"/>
                </a:solidFill>
                <a:latin typeface="Segoe UI"/>
              </a:rPr>
              <a:t>generation increments; the layer-assignment bar on the dashboard visibly redraws</a:t>
            </a:r>
          </a:p>
        </p:txBody>
      </p:sp>
      <p:sp>
        <p:nvSpPr>
          <p:cNvPr id="28" name="Rectangle 27"/>
          <p:cNvSpPr/>
          <p:nvPr/>
        </p:nvSpPr>
        <p:spPr>
          <a:xfrm>
            <a:off x="6995160" y="4471416"/>
            <a:ext cx="68580" cy="68580"/>
          </a:xfrm>
          <a:prstGeom prst="rect">
            <a:avLst/>
          </a:prstGeom>
          <a:solidFill>
            <a:srgbClr val="2C9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187184" y="4398264"/>
            <a:ext cx="749808" cy="237744"/>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C9355"/>
                </a:solidFill>
                <a:latin typeface="Consolas"/>
              </a:rPr>
              <a:t>t + 3 s</a:t>
            </a:r>
          </a:p>
        </p:txBody>
      </p:sp>
      <p:sp>
        <p:nvSpPr>
          <p:cNvPr id="30" name="TextBox 29"/>
          <p:cNvSpPr txBox="1"/>
          <p:nvPr/>
        </p:nvSpPr>
        <p:spPr>
          <a:xfrm>
            <a:off x="8046719" y="4398264"/>
            <a:ext cx="3977639" cy="566928"/>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61D26"/>
                </a:solidFill>
                <a:latin typeface="Segoe UI"/>
              </a:rPr>
              <a:t>layers have moved off worker2 onto the two healthy nodes; tokens/sec recovers</a:t>
            </a:r>
          </a:p>
        </p:txBody>
      </p:sp>
      <p:sp>
        <p:nvSpPr>
          <p:cNvPr id="31" name="Rectangle 30"/>
          <p:cNvSpPr/>
          <p:nvPr/>
        </p:nvSpPr>
        <p:spPr>
          <a:xfrm>
            <a:off x="6995160" y="5047488"/>
            <a:ext cx="68580" cy="68580"/>
          </a:xfrm>
          <a:prstGeom prst="rect">
            <a:avLst/>
          </a:prstGeom>
          <a:solidFill>
            <a:srgbClr val="2C9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87184" y="4974336"/>
            <a:ext cx="749808" cy="237744"/>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C9355"/>
                </a:solidFill>
                <a:latin typeface="Consolas"/>
              </a:rPr>
              <a:t>~35 s</a:t>
            </a:r>
          </a:p>
        </p:txBody>
      </p:sp>
      <p:sp>
        <p:nvSpPr>
          <p:cNvPr id="33" name="TextBox 32"/>
          <p:cNvSpPr txBox="1"/>
          <p:nvPr/>
        </p:nvSpPr>
        <p:spPr>
          <a:xfrm>
            <a:off x="8046719" y="4974336"/>
            <a:ext cx="3977639" cy="566928"/>
          </a:xfrm>
          <a:prstGeom prst="rect">
            <a:avLst/>
          </a:prstGeom>
          <a:noFill/>
        </p:spPr>
        <p:txBody>
          <a:bodyPr wrap="square" lIns="0" rIns="0" tIns="0" bIns="0" anchor="t">
            <a:spAutoFit/>
          </a:bodyPr>
          <a:lstStyle/>
          <a:p>
            <a:pPr algn="l">
              <a:lnSpc>
                <a:spcPct val="116000"/>
              </a:lnSpc>
              <a:spcBef>
                <a:spcPts val="0"/>
              </a:spcBef>
              <a:spcAft>
                <a:spcPts val="0"/>
              </a:spcAft>
            </a:pPr>
            <a:r>
              <a:rPr sz="1100" b="0" i="0">
                <a:solidFill>
                  <a:srgbClr val="161D26"/>
                </a:solidFill>
                <a:latin typeface="Segoe UI"/>
              </a:rPr>
              <a:t>after clearing, the node cools, the gate passes again and layers migrate back</a:t>
            </a:r>
          </a:p>
        </p:txBody>
      </p:sp>
      <p:sp>
        <p:nvSpPr>
          <p:cNvPr id="34" name="TextBox 33"/>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35" name="TextBox 34"/>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LIVE DEMO</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Demo 3 — kill a node, and prove correctness</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63624"/>
            <a:ext cx="5760720" cy="137160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94944" y="1655064"/>
            <a:ext cx="550468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node failure</a:t>
            </a:r>
          </a:p>
        </p:txBody>
      </p:sp>
      <p:sp>
        <p:nvSpPr>
          <p:cNvPr id="7" name="TextBox 6"/>
          <p:cNvSpPr txBox="1"/>
          <p:nvPr/>
        </p:nvSpPr>
        <p:spPr>
          <a:xfrm>
            <a:off x="713232" y="1892808"/>
            <a:ext cx="5468112" cy="896111"/>
          </a:xfrm>
          <a:prstGeom prst="rect">
            <a:avLst/>
          </a:prstGeom>
          <a:noFill/>
        </p:spPr>
        <p:txBody>
          <a:bodyPr wrap="square" lIns="0" rIns="0" tIns="0" bIns="0" anchor="t">
            <a:spAutoFit/>
          </a:bodyPr>
          <a:lstStyle/>
          <a:p>
            <a:pPr algn="l">
              <a:lnSpc>
                <a:spcPct val="116000"/>
              </a:lnSpc>
              <a:spcBef>
                <a:spcPts val="0"/>
              </a:spcBef>
              <a:spcAft>
                <a:spcPts val="0"/>
              </a:spcAft>
            </a:pPr>
            <a:r>
              <a:rPr sz="763" b="0" i="1">
                <a:solidFill>
                  <a:srgbClr val="6B7C8B"/>
                </a:solidFill>
                <a:latin typeface="Consolas"/>
              </a:rPr>
              <a:t># stop the node holding the last pipeline stage</a:t>
            </a:r>
          </a:p>
          <a:p>
            <a:pPr algn="l">
              <a:lnSpc>
                <a:spcPct val="116000"/>
              </a:lnSpc>
              <a:spcBef>
                <a:spcPts val="0"/>
              </a:spcBef>
              <a:spcAft>
                <a:spcPts val="0"/>
              </a:spcAft>
            </a:pPr>
            <a:r>
              <a:rPr sz="763" b="0" i="0">
                <a:solidFill>
                  <a:srgbClr val="1F2933"/>
                </a:solidFill>
                <a:latin typeface="Consolas"/>
              </a:rPr>
              <a:t>docker stop kubeedgeinfer-worker3</a:t>
            </a:r>
          </a:p>
          <a:p>
            <a:pPr algn="l">
              <a:lnSpc>
                <a:spcPct val="116000"/>
              </a:lnSpc>
              <a:spcBef>
                <a:spcPts val="0"/>
              </a:spcBef>
              <a:spcAft>
                <a:spcPts val="0"/>
              </a:spcAft>
            </a:pPr>
            <a:r>
              <a:rPr sz="763" b="0" i="0">
                <a:solidFill>
                  <a:srgbClr val="1F2933"/>
                </a:solidFill>
                <a:latin typeface="Consolas"/>
              </a:rPr>
              <a:t> </a:t>
            </a:r>
          </a:p>
          <a:p>
            <a:pPr algn="l">
              <a:lnSpc>
                <a:spcPct val="116000"/>
              </a:lnSpc>
              <a:spcBef>
                <a:spcPts val="0"/>
              </a:spcBef>
              <a:spcAft>
                <a:spcPts val="0"/>
              </a:spcAft>
            </a:pPr>
            <a:r>
              <a:rPr sz="763" b="0" i="1">
                <a:solidFill>
                  <a:srgbClr val="6B7C8B"/>
                </a:solidFill>
                <a:latin typeface="Consolas"/>
              </a:rPr>
              <a:t># ... 3 s heartbeat timeout -&gt; forced repartition</a:t>
            </a:r>
          </a:p>
          <a:p>
            <a:pPr algn="l">
              <a:lnSpc>
                <a:spcPct val="116000"/>
              </a:lnSpc>
              <a:spcBef>
                <a:spcPts val="0"/>
              </a:spcBef>
              <a:spcAft>
                <a:spcPts val="0"/>
              </a:spcAft>
            </a:pPr>
            <a:r>
              <a:rPr sz="763" b="0" i="1">
                <a:solidFill>
                  <a:srgbClr val="6B7C8B"/>
                </a:solidFill>
                <a:latin typeface="Consolas"/>
              </a:rPr>
              <a:t># ... requests keep completing on the two survivors</a:t>
            </a:r>
          </a:p>
          <a:p>
            <a:pPr algn="l">
              <a:lnSpc>
                <a:spcPct val="116000"/>
              </a:lnSpc>
              <a:spcBef>
                <a:spcPts val="0"/>
              </a:spcBef>
              <a:spcAft>
                <a:spcPts val="0"/>
              </a:spcAft>
            </a:pPr>
            <a:r>
              <a:rPr sz="763" b="0" i="0">
                <a:solidFill>
                  <a:srgbClr val="1F2933"/>
                </a:solidFill>
                <a:latin typeface="Consolas"/>
              </a:rPr>
              <a:t> </a:t>
            </a:r>
          </a:p>
          <a:p>
            <a:pPr algn="l">
              <a:lnSpc>
                <a:spcPct val="116000"/>
              </a:lnSpc>
              <a:spcBef>
                <a:spcPts val="0"/>
              </a:spcBef>
              <a:spcAft>
                <a:spcPts val="0"/>
              </a:spcAft>
            </a:pPr>
            <a:r>
              <a:rPr sz="763" b="0" i="0">
                <a:solidFill>
                  <a:srgbClr val="1F2933"/>
                </a:solidFill>
                <a:latin typeface="Consolas"/>
              </a:rPr>
              <a:t>docker start kubeedgeinfer-worker3   # it rejoins and is used again</a:t>
            </a:r>
          </a:p>
        </p:txBody>
      </p:sp>
      <p:sp>
        <p:nvSpPr>
          <p:cNvPr id="8" name="TextBox 7"/>
          <p:cNvSpPr txBox="1"/>
          <p:nvPr/>
        </p:nvSpPr>
        <p:spPr>
          <a:xfrm>
            <a:off x="566928" y="3163824"/>
            <a:ext cx="5760720" cy="3191256"/>
          </a:xfrm>
          <a:prstGeom prst="rect">
            <a:avLst/>
          </a:prstGeom>
          <a:noFill/>
        </p:spPr>
        <p:txBody>
          <a:bodyPr wrap="square" lIns="0" rIns="0" tIns="0" bIns="0" anchor="t">
            <a:spAutoFit/>
          </a:bodyPr>
          <a:lstStyle/>
          <a:p>
            <a:pPr algn="l" marL="274320" indent="-274320">
              <a:lnSpc>
                <a:spcPct val="120000"/>
              </a:lnSpc>
              <a:spcBef>
                <a:spcPts val="0"/>
              </a:spcBef>
              <a:spcAft>
                <a:spcPts val="800"/>
              </a:spcAft>
            </a:pPr>
            <a:r>
              <a:rPr sz="1200" b="0" i="0">
                <a:solidFill>
                  <a:srgbClr val="161D26"/>
                </a:solidFill>
                <a:latin typeface="Segoe UI"/>
              </a:rPr>
              <a:t>▪  The static baseline cannot do this: with STATIC_MODE=1 the same scenario dropped </a:t>
            </a:r>
            <a:r>
              <a:rPr sz="1200" b="1" i="0">
                <a:solidFill>
                  <a:srgbClr val="161D26"/>
                </a:solidFill>
                <a:latin typeface="Segoe UI"/>
              </a:rPr>
              <a:t>18 requests</a:t>
            </a:r>
            <a:r>
              <a:rPr sz="1200" b="0" i="0">
                <a:solidFill>
                  <a:srgbClr val="161D26"/>
                </a:solidFill>
                <a:latin typeface="Segoe UI"/>
              </a:rPr>
              <a:t>.</a:t>
            </a:r>
          </a:p>
          <a:p>
            <a:pPr algn="l" marL="274320" indent="-274320">
              <a:lnSpc>
                <a:spcPct val="120000"/>
              </a:lnSpc>
              <a:spcBef>
                <a:spcPts val="0"/>
              </a:spcBef>
              <a:spcAft>
                <a:spcPts val="800"/>
              </a:spcAft>
            </a:pPr>
            <a:r>
              <a:rPr sz="1200" b="0" i="0">
                <a:solidFill>
                  <a:srgbClr val="2C9355"/>
                </a:solidFill>
                <a:latin typeface="Segoe UI"/>
              </a:rPr>
              <a:t>▪  The dynamic loop completed </a:t>
            </a:r>
            <a:r>
              <a:rPr sz="1200" b="1" i="0">
                <a:solidFill>
                  <a:srgbClr val="2C9355"/>
                </a:solidFill>
                <a:latin typeface="Segoe UI"/>
              </a:rPr>
              <a:t>126 requests with 0 errors</a:t>
            </a:r>
            <a:r>
              <a:rPr sz="1200" b="0" i="0">
                <a:solidFill>
                  <a:srgbClr val="2C9355"/>
                </a:solidFill>
                <a:latin typeface="Segoe UI"/>
              </a:rPr>
              <a:t>.</a:t>
            </a:r>
          </a:p>
        </p:txBody>
      </p:sp>
      <p:sp>
        <p:nvSpPr>
          <p:cNvPr id="9" name="Rectangle 8"/>
          <p:cNvSpPr/>
          <p:nvPr/>
        </p:nvSpPr>
        <p:spPr>
          <a:xfrm>
            <a:off x="6739128" y="1563624"/>
            <a:ext cx="5440680" cy="150876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67144" y="1655064"/>
            <a:ext cx="518464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token-identical to single-process HF GPT-2</a:t>
            </a:r>
          </a:p>
        </p:txBody>
      </p:sp>
      <p:sp>
        <p:nvSpPr>
          <p:cNvPr id="11" name="TextBox 10"/>
          <p:cNvSpPr txBox="1"/>
          <p:nvPr/>
        </p:nvSpPr>
        <p:spPr>
          <a:xfrm>
            <a:off x="6885432" y="1892808"/>
            <a:ext cx="5148072" cy="1033271"/>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1F2933"/>
                </a:solidFill>
                <a:latin typeface="Consolas"/>
              </a:rPr>
              <a:t>$ python3 bench/verify_gpt2.py</a:t>
            </a:r>
          </a:p>
          <a:p>
            <a:pPr algn="l">
              <a:lnSpc>
                <a:spcPct val="116000"/>
              </a:lnSpc>
              <a:spcBef>
                <a:spcPts val="0"/>
              </a:spcBef>
              <a:spcAft>
                <a:spcPts val="0"/>
              </a:spcAft>
            </a:pPr>
            <a:r>
              <a:rPr sz="1050" b="0" i="0">
                <a:solidFill>
                  <a:srgbClr val="1F2933"/>
                </a:solidFill>
                <a:latin typeface="Consolas"/>
              </a:rPr>
              <a:t>distributed : [11, 314, 716, 257, 1263, 4336]</a:t>
            </a:r>
          </a:p>
          <a:p>
            <a:pPr algn="l">
              <a:lnSpc>
                <a:spcPct val="116000"/>
              </a:lnSpc>
              <a:spcBef>
                <a:spcPts val="0"/>
              </a:spcBef>
              <a:spcAft>
                <a:spcPts val="0"/>
              </a:spcAft>
            </a:pPr>
            <a:r>
              <a:rPr sz="1050" b="0" i="0">
                <a:solidFill>
                  <a:srgbClr val="1F2933"/>
                </a:solidFill>
                <a:latin typeface="Consolas"/>
              </a:rPr>
              <a:t>single-proc : [11, 314, 716, 257, 1263, 4336]</a:t>
            </a:r>
          </a:p>
          <a:p>
            <a:pPr algn="l">
              <a:lnSpc>
                <a:spcPct val="116000"/>
              </a:lnSpc>
              <a:spcBef>
                <a:spcPts val="0"/>
              </a:spcBef>
              <a:spcAft>
                <a:spcPts val="0"/>
              </a:spcAft>
            </a:pPr>
            <a:r>
              <a:rPr sz="1050" b="0" i="0">
                <a:solidFill>
                  <a:srgbClr val="1F2933"/>
                </a:solidFill>
                <a:latin typeface="Consolas"/>
              </a:rPr>
              <a:t>MATCH</a:t>
            </a:r>
          </a:p>
        </p:txBody>
      </p:sp>
      <p:sp>
        <p:nvSpPr>
          <p:cNvPr id="12" name="Rectangle 11"/>
          <p:cNvSpPr/>
          <p:nvPr/>
        </p:nvSpPr>
        <p:spPr>
          <a:xfrm>
            <a:off x="6739128" y="3300984"/>
            <a:ext cx="5440680" cy="137160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67144" y="3392424"/>
            <a:ext cx="518464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optimiser vs brute force</a:t>
            </a:r>
          </a:p>
        </p:txBody>
      </p:sp>
      <p:sp>
        <p:nvSpPr>
          <p:cNvPr id="14" name="TextBox 13"/>
          <p:cNvSpPr txBox="1"/>
          <p:nvPr/>
        </p:nvSpPr>
        <p:spPr>
          <a:xfrm>
            <a:off x="6885432" y="3630168"/>
            <a:ext cx="5148072" cy="896112"/>
          </a:xfrm>
          <a:prstGeom prst="rect">
            <a:avLst/>
          </a:prstGeom>
          <a:noFill/>
        </p:spPr>
        <p:txBody>
          <a:bodyPr wrap="square" lIns="0" rIns="0" tIns="0" bIns="0" anchor="t">
            <a:spAutoFit/>
          </a:bodyPr>
          <a:lstStyle/>
          <a:p>
            <a:pPr algn="l">
              <a:lnSpc>
                <a:spcPct val="116000"/>
              </a:lnSpc>
              <a:spcBef>
                <a:spcPts val="0"/>
              </a:spcBef>
              <a:spcAft>
                <a:spcPts val="0"/>
              </a:spcAft>
            </a:pPr>
            <a:r>
              <a:rPr sz="1050" b="0" i="0">
                <a:solidFill>
                  <a:srgbClr val="1F2933"/>
                </a:solidFill>
                <a:latin typeface="Consolas"/>
              </a:rPr>
              <a:t>$ make test</a:t>
            </a:r>
          </a:p>
          <a:p>
            <a:pPr algn="l">
              <a:lnSpc>
                <a:spcPct val="116000"/>
              </a:lnSpc>
              <a:spcBef>
                <a:spcPts val="0"/>
              </a:spcBef>
              <a:spcAft>
                <a:spcPts val="0"/>
              </a:spcAft>
            </a:pPr>
            <a:r>
              <a:rPr sz="1050" b="0" i="0">
                <a:solidFill>
                  <a:srgbClr val="1F2933"/>
                </a:solidFill>
                <a:latin typeface="Consolas"/>
              </a:rPr>
              <a:t>ok  kubeedgeinfer/internal/partition</a:t>
            </a:r>
          </a:p>
          <a:p>
            <a:pPr algn="l">
              <a:lnSpc>
                <a:spcPct val="116000"/>
              </a:lnSpc>
              <a:spcBef>
                <a:spcPts val="0"/>
              </a:spcBef>
              <a:spcAft>
                <a:spcPts val="0"/>
              </a:spcAft>
            </a:pPr>
            <a:r>
              <a:rPr sz="1050" b="0" i="0">
                <a:solidFill>
                  <a:srgbClr val="1F2933"/>
                </a:solidFill>
                <a:latin typeface="Consolas"/>
              </a:rPr>
              <a:t>    TestOptimalMatchesBruteForce  (200 random cases)</a:t>
            </a:r>
          </a:p>
          <a:p>
            <a:pPr algn="l">
              <a:lnSpc>
                <a:spcPct val="116000"/>
              </a:lnSpc>
              <a:spcBef>
                <a:spcPts val="0"/>
              </a:spcBef>
              <a:spcAft>
                <a:spcPts val="0"/>
              </a:spcAft>
            </a:pPr>
            <a:r>
              <a:rPr sz="1050" b="0" i="0">
                <a:solidFill>
                  <a:srgbClr val="1F2933"/>
                </a:solidFill>
                <a:latin typeface="Consolas"/>
              </a:rPr>
              <a:t>    TestDeciderHysteresis</a:t>
            </a:r>
          </a:p>
        </p:txBody>
      </p:sp>
      <p:sp>
        <p:nvSpPr>
          <p:cNvPr id="15" name="Rectangle 14"/>
          <p:cNvSpPr/>
          <p:nvPr/>
        </p:nvSpPr>
        <p:spPr>
          <a:xfrm>
            <a:off x="6739128" y="4809744"/>
            <a:ext cx="5440680" cy="82296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739128" y="4809744"/>
            <a:ext cx="50292" cy="822960"/>
          </a:xfrm>
          <a:prstGeom prst="rect">
            <a:avLst/>
          </a:prstGeom>
          <a:solidFill>
            <a:srgbClr val="2C93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58584" y="4928616"/>
            <a:ext cx="5056632" cy="603504"/>
          </a:xfrm>
          <a:prstGeom prst="rect">
            <a:avLst/>
          </a:prstGeom>
          <a:noFill/>
        </p:spPr>
        <p:txBody>
          <a:bodyPr wrap="square" lIns="0" rIns="0" tIns="0" bIns="0" anchor="ctr">
            <a:spAutoFit/>
          </a:bodyPr>
          <a:lstStyle/>
          <a:p>
            <a:pPr algn="l">
              <a:lnSpc>
                <a:spcPct val="120000"/>
              </a:lnSpc>
              <a:spcBef>
                <a:spcPts val="0"/>
              </a:spcBef>
              <a:spcAft>
                <a:spcPts val="0"/>
              </a:spcAft>
            </a:pPr>
            <a:r>
              <a:rPr sz="1200" b="0" i="0">
                <a:solidFill>
                  <a:srgbClr val="161D26"/>
                </a:solidFill>
                <a:latin typeface="Segoe UI"/>
              </a:rPr>
              <a:t>Repartitioning is only interesting if the answer does not change. These two commands are the proof that it does not.</a:t>
            </a:r>
          </a:p>
        </p:txBody>
      </p:sp>
      <p:sp>
        <p:nvSpPr>
          <p:cNvPr id="18" name="TextBox 17"/>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9" name="TextBox 18"/>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LIVE DEMO</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Demo 4 — reproduce the full result set</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11057839" cy="384048"/>
          </a:xfrm>
          <a:prstGeom prst="rect">
            <a:avLst/>
          </a:prstGeom>
          <a:noFill/>
        </p:spPr>
        <p:txBody>
          <a:bodyPr wrap="square" lIns="0" rIns="0" tIns="0" bIns="0" anchor="t">
            <a:spAutoFit/>
          </a:bodyPr>
          <a:lstStyle/>
          <a:p>
            <a:pPr algn="l">
              <a:lnSpc>
                <a:spcPct val="120000"/>
              </a:lnSpc>
              <a:spcBef>
                <a:spcPts val="0"/>
              </a:spcBef>
              <a:spcAft>
                <a:spcPts val="0"/>
              </a:spcAft>
            </a:pPr>
            <a:r>
              <a:rPr sz="1350" b="0" i="1">
                <a:solidFill>
                  <a:srgbClr val="5E6E7E"/>
                </a:solidFill>
                <a:latin typeface="Segoe UI"/>
              </a:rPr>
              <a:t>Every figure in the main deck comes from these commands.</a:t>
            </a:r>
          </a:p>
        </p:txBody>
      </p:sp>
      <p:graphicFrame>
        <p:nvGraphicFramePr>
          <p:cNvPr id="6" name="Table 5"/>
          <p:cNvGraphicFramePr>
            <a:graphicFrameLocks noGrp="1"/>
          </p:cNvGraphicFramePr>
          <p:nvPr/>
        </p:nvGraphicFramePr>
        <p:xfrm>
          <a:off x="566928" y="2002536"/>
          <a:ext cx="11057839" cy="3831336"/>
        </p:xfrm>
        <a:graphic>
          <a:graphicData uri="http://schemas.openxmlformats.org/drawingml/2006/table">
            <a:tbl>
              <a:tblPr firstRow="1">
                <a:tableStyleId>{5C22544A-7EE6-4342-B048-85BDC9FD1C3A}</a:tableStyleId>
              </a:tblPr>
              <a:tblGrid>
                <a:gridCol w="4353480"/>
                <a:gridCol w="6704359"/>
              </a:tblGrid>
              <a:tr h="310896">
                <a:tc>
                  <a:txBody>
                    <a:bodyPr wrap="square"/>
                    <a:lstStyle/>
                    <a:p>
                      <a:pPr>
                        <a:lnSpc>
                          <a:spcPct val="105000"/>
                        </a:lnSpc>
                        <a:spcBef>
                          <a:spcPts val="0"/>
                        </a:spcBef>
                        <a:spcAft>
                          <a:spcPts val="0"/>
                        </a:spcAft>
                      </a:pPr>
                      <a:r>
                        <a:rPr sz="1050" b="1" i="0">
                          <a:solidFill>
                            <a:srgbClr val="FFFFFF"/>
                          </a:solidFill>
                          <a:latin typeface="Segoe UI"/>
                        </a:rPr>
                        <a:t>Command</a:t>
                      </a:r>
                    </a:p>
                  </a:txBody>
                  <a:tcPr marL="64008" marR="64008" marT="18288" marB="18288" anchor="ctr">
                    <a:solidFill>
                      <a:srgbClr val="0E2A47"/>
                    </a:solidFill>
                  </a:tcPr>
                </a:tc>
                <a:tc>
                  <a:txBody>
                    <a:bodyPr wrap="square"/>
                    <a:lstStyle/>
                    <a:p>
                      <a:pPr algn="l">
                        <a:lnSpc>
                          <a:spcPct val="105000"/>
                        </a:lnSpc>
                        <a:spcBef>
                          <a:spcPts val="0"/>
                        </a:spcBef>
                        <a:spcAft>
                          <a:spcPts val="0"/>
                        </a:spcAft>
                      </a:pPr>
                      <a:r>
                        <a:rPr sz="1050" b="1" i="0">
                          <a:solidFill>
                            <a:srgbClr val="FFFFFF"/>
                          </a:solidFill>
                          <a:latin typeface="Segoe UI"/>
                        </a:rPr>
                        <a:t>Produces</a:t>
                      </a:r>
                    </a:p>
                  </a:txBody>
                  <a:tcPr marL="64008" marR="64008" marT="18288" marB="18288" anchor="ctr">
                    <a:solidFill>
                      <a:srgbClr val="0E2A47"/>
                    </a:solidFill>
                  </a:tcPr>
                </a:tc>
              </a:tr>
              <a:tr h="502920">
                <a:tc>
                  <a:txBody>
                    <a:bodyPr wrap="square"/>
                    <a:lstStyle/>
                    <a:p>
                      <a:pPr>
                        <a:lnSpc>
                          <a:spcPct val="105000"/>
                        </a:lnSpc>
                        <a:spcBef>
                          <a:spcPts val="0"/>
                        </a:spcBef>
                        <a:spcAft>
                          <a:spcPts val="0"/>
                        </a:spcAft>
                      </a:pPr>
                      <a:r>
                        <a:rPr sz="1050" b="0" i="0">
                          <a:solidFill>
                            <a:srgbClr val="161D26"/>
                          </a:solidFill>
                          <a:latin typeface="Consolas"/>
                        </a:rPr>
                        <a:t>python3 bench/run.py --all</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1050" b="0" i="0">
                          <a:solidFill>
                            <a:srgbClr val="161D26"/>
                          </a:solidFill>
                          <a:latin typeface="Segoe UI"/>
                        </a:rPr>
                        <a:t>10 runs: 5 scenarios × {dynamic, static} → results/*_requests.csv, _series.csv, _phases.csv, summary.json</a:t>
                      </a:r>
                    </a:p>
                  </a:txBody>
                  <a:tcPr marL="64008" marR="64008" marT="18288" marB="18288" anchor="ctr">
                    <a:solidFill>
                      <a:srgbClr val="FFFFFF"/>
                    </a:solidFill>
                  </a:tcPr>
                </a:tc>
              </a:tr>
              <a:tr h="502920">
                <a:tc>
                  <a:txBody>
                    <a:bodyPr wrap="square"/>
                    <a:lstStyle/>
                    <a:p>
                      <a:pPr>
                        <a:lnSpc>
                          <a:spcPct val="105000"/>
                        </a:lnSpc>
                        <a:spcBef>
                          <a:spcPts val="0"/>
                        </a:spcBef>
                        <a:spcAft>
                          <a:spcPts val="0"/>
                        </a:spcAft>
                      </a:pPr>
                      <a:r>
                        <a:rPr sz="1050" b="0" i="0">
                          <a:solidFill>
                            <a:srgbClr val="161D26"/>
                          </a:solidFill>
                          <a:latin typeface="Consolas"/>
                        </a:rPr>
                        <a:t>python3 bench/run.py --mode profileonly --scenario netem</a:t>
                      </a:r>
                    </a:p>
                  </a:txBody>
                  <a:tcPr marL="64008" marR="64008" marT="18288" marB="18288" anchor="ctr">
                    <a:solidFill>
                      <a:srgbClr val="F3F7FB"/>
                    </a:solidFill>
                  </a:tcPr>
                </a:tc>
                <a:tc>
                  <a:txBody>
                    <a:bodyPr wrap="square"/>
                    <a:lstStyle/>
                    <a:p>
                      <a:pPr algn="l">
                        <a:lnSpc>
                          <a:spcPct val="105000"/>
                        </a:lnSpc>
                        <a:spcBef>
                          <a:spcPts val="0"/>
                        </a:spcBef>
                        <a:spcAft>
                          <a:spcPts val="0"/>
                        </a:spcAft>
                      </a:pPr>
                      <a:r>
                        <a:rPr sz="1050" b="0" i="0">
                          <a:solidFill>
                            <a:srgbClr val="161D26"/>
                          </a:solidFill>
                          <a:latin typeface="Segoe UI"/>
                        </a:rPr>
                        <a:t>The offline-profiling ablation: repartitions like dynamic but freezes telemetry at the first reading</a:t>
                      </a:r>
                    </a:p>
                  </a:txBody>
                  <a:tcPr marL="64008" marR="64008" marT="18288" marB="18288" anchor="ctr">
                    <a:solidFill>
                      <a:srgbClr val="F3F7FB"/>
                    </a:solidFill>
                  </a:tcPr>
                </a:tc>
              </a:tr>
              <a:tr h="502920">
                <a:tc>
                  <a:txBody>
                    <a:bodyPr wrap="square"/>
                    <a:lstStyle/>
                    <a:p>
                      <a:pPr>
                        <a:lnSpc>
                          <a:spcPct val="105000"/>
                        </a:lnSpc>
                        <a:spcBef>
                          <a:spcPts val="0"/>
                        </a:spcBef>
                        <a:spcAft>
                          <a:spcPts val="0"/>
                        </a:spcAft>
                      </a:pPr>
                      <a:r>
                        <a:rPr sz="1050" b="0" i="0">
                          <a:solidFill>
                            <a:srgbClr val="161D26"/>
                          </a:solidFill>
                          <a:latin typeface="Consolas"/>
                        </a:rPr>
                        <a:t>python3 bench/plot.py</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1050" b="0" i="0">
                          <a:solidFill>
                            <a:srgbClr val="161D26"/>
                          </a:solidFill>
                          <a:latin typeface="Segoe UI"/>
                        </a:rPr>
                        <a:t>baseline.png, netem.png, thermal.png, failure.png, combo.png, summary.png</a:t>
                      </a:r>
                    </a:p>
                  </a:txBody>
                  <a:tcPr marL="64008" marR="64008" marT="18288" marB="18288" anchor="ctr">
                    <a:solidFill>
                      <a:srgbClr val="FFFFFF"/>
                    </a:solidFill>
                  </a:tcPr>
                </a:tc>
              </a:tr>
              <a:tr h="502920">
                <a:tc>
                  <a:txBody>
                    <a:bodyPr wrap="square"/>
                    <a:lstStyle/>
                    <a:p>
                      <a:pPr>
                        <a:lnSpc>
                          <a:spcPct val="105000"/>
                        </a:lnSpc>
                        <a:spcBef>
                          <a:spcPts val="0"/>
                        </a:spcBef>
                        <a:spcAft>
                          <a:spcPts val="0"/>
                        </a:spcAft>
                      </a:pPr>
                      <a:r>
                        <a:rPr sz="1050" b="0" i="0">
                          <a:solidFill>
                            <a:srgbClr val="161D26"/>
                          </a:solidFill>
                          <a:latin typeface="Consolas"/>
                        </a:rPr>
                        <a:t>python3 bench/run.py --sweep-hysteresis netem</a:t>
                      </a:r>
                    </a:p>
                  </a:txBody>
                  <a:tcPr marL="64008" marR="64008" marT="18288" marB="18288" anchor="ctr">
                    <a:solidFill>
                      <a:srgbClr val="F3F7FB"/>
                    </a:solidFill>
                  </a:tcPr>
                </a:tc>
                <a:tc>
                  <a:txBody>
                    <a:bodyPr wrap="square"/>
                    <a:lstStyle/>
                    <a:p>
                      <a:pPr algn="l">
                        <a:lnSpc>
                          <a:spcPct val="105000"/>
                        </a:lnSpc>
                        <a:spcBef>
                          <a:spcPts val="0"/>
                        </a:spcBef>
                        <a:spcAft>
                          <a:spcPts val="0"/>
                        </a:spcAft>
                      </a:pPr>
                      <a:r>
                        <a:rPr sz="1050" b="0" i="0">
                          <a:solidFill>
                            <a:srgbClr val="161D26"/>
                          </a:solidFill>
                          <a:latin typeface="Segoe UI"/>
                        </a:rPr>
                        <a:t>δ ∈ {0.05, 0.30} × τ ∈ {10 s, 60 s} grid → hysteresis_sweep.json</a:t>
                      </a:r>
                    </a:p>
                  </a:txBody>
                  <a:tcPr marL="64008" marR="64008" marT="18288" marB="18288" anchor="ctr">
                    <a:solidFill>
                      <a:srgbClr val="F3F7FB"/>
                    </a:solidFill>
                  </a:tcPr>
                </a:tc>
              </a:tr>
              <a:tr h="502920">
                <a:tc>
                  <a:txBody>
                    <a:bodyPr wrap="square"/>
                    <a:lstStyle/>
                    <a:p>
                      <a:pPr>
                        <a:lnSpc>
                          <a:spcPct val="105000"/>
                        </a:lnSpc>
                        <a:spcBef>
                          <a:spcPts val="0"/>
                        </a:spcBef>
                        <a:spcAft>
                          <a:spcPts val="0"/>
                        </a:spcAft>
                      </a:pPr>
                      <a:r>
                        <a:rPr sz="1050" b="0" i="0">
                          <a:solidFill>
                            <a:srgbClr val="161D26"/>
                          </a:solidFill>
                          <a:latin typeface="Consolas"/>
                        </a:rPr>
                        <a:t>python3 bench/plot_sweep.py</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1050" b="0" i="0">
                          <a:solidFill>
                            <a:srgbClr val="161D26"/>
                          </a:solidFill>
                          <a:latin typeface="Segoe UI"/>
                        </a:rPr>
                        <a:t>hysteresis_sweep.png</a:t>
                      </a:r>
                    </a:p>
                  </a:txBody>
                  <a:tcPr marL="64008" marR="64008" marT="18288" marB="18288" anchor="ctr">
                    <a:solidFill>
                      <a:srgbClr val="FFFFFF"/>
                    </a:solidFill>
                  </a:tcPr>
                </a:tc>
              </a:tr>
              <a:tr h="502920">
                <a:tc>
                  <a:txBody>
                    <a:bodyPr wrap="square"/>
                    <a:lstStyle/>
                    <a:p>
                      <a:pPr>
                        <a:lnSpc>
                          <a:spcPct val="105000"/>
                        </a:lnSpc>
                        <a:spcBef>
                          <a:spcPts val="0"/>
                        </a:spcBef>
                        <a:spcAft>
                          <a:spcPts val="0"/>
                        </a:spcAft>
                      </a:pPr>
                      <a:r>
                        <a:rPr sz="1050" b="0" i="0">
                          <a:solidFill>
                            <a:srgbClr val="161D26"/>
                          </a:solidFill>
                          <a:latin typeface="Consolas"/>
                        </a:rPr>
                        <a:t>python3 bench/fidelity.py</a:t>
                      </a:r>
                    </a:p>
                  </a:txBody>
                  <a:tcPr marL="64008" marR="64008" marT="18288" marB="18288" anchor="ctr">
                    <a:solidFill>
                      <a:srgbClr val="F3F7FB"/>
                    </a:solidFill>
                  </a:tcPr>
                </a:tc>
                <a:tc>
                  <a:txBody>
                    <a:bodyPr wrap="square"/>
                    <a:lstStyle/>
                    <a:p>
                      <a:pPr algn="l">
                        <a:lnSpc>
                          <a:spcPct val="105000"/>
                        </a:lnSpc>
                        <a:spcBef>
                          <a:spcPts val="0"/>
                        </a:spcBef>
                        <a:spcAft>
                          <a:spcPts val="0"/>
                        </a:spcAft>
                      </a:pPr>
                      <a:r>
                        <a:rPr sz="1050" b="0" i="0">
                          <a:solidFill>
                            <a:srgbClr val="161D26"/>
                          </a:solidFill>
                          <a:latin typeface="Segoe UI"/>
                        </a:rPr>
                        <a:t>fidelity.png - predicted vs measured bottleneck cost; needs no new run</a:t>
                      </a:r>
                    </a:p>
                  </a:txBody>
                  <a:tcPr marL="64008" marR="64008" marT="18288" marB="18288" anchor="ctr">
                    <a:solidFill>
                      <a:srgbClr val="F3F7FB"/>
                    </a:solidFill>
                  </a:tcPr>
                </a:tc>
              </a:tr>
              <a:tr h="502920">
                <a:tc>
                  <a:txBody>
                    <a:bodyPr wrap="square"/>
                    <a:lstStyle/>
                    <a:p>
                      <a:pPr>
                        <a:lnSpc>
                          <a:spcPct val="105000"/>
                        </a:lnSpc>
                        <a:spcBef>
                          <a:spcPts val="0"/>
                        </a:spcBef>
                        <a:spcAft>
                          <a:spcPts val="0"/>
                        </a:spcAft>
                      </a:pPr>
                      <a:r>
                        <a:rPr sz="1050" b="0" i="0">
                          <a:solidFill>
                            <a:srgbClr val="161D26"/>
                          </a:solidFill>
                          <a:latin typeface="Consolas"/>
                        </a:rPr>
                        <a:t>python3 bench/verify_gpt2.py</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1050" b="0" i="0">
                          <a:solidFill>
                            <a:srgbClr val="161D26"/>
                          </a:solidFill>
                          <a:latin typeface="Segoe UI"/>
                        </a:rPr>
                        <a:t>Prints MATCH on token-identical distributed vs single-process output</a:t>
                      </a:r>
                    </a:p>
                  </a:txBody>
                  <a:tcPr marL="64008" marR="64008" marT="18288" marB="18288" anchor="ctr">
                    <a:solidFill>
                      <a:srgbClr val="FFFFFF"/>
                    </a:solidFill>
                  </a:tcPr>
                </a:tc>
              </a:tr>
            </a:tbl>
          </a:graphicData>
        </a:graphic>
      </p:graphicFrame>
      <p:sp>
        <p:nvSpPr>
          <p:cNvPr id="7" name="TextBox 6"/>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8" name="TextBox 7"/>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2487168"/>
            <a:ext cx="9144000" cy="457200"/>
          </a:xfrm>
          <a:prstGeom prst="rect">
            <a:avLst/>
          </a:prstGeom>
          <a:noFill/>
        </p:spPr>
        <p:txBody>
          <a:bodyPr wrap="square" lIns="0" rIns="0" tIns="0" bIns="0" anchor="t">
            <a:spAutoFit/>
          </a:bodyPr>
          <a:lstStyle/>
          <a:p>
            <a:pPr algn="l">
              <a:lnSpc>
                <a:spcPct val="115000"/>
              </a:lnSpc>
              <a:spcBef>
                <a:spcPts val="0"/>
              </a:spcBef>
              <a:spcAft>
                <a:spcPts val="400"/>
              </a:spcAft>
            </a:pPr>
            <a:r>
              <a:rPr sz="1500" b="1" i="0">
                <a:solidFill>
                  <a:srgbClr val="2A78D6"/>
                </a:solidFill>
                <a:latin typeface="Segoe UI"/>
              </a:rPr>
              <a:t>REAL HARDWARE</a:t>
            </a:r>
          </a:p>
        </p:txBody>
      </p:sp>
      <p:sp>
        <p:nvSpPr>
          <p:cNvPr id="5" name="TextBox 4"/>
          <p:cNvSpPr txBox="1"/>
          <p:nvPr/>
        </p:nvSpPr>
        <p:spPr>
          <a:xfrm>
            <a:off x="1371600" y="2926080"/>
            <a:ext cx="9692640" cy="914400"/>
          </a:xfrm>
          <a:prstGeom prst="rect">
            <a:avLst/>
          </a:prstGeom>
          <a:noFill/>
        </p:spPr>
        <p:txBody>
          <a:bodyPr wrap="square" lIns="0" rIns="0" tIns="0" bIns="0" anchor="t">
            <a:spAutoFit/>
          </a:bodyPr>
          <a:lstStyle/>
          <a:p>
            <a:pPr algn="l">
              <a:lnSpc>
                <a:spcPct val="115000"/>
              </a:lnSpc>
              <a:spcBef>
                <a:spcPts val="0"/>
              </a:spcBef>
              <a:spcAft>
                <a:spcPts val="0"/>
              </a:spcAft>
            </a:pPr>
            <a:r>
              <a:rPr sz="3800" b="1" i="0">
                <a:solidFill>
                  <a:srgbClr val="0E2A47"/>
                </a:solidFill>
                <a:latin typeface="Segoe UI"/>
              </a:rPr>
              <a:t>Beyond the single-host demo</a:t>
            </a:r>
          </a:p>
        </p:txBody>
      </p:sp>
      <p:sp>
        <p:nvSpPr>
          <p:cNvPr id="6" name="TextBox 5"/>
          <p:cNvSpPr txBox="1"/>
          <p:nvPr/>
        </p:nvSpPr>
        <p:spPr>
          <a:xfrm>
            <a:off x="1371600" y="3977639"/>
            <a:ext cx="8778240" cy="822960"/>
          </a:xfrm>
          <a:prstGeom prst="rect">
            <a:avLst/>
          </a:prstGeom>
          <a:noFill/>
        </p:spPr>
        <p:txBody>
          <a:bodyPr wrap="square" lIns="0" rIns="0" tIns="0" bIns="0" anchor="t">
            <a:spAutoFit/>
          </a:bodyPr>
          <a:lstStyle/>
          <a:p>
            <a:pPr algn="l">
              <a:lnSpc>
                <a:spcPct val="130000"/>
              </a:lnSpc>
              <a:spcBef>
                <a:spcPts val="0"/>
              </a:spcBef>
              <a:spcAft>
                <a:spcPts val="600"/>
              </a:spcAft>
            </a:pPr>
            <a:r>
              <a:rPr sz="1550" b="0" i="0">
                <a:solidFill>
                  <a:srgbClr val="5E6E7E"/>
                </a:solidFill>
                <a:latin typeface="Segoe UI"/>
              </a:rPr>
              <a:t>The same code on physical machines: multi-laptop k3s, and a single GPU box.</a:t>
            </a:r>
          </a:p>
        </p:txBody>
      </p:sp>
      <p:sp>
        <p:nvSpPr>
          <p:cNvPr id="7" name="TextBox 6"/>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8" name="TextBox 7"/>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REAL HARDWARE</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Path A — a real multi-machine k3s cluster</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11057839" cy="640080"/>
          </a:xfrm>
          <a:prstGeom prst="rect">
            <a:avLst/>
          </a:prstGeom>
          <a:noFill/>
        </p:spPr>
        <p:txBody>
          <a:bodyPr wrap="square" lIns="0" rIns="0" tIns="0" bIns="0" anchor="t">
            <a:spAutoFit/>
          </a:bodyPr>
          <a:lstStyle/>
          <a:p>
            <a:pPr algn="l">
              <a:lnSpc>
                <a:spcPct val="120000"/>
              </a:lnSpc>
              <a:spcBef>
                <a:spcPts val="0"/>
              </a:spcBef>
              <a:spcAft>
                <a:spcPts val="0"/>
              </a:spcAft>
            </a:pPr>
            <a:r>
              <a:rPr sz="1350" b="0" i="1">
                <a:solidFill>
                  <a:srgbClr val="5E6E7E"/>
                </a:solidFill>
                <a:latin typeface="Segoe UI"/>
              </a:rPr>
              <a:t>Real inter-node latency and real thermal telemetry. Two machines cover netem and thermal; a third is needed for the failure scenario.</a:t>
            </a:r>
          </a:p>
        </p:txBody>
      </p:sp>
      <p:sp>
        <p:nvSpPr>
          <p:cNvPr id="6" name="Rectangle 5"/>
          <p:cNvSpPr/>
          <p:nvPr/>
        </p:nvSpPr>
        <p:spPr>
          <a:xfrm>
            <a:off x="566928" y="2240280"/>
            <a:ext cx="5852160" cy="237744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13232" y="2359152"/>
            <a:ext cx="5559552" cy="2112264"/>
          </a:xfrm>
          <a:prstGeom prst="rect">
            <a:avLst/>
          </a:prstGeom>
          <a:noFill/>
        </p:spPr>
        <p:txBody>
          <a:bodyPr wrap="square" lIns="0" rIns="0" tIns="0" bIns="0" anchor="t">
            <a:spAutoFit/>
          </a:bodyPr>
          <a:lstStyle/>
          <a:p>
            <a:pPr algn="l">
              <a:lnSpc>
                <a:spcPct val="116000"/>
              </a:lnSpc>
              <a:spcBef>
                <a:spcPts val="0"/>
              </a:spcBef>
              <a:spcAft>
                <a:spcPts val="0"/>
              </a:spcAft>
            </a:pPr>
            <a:r>
              <a:rPr sz="1000" b="0" i="1">
                <a:solidFill>
                  <a:srgbClr val="6B7C8B"/>
                </a:solidFill>
                <a:latin typeface="Consolas"/>
              </a:rPr>
              <a:t># on the machine that becomes the k3s server</a:t>
            </a:r>
          </a:p>
          <a:p>
            <a:pPr algn="l">
              <a:lnSpc>
                <a:spcPct val="116000"/>
              </a:lnSpc>
              <a:spcBef>
                <a:spcPts val="0"/>
              </a:spcBef>
              <a:spcAft>
                <a:spcPts val="0"/>
              </a:spcAft>
            </a:pPr>
            <a:r>
              <a:rPr sz="1000" b="0" i="0">
                <a:solidFill>
                  <a:srgbClr val="1F2933"/>
                </a:solidFill>
                <a:latin typeface="Consolas"/>
              </a:rPr>
              <a:t>./scripts/join-node.sh server</a:t>
            </a:r>
          </a:p>
          <a:p>
            <a:pPr algn="l">
              <a:lnSpc>
                <a:spcPct val="116000"/>
              </a:lnSpc>
              <a:spcBef>
                <a:spcPts val="0"/>
              </a:spcBef>
              <a:spcAft>
                <a:spcPts val="0"/>
              </a:spcAft>
            </a:pPr>
            <a:r>
              <a:rPr sz="1000" b="0" i="1">
                <a:solidFill>
                  <a:srgbClr val="6B7C8B"/>
                </a:solidFill>
                <a:latin typeface="Consolas"/>
              </a:rPr>
              <a:t>#   installs k3s (or the raw binary if there is no systemd)</a:t>
            </a:r>
          </a:p>
          <a:p>
            <a:pPr algn="l">
              <a:lnSpc>
                <a:spcPct val="116000"/>
              </a:lnSpc>
              <a:spcBef>
                <a:spcPts val="0"/>
              </a:spcBef>
              <a:spcAft>
                <a:spcPts val="0"/>
              </a:spcAft>
            </a:pPr>
            <a:r>
              <a:rPr sz="1000" b="0" i="1">
                <a:solidFill>
                  <a:srgbClr val="6B7C8B"/>
                </a:solidFill>
                <a:latin typeface="Consolas"/>
              </a:rPr>
              <a:t>#   installs nvidia-container-toolkit if a GPU is present</a:t>
            </a:r>
          </a:p>
          <a:p>
            <a:pPr algn="l">
              <a:lnSpc>
                <a:spcPct val="116000"/>
              </a:lnSpc>
              <a:spcBef>
                <a:spcPts val="0"/>
              </a:spcBef>
              <a:spcAft>
                <a:spcPts val="0"/>
              </a:spcAft>
            </a:pPr>
            <a:r>
              <a:rPr sz="1000" b="0" i="1">
                <a:solidFill>
                  <a:srgbClr val="6B7C8B"/>
                </a:solidFill>
                <a:latin typeface="Consolas"/>
              </a:rPr>
              <a:t>#   labels the node and prints the exact agent command</a:t>
            </a:r>
          </a:p>
          <a:p>
            <a:pPr algn="l">
              <a:lnSpc>
                <a:spcPct val="116000"/>
              </a:lnSpc>
              <a:spcBef>
                <a:spcPts val="0"/>
              </a:spcBef>
              <a:spcAft>
                <a:spcPts val="0"/>
              </a:spcAft>
            </a:pPr>
            <a:r>
              <a:rPr sz="1000" b="0" i="0">
                <a:solidFill>
                  <a:srgbClr val="1F2933"/>
                </a:solidFill>
                <a:latin typeface="Consolas"/>
              </a:rPr>
              <a:t> </a:t>
            </a:r>
          </a:p>
          <a:p>
            <a:pPr algn="l">
              <a:lnSpc>
                <a:spcPct val="116000"/>
              </a:lnSpc>
              <a:spcBef>
                <a:spcPts val="0"/>
              </a:spcBef>
              <a:spcAft>
                <a:spcPts val="0"/>
              </a:spcAft>
            </a:pPr>
            <a:r>
              <a:rPr sz="1000" b="0" i="1">
                <a:solidFill>
                  <a:srgbClr val="6B7C8B"/>
                </a:solidFill>
                <a:latin typeface="Consolas"/>
              </a:rPr>
              <a:t># on every other machine</a:t>
            </a:r>
          </a:p>
          <a:p>
            <a:pPr algn="l">
              <a:lnSpc>
                <a:spcPct val="116000"/>
              </a:lnSpc>
              <a:spcBef>
                <a:spcPts val="0"/>
              </a:spcBef>
              <a:spcAft>
                <a:spcPts val="0"/>
              </a:spcAft>
            </a:pPr>
            <a:r>
              <a:rPr sz="1000" b="0" i="0">
                <a:solidFill>
                  <a:srgbClr val="1F2933"/>
                </a:solidFill>
                <a:latin typeface="Consolas"/>
              </a:rPr>
              <a:t>./scripts/join-node.sh agent &lt;server-ip&gt; &lt;node-token&gt;</a:t>
            </a:r>
          </a:p>
          <a:p>
            <a:pPr algn="l">
              <a:lnSpc>
                <a:spcPct val="116000"/>
              </a:lnSpc>
              <a:spcBef>
                <a:spcPts val="0"/>
              </a:spcBef>
              <a:spcAft>
                <a:spcPts val="0"/>
              </a:spcAft>
            </a:pPr>
            <a:r>
              <a:rPr sz="1000" b="0" i="0">
                <a:solidFill>
                  <a:srgbClr val="1F2933"/>
                </a:solidFill>
                <a:latin typeface="Consolas"/>
              </a:rPr>
              <a:t> </a:t>
            </a:r>
          </a:p>
          <a:p>
            <a:pPr algn="l">
              <a:lnSpc>
                <a:spcPct val="116000"/>
              </a:lnSpc>
              <a:spcBef>
                <a:spcPts val="0"/>
              </a:spcBef>
              <a:spcAft>
                <a:spcPts val="0"/>
              </a:spcAft>
            </a:pPr>
            <a:r>
              <a:rPr sz="1000" b="0" i="1">
                <a:solidFill>
                  <a:srgbClr val="6B7C8B"/>
                </a:solidFill>
                <a:latin typeface="Consolas"/>
              </a:rPr>
              <a:t># back on the server, once all nodes are joined</a:t>
            </a:r>
          </a:p>
          <a:p>
            <a:pPr algn="l">
              <a:lnSpc>
                <a:spcPct val="116000"/>
              </a:lnSpc>
              <a:spcBef>
                <a:spcPts val="0"/>
              </a:spcBef>
              <a:spcAft>
                <a:spcPts val="0"/>
              </a:spcAft>
            </a:pPr>
            <a:r>
              <a:rPr sz="1000" b="0" i="0">
                <a:solidFill>
                  <a:srgbClr val="1F2933"/>
                </a:solidFill>
                <a:latin typeface="Consolas"/>
              </a:rPr>
              <a:t>./scripts/deploy-real-hardware.sh</a:t>
            </a:r>
          </a:p>
        </p:txBody>
      </p:sp>
      <p:sp>
        <p:nvSpPr>
          <p:cNvPr id="8" name="TextBox 7"/>
          <p:cNvSpPr txBox="1"/>
          <p:nvPr/>
        </p:nvSpPr>
        <p:spPr>
          <a:xfrm>
            <a:off x="566928" y="4846320"/>
            <a:ext cx="5852160" cy="1508759"/>
          </a:xfrm>
          <a:prstGeom prst="rect">
            <a:avLst/>
          </a:prstGeom>
          <a:noFill/>
        </p:spPr>
        <p:txBody>
          <a:bodyPr wrap="square" lIns="0" rIns="0" tIns="0" bIns="0" anchor="t">
            <a:spAutoFit/>
          </a:bodyPr>
          <a:lstStyle/>
          <a:p>
            <a:pPr algn="l" marL="274320" indent="-274320">
              <a:lnSpc>
                <a:spcPct val="120000"/>
              </a:lnSpc>
              <a:spcBef>
                <a:spcPts val="0"/>
              </a:spcBef>
              <a:spcAft>
                <a:spcPts val="800"/>
              </a:spcAft>
            </a:pPr>
            <a:r>
              <a:rPr sz="1200" b="0" i="0">
                <a:solidFill>
                  <a:srgbClr val="161D26"/>
                </a:solidFill>
                <a:latin typeface="Segoe UI"/>
              </a:rPr>
              <a:t>▪  Builds and distributes images via a local registry (multi-node) or imports straight into containerd (single node).</a:t>
            </a:r>
          </a:p>
          <a:p>
            <a:pPr algn="l" marL="274320" indent="-274320">
              <a:lnSpc>
                <a:spcPct val="120000"/>
              </a:lnSpc>
              <a:spcBef>
                <a:spcPts val="0"/>
              </a:spcBef>
              <a:spcAft>
                <a:spcPts val="800"/>
              </a:spcAft>
            </a:pPr>
            <a:r>
              <a:rPr sz="1200" b="0" i="0">
                <a:solidFill>
                  <a:srgbClr val="2C9355"/>
                </a:solidFill>
                <a:latin typeface="Segoe UI"/>
              </a:rPr>
              <a:t>▪  Auto-selects </a:t>
            </a:r>
            <a:r>
              <a:rPr sz="1200" b="1" i="0">
                <a:solidFill>
                  <a:srgbClr val="2C9355"/>
                </a:solidFill>
                <a:latin typeface="Segoe UI"/>
              </a:rPr>
              <a:t>GPU_MODE=nvml</a:t>
            </a:r>
            <a:r>
              <a:rPr sz="1200" b="0" i="0">
                <a:solidFill>
                  <a:srgbClr val="2C9355"/>
                </a:solidFill>
                <a:latin typeface="Segoe UI"/>
              </a:rPr>
              <a:t> on GPU-labeled nodes and </a:t>
            </a:r>
            <a:r>
              <a:rPr sz="1200" b="1" i="0">
                <a:solidFill>
                  <a:srgbClr val="2C9355"/>
                </a:solidFill>
                <a:latin typeface="Segoe UI"/>
              </a:rPr>
              <a:t>GPU_MODE=cputherm</a:t>
            </a:r>
            <a:r>
              <a:rPr sz="1200" b="0" i="0">
                <a:solidFill>
                  <a:srgbClr val="2C9355"/>
                </a:solidFill>
                <a:latin typeface="Segoe UI"/>
              </a:rPr>
              <a:t> on GPU-less laptops - which reads real /sys/class/thermal, so throttling observed there is genuine hardware.</a:t>
            </a:r>
          </a:p>
        </p:txBody>
      </p:sp>
      <p:graphicFrame>
        <p:nvGraphicFramePr>
          <p:cNvPr id="9" name="Table 8"/>
          <p:cNvGraphicFramePr>
            <a:graphicFrameLocks noGrp="1"/>
          </p:cNvGraphicFramePr>
          <p:nvPr/>
        </p:nvGraphicFramePr>
        <p:xfrm>
          <a:off x="6830568" y="2240280"/>
          <a:ext cx="5349240" cy="3950208"/>
        </p:xfrm>
        <a:graphic>
          <a:graphicData uri="http://schemas.openxmlformats.org/drawingml/2006/table">
            <a:tbl>
              <a:tblPr firstRow="1">
                <a:tableStyleId>{5C22544A-7EE6-4342-B048-85BDC9FD1C3A}</a:tableStyleId>
              </a:tblPr>
              <a:tblGrid>
                <a:gridCol w="2148840"/>
                <a:gridCol w="3200400"/>
              </a:tblGrid>
              <a:tr h="292608">
                <a:tc>
                  <a:txBody>
                    <a:bodyPr wrap="square"/>
                    <a:lstStyle/>
                    <a:p>
                      <a:pPr>
                        <a:lnSpc>
                          <a:spcPct val="105000"/>
                        </a:lnSpc>
                        <a:spcBef>
                          <a:spcPts val="0"/>
                        </a:spcBef>
                        <a:spcAft>
                          <a:spcPts val="0"/>
                        </a:spcAft>
                      </a:pPr>
                      <a:r>
                        <a:rPr sz="950" b="1" i="0">
                          <a:solidFill>
                            <a:srgbClr val="FFFFFF"/>
                          </a:solidFill>
                          <a:latin typeface="Segoe UI"/>
                        </a:rPr>
                        <a:t>Requirement</a:t>
                      </a:r>
                    </a:p>
                  </a:txBody>
                  <a:tcPr marL="64008" marR="64008" marT="18288" marB="18288" anchor="ctr">
                    <a:solidFill>
                      <a:srgbClr val="0E2A47"/>
                    </a:solidFill>
                  </a:tcPr>
                </a:tc>
                <a:tc>
                  <a:txBody>
                    <a:bodyPr wrap="square"/>
                    <a:lstStyle/>
                    <a:p>
                      <a:pPr algn="l">
                        <a:lnSpc>
                          <a:spcPct val="105000"/>
                        </a:lnSpc>
                        <a:spcBef>
                          <a:spcPts val="0"/>
                        </a:spcBef>
                        <a:spcAft>
                          <a:spcPts val="0"/>
                        </a:spcAft>
                      </a:pPr>
                      <a:r>
                        <a:rPr sz="950" b="1" i="0">
                          <a:solidFill>
                            <a:srgbClr val="FFFFFF"/>
                          </a:solidFill>
                          <a:latin typeface="Segoe UI"/>
                        </a:rPr>
                        <a:t>Why</a:t>
                      </a:r>
                    </a:p>
                  </a:txBody>
                  <a:tcPr marL="64008" marR="64008" marT="18288" marB="18288" anchor="ctr">
                    <a:solidFill>
                      <a:srgbClr val="0E2A47"/>
                    </a:solidFill>
                  </a:tcPr>
                </a:tc>
              </a:tr>
              <a:tr h="731520">
                <a:tc>
                  <a:txBody>
                    <a:bodyPr wrap="square"/>
                    <a:lstStyle/>
                    <a:p>
                      <a:pPr>
                        <a:lnSpc>
                          <a:spcPct val="105000"/>
                        </a:lnSpc>
                        <a:spcBef>
                          <a:spcPts val="0"/>
                        </a:spcBef>
                        <a:spcAft>
                          <a:spcPts val="0"/>
                        </a:spcAft>
                      </a:pPr>
                      <a:r>
                        <a:rPr sz="950" b="0" i="0">
                          <a:solidFill>
                            <a:srgbClr val="161D26"/>
                          </a:solidFill>
                          <a:latin typeface="Segoe UI"/>
                        </a:rPr>
                        <a:t>Same CPU architecture on every node</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950" b="0" i="0">
                          <a:solidFill>
                            <a:srgbClr val="161D26"/>
                          </a:solidFill>
                          <a:latin typeface="Segoe UI"/>
                        </a:rPr>
                        <a:t>One image tag cannot serve mixed arches; the deploy script fails fast rather than producing exec-format errors</a:t>
                      </a:r>
                    </a:p>
                  </a:txBody>
                  <a:tcPr marL="64008" marR="64008" marT="18288" marB="18288" anchor="ctr">
                    <a:solidFill>
                      <a:srgbClr val="FFFFFF"/>
                    </a:solidFill>
                  </a:tcPr>
                </a:tc>
              </a:tr>
              <a:tr h="731520">
                <a:tc>
                  <a:txBody>
                    <a:bodyPr wrap="square"/>
                    <a:lstStyle/>
                    <a:p>
                      <a:pPr>
                        <a:lnSpc>
                          <a:spcPct val="105000"/>
                        </a:lnSpc>
                        <a:spcBef>
                          <a:spcPts val="0"/>
                        </a:spcBef>
                        <a:spcAft>
                          <a:spcPts val="0"/>
                        </a:spcAft>
                      </a:pPr>
                      <a:r>
                        <a:rPr sz="950" b="0" i="0">
                          <a:solidFill>
                            <a:srgbClr val="161D26"/>
                          </a:solidFill>
                          <a:latin typeface="Segoe UI"/>
                        </a:rPr>
                        <a:t>/sys/kernel/btf/vmlinux on each node</a:t>
                      </a:r>
                    </a:p>
                  </a:txBody>
                  <a:tcPr marL="64008" marR="64008" marT="18288" marB="18288" anchor="ctr">
                    <a:solidFill>
                      <a:srgbClr val="F3F7FB"/>
                    </a:solidFill>
                  </a:tcPr>
                </a:tc>
                <a:tc>
                  <a:txBody>
                    <a:bodyPr wrap="square"/>
                    <a:lstStyle/>
                    <a:p>
                      <a:pPr algn="l">
                        <a:lnSpc>
                          <a:spcPct val="105000"/>
                        </a:lnSpc>
                        <a:spcBef>
                          <a:spcPts val="0"/>
                        </a:spcBef>
                        <a:spcAft>
                          <a:spcPts val="0"/>
                        </a:spcAft>
                      </a:pPr>
                      <a:r>
                        <a:rPr sz="950" b="0" i="0">
                          <a:solidFill>
                            <a:srgbClr val="161D26"/>
                          </a:solidFill>
                          <a:latin typeface="Segoe UI"/>
                        </a:rPr>
                        <a:t>CO-RE needs BTF. Without it the agent still runs but drops network telemetry (the thermal loop keeps working)</a:t>
                      </a:r>
                    </a:p>
                  </a:txBody>
                  <a:tcPr marL="64008" marR="64008" marT="18288" marB="18288" anchor="ctr">
                    <a:solidFill>
                      <a:srgbClr val="F3F7FB"/>
                    </a:solidFill>
                  </a:tcPr>
                </a:tc>
              </a:tr>
              <a:tr h="731520">
                <a:tc>
                  <a:txBody>
                    <a:bodyPr wrap="square"/>
                    <a:lstStyle/>
                    <a:p>
                      <a:pPr>
                        <a:lnSpc>
                          <a:spcPct val="105000"/>
                        </a:lnSpc>
                        <a:spcBef>
                          <a:spcPts val="0"/>
                        </a:spcBef>
                        <a:spcAft>
                          <a:spcPts val="0"/>
                        </a:spcAft>
                      </a:pPr>
                      <a:r>
                        <a:rPr sz="950" b="0" i="0">
                          <a:solidFill>
                            <a:srgbClr val="161D26"/>
                          </a:solidFill>
                          <a:latin typeface="Segoe UI"/>
                        </a:rPr>
                        <a:t>Firewall: 6443/tcp, 8472/udp, 10250/tcp, 5000/tcp</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950" b="0" i="0">
                          <a:solidFill>
                            <a:srgbClr val="161D26"/>
                          </a:solidFill>
                          <a:latin typeface="Segoe UI"/>
                        </a:rPr>
                        <a:t>API server, flannel VXLAN, kubelet, and the local image registry</a:t>
                      </a:r>
                    </a:p>
                  </a:txBody>
                  <a:tcPr marL="64008" marR="64008" marT="18288" marB="18288" anchor="ctr">
                    <a:solidFill>
                      <a:srgbClr val="FFFFFF"/>
                    </a:solidFill>
                  </a:tcPr>
                </a:tc>
              </a:tr>
              <a:tr h="731520">
                <a:tc>
                  <a:txBody>
                    <a:bodyPr wrap="square"/>
                    <a:lstStyle/>
                    <a:p>
                      <a:pPr>
                        <a:lnSpc>
                          <a:spcPct val="105000"/>
                        </a:lnSpc>
                        <a:spcBef>
                          <a:spcPts val="0"/>
                        </a:spcBef>
                        <a:spcAft>
                          <a:spcPts val="0"/>
                        </a:spcAft>
                      </a:pPr>
                      <a:r>
                        <a:rPr sz="950" b="0" i="0">
                          <a:solidFill>
                            <a:srgbClr val="161D26"/>
                          </a:solidFill>
                          <a:latin typeface="Segoe UI"/>
                        </a:rPr>
                        <a:t>A privileged container or a real VM</a:t>
                      </a:r>
                    </a:p>
                  </a:txBody>
                  <a:tcPr marL="64008" marR="64008" marT="18288" marB="18288" anchor="ctr">
                    <a:solidFill>
                      <a:srgbClr val="F3F7FB"/>
                    </a:solidFill>
                  </a:tcPr>
                </a:tc>
                <a:tc>
                  <a:txBody>
                    <a:bodyPr wrap="square"/>
                    <a:lstStyle/>
                    <a:p>
                      <a:pPr algn="l">
                        <a:lnSpc>
                          <a:spcPct val="105000"/>
                        </a:lnSpc>
                        <a:spcBef>
                          <a:spcPts val="0"/>
                        </a:spcBef>
                        <a:spcAft>
                          <a:spcPts val="0"/>
                        </a:spcAft>
                      </a:pPr>
                      <a:r>
                        <a:rPr sz="950" b="0" i="0">
                          <a:solidFill>
                            <a:srgbClr val="161D26"/>
                          </a:solidFill>
                          <a:latin typeface="Segoe UI"/>
                        </a:rPr>
                        <a:t>The node agent must load BPF programs; rootless or unprivileged containers cannot</a:t>
                      </a:r>
                    </a:p>
                  </a:txBody>
                  <a:tcPr marL="64008" marR="64008" marT="18288" marB="18288" anchor="ctr">
                    <a:solidFill>
                      <a:srgbClr val="F3F7FB"/>
                    </a:solidFill>
                  </a:tcPr>
                </a:tc>
              </a:tr>
              <a:tr h="731520">
                <a:tc>
                  <a:txBody>
                    <a:bodyPr wrap="square"/>
                    <a:lstStyle/>
                    <a:p>
                      <a:pPr>
                        <a:lnSpc>
                          <a:spcPct val="105000"/>
                        </a:lnSpc>
                        <a:spcBef>
                          <a:spcPts val="0"/>
                        </a:spcBef>
                        <a:spcAft>
                          <a:spcPts val="0"/>
                        </a:spcAft>
                      </a:pPr>
                      <a:r>
                        <a:rPr sz="950" b="0" i="0">
                          <a:solidFill>
                            <a:srgbClr val="161D26"/>
                          </a:solidFill>
                          <a:latin typeface="Segoe UI"/>
                        </a:rPr>
                        <a:t>node-role.kubernetes.io/control-plane</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950" b="0" i="0">
                          <a:solidFill>
                            <a:srgbClr val="161D26"/>
                          </a:solidFill>
                          <a:latin typeface="Segoe UI"/>
                        </a:rPr>
                        <a:t>Router and controller select on it with operator: Exists - k3s sets a different value than kind, which is why nodeSelector was replaced with nodeAffinity</a:t>
                      </a:r>
                    </a:p>
                  </a:txBody>
                  <a:tcPr marL="64008" marR="64008" marT="18288" marB="18288" anchor="ctr">
                    <a:solidFill>
                      <a:srgbClr val="FFFFFF"/>
                    </a:solidFill>
                  </a:tcPr>
                </a:tc>
              </a:tr>
            </a:tbl>
          </a:graphicData>
        </a:graphic>
      </p:graphicFrame>
      <p:sp>
        <p:nvSpPr>
          <p:cNvPr id="10" name="TextBox 9"/>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11" name="TextBox 10"/>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REAL HARDWARE</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Path B — one GPU machine, with or without K8s</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563624"/>
            <a:ext cx="11057839" cy="384048"/>
          </a:xfrm>
          <a:prstGeom prst="rect">
            <a:avLst/>
          </a:prstGeom>
          <a:noFill/>
        </p:spPr>
        <p:txBody>
          <a:bodyPr wrap="square" lIns="0" rIns="0" tIns="0" bIns="0" anchor="t">
            <a:spAutoFit/>
          </a:bodyPr>
          <a:lstStyle/>
          <a:p>
            <a:pPr algn="l">
              <a:lnSpc>
                <a:spcPct val="120000"/>
              </a:lnSpc>
              <a:spcBef>
                <a:spcPts val="0"/>
              </a:spcBef>
              <a:spcAft>
                <a:spcPts val="0"/>
              </a:spcAft>
            </a:pPr>
            <a:r>
              <a:rPr sz="1350" b="0" i="1">
                <a:solidFill>
                  <a:srgbClr val="5E6E7E"/>
                </a:solidFill>
                <a:latin typeface="Segoe UI"/>
              </a:rPr>
              <a:t>Worked example: a single NVIDIA L4.</a:t>
            </a:r>
          </a:p>
        </p:txBody>
      </p:sp>
      <p:sp>
        <p:nvSpPr>
          <p:cNvPr id="6" name="Rectangle 5"/>
          <p:cNvSpPr/>
          <p:nvPr/>
        </p:nvSpPr>
        <p:spPr>
          <a:xfrm>
            <a:off x="566928" y="2002536"/>
            <a:ext cx="5760720" cy="173736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2093976"/>
            <a:ext cx="550468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Kubernetes path</a:t>
            </a:r>
          </a:p>
        </p:txBody>
      </p:sp>
      <p:sp>
        <p:nvSpPr>
          <p:cNvPr id="8" name="TextBox 7"/>
          <p:cNvSpPr txBox="1"/>
          <p:nvPr/>
        </p:nvSpPr>
        <p:spPr>
          <a:xfrm>
            <a:off x="713232" y="2331720"/>
            <a:ext cx="5468112" cy="1261871"/>
          </a:xfrm>
          <a:prstGeom prst="rect">
            <a:avLst/>
          </a:prstGeom>
          <a:noFill/>
        </p:spPr>
        <p:txBody>
          <a:bodyPr wrap="square" lIns="0" rIns="0" tIns="0" bIns="0" anchor="t">
            <a:spAutoFit/>
          </a:bodyPr>
          <a:lstStyle/>
          <a:p>
            <a:pPr algn="l">
              <a:lnSpc>
                <a:spcPct val="116000"/>
              </a:lnSpc>
              <a:spcBef>
                <a:spcPts val="0"/>
              </a:spcBef>
              <a:spcAft>
                <a:spcPts val="0"/>
              </a:spcAft>
            </a:pPr>
            <a:r>
              <a:rPr sz="1000" b="0" i="1">
                <a:solidFill>
                  <a:srgbClr val="6B7C8B"/>
                </a:solidFill>
                <a:latin typeface="Consolas"/>
              </a:rPr>
              <a:t># with k3s: 3 shards share the one L4</a:t>
            </a:r>
          </a:p>
          <a:p>
            <a:pPr algn="l">
              <a:lnSpc>
                <a:spcPct val="116000"/>
              </a:lnSpc>
              <a:spcBef>
                <a:spcPts val="0"/>
              </a:spcBef>
              <a:spcAft>
                <a:spcPts val="0"/>
              </a:spcAft>
            </a:pPr>
            <a:r>
              <a:rPr sz="1000" b="0" i="0">
                <a:solidFill>
                  <a:srgbClr val="1F2933"/>
                </a:solidFill>
                <a:latin typeface="Consolas"/>
              </a:rPr>
              <a:t>./scripts/join-node.sh server</a:t>
            </a:r>
          </a:p>
          <a:p>
            <a:pPr algn="l">
              <a:lnSpc>
                <a:spcPct val="116000"/>
              </a:lnSpc>
              <a:spcBef>
                <a:spcPts val="0"/>
              </a:spcBef>
              <a:spcAft>
                <a:spcPts val="0"/>
              </a:spcAft>
            </a:pPr>
            <a:r>
              <a:rPr sz="1000" b="0" i="0">
                <a:solidFill>
                  <a:srgbClr val="1F2933"/>
                </a:solidFill>
                <a:latin typeface="Consolas"/>
              </a:rPr>
              <a:t>WITH_GPT2=1 ./scripts/deploy-real-hardware.sh</a:t>
            </a:r>
          </a:p>
          <a:p>
            <a:pPr algn="l">
              <a:lnSpc>
                <a:spcPct val="116000"/>
              </a:lnSpc>
              <a:spcBef>
                <a:spcPts val="0"/>
              </a:spcBef>
              <a:spcAft>
                <a:spcPts val="0"/>
              </a:spcAft>
            </a:pPr>
            <a:r>
              <a:rPr sz="1000" b="0" i="0">
                <a:solidFill>
                  <a:srgbClr val="1F2933"/>
                </a:solidFill>
                <a:latin typeface="Consolas"/>
              </a:rPr>
              <a:t>kubectl -n kubeedgeinfer delete ds keinfer-worker</a:t>
            </a:r>
          </a:p>
          <a:p>
            <a:pPr algn="l">
              <a:lnSpc>
                <a:spcPct val="116000"/>
              </a:lnSpc>
              <a:spcBef>
                <a:spcPts val="0"/>
              </a:spcBef>
              <a:spcAft>
                <a:spcPts val="0"/>
              </a:spcAft>
            </a:pPr>
            <a:r>
              <a:rPr sz="1000" b="0" i="0">
                <a:solidFill>
                  <a:srgbClr val="1F2933"/>
                </a:solidFill>
                <a:latin typeface="Consolas"/>
              </a:rPr>
              <a:t>kubectl apply -f deploy/manifests/workers-singlenode.yaml</a:t>
            </a:r>
          </a:p>
        </p:txBody>
      </p:sp>
      <p:sp>
        <p:nvSpPr>
          <p:cNvPr id="9" name="Rectangle 8"/>
          <p:cNvSpPr/>
          <p:nvPr/>
        </p:nvSpPr>
        <p:spPr>
          <a:xfrm>
            <a:off x="566928" y="3968496"/>
            <a:ext cx="5760720" cy="1417320"/>
          </a:xfrm>
          <a:prstGeom prst="rect">
            <a:avLst/>
          </a:prstGeom>
          <a:solidFill>
            <a:srgbClr val="F6F8FA"/>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4059935"/>
            <a:ext cx="5504688" cy="219456"/>
          </a:xfrm>
          <a:prstGeom prst="rect">
            <a:avLst/>
          </a:prstGeom>
          <a:noFill/>
        </p:spPr>
        <p:txBody>
          <a:bodyPr wrap="square" lIns="0" rIns="0" tIns="0" bIns="0" anchor="t">
            <a:spAutoFit/>
          </a:bodyPr>
          <a:lstStyle/>
          <a:p>
            <a:pPr algn="l">
              <a:lnSpc>
                <a:spcPct val="115000"/>
              </a:lnSpc>
              <a:spcBef>
                <a:spcPts val="0"/>
              </a:spcBef>
              <a:spcAft>
                <a:spcPts val="0"/>
              </a:spcAft>
            </a:pPr>
            <a:r>
              <a:rPr sz="950" b="1" i="0">
                <a:solidFill>
                  <a:srgbClr val="2A78D6"/>
                </a:solidFill>
                <a:latin typeface="Consolas"/>
              </a:rPr>
              <a:t>fallback path</a:t>
            </a:r>
          </a:p>
        </p:txBody>
      </p:sp>
      <p:sp>
        <p:nvSpPr>
          <p:cNvPr id="11" name="TextBox 10"/>
          <p:cNvSpPr txBox="1"/>
          <p:nvPr/>
        </p:nvSpPr>
        <p:spPr>
          <a:xfrm>
            <a:off x="713232" y="4297680"/>
            <a:ext cx="5468112" cy="941831"/>
          </a:xfrm>
          <a:prstGeom prst="rect">
            <a:avLst/>
          </a:prstGeom>
          <a:noFill/>
        </p:spPr>
        <p:txBody>
          <a:bodyPr wrap="square" lIns="0" rIns="0" tIns="0" bIns="0" anchor="t">
            <a:spAutoFit/>
          </a:bodyPr>
          <a:lstStyle/>
          <a:p>
            <a:pPr algn="l">
              <a:lnSpc>
                <a:spcPct val="116000"/>
              </a:lnSpc>
              <a:spcBef>
                <a:spcPts val="0"/>
              </a:spcBef>
              <a:spcAft>
                <a:spcPts val="0"/>
              </a:spcAft>
            </a:pPr>
            <a:r>
              <a:rPr sz="1000" b="0" i="1">
                <a:solidFill>
                  <a:srgbClr val="6B7C8B"/>
                </a:solidFill>
                <a:latin typeface="Consolas"/>
              </a:rPr>
              <a:t># no Kubernetes at all -- for unprivileged containers</a:t>
            </a:r>
          </a:p>
          <a:p>
            <a:pPr algn="l">
              <a:lnSpc>
                <a:spcPct val="116000"/>
              </a:lnSpc>
              <a:spcBef>
                <a:spcPts val="0"/>
              </a:spcBef>
              <a:spcAft>
                <a:spcPts val="0"/>
              </a:spcAft>
            </a:pPr>
            <a:r>
              <a:rPr sz="1000" b="0" i="0">
                <a:solidFill>
                  <a:srgbClr val="1F2933"/>
                </a:solidFill>
                <a:latin typeface="Consolas"/>
              </a:rPr>
              <a:t>./scripts/run-single-gpu.sh          # 3 shards, real GPT-2, CUDA</a:t>
            </a:r>
          </a:p>
          <a:p>
            <a:pPr algn="l">
              <a:lnSpc>
                <a:spcPct val="116000"/>
              </a:lnSpc>
              <a:spcBef>
                <a:spcPts val="0"/>
              </a:spcBef>
              <a:spcAft>
                <a:spcPts val="0"/>
              </a:spcAft>
            </a:pPr>
            <a:r>
              <a:rPr sz="1000" b="0" i="0">
                <a:solidFill>
                  <a:srgbClr val="1F2933"/>
                </a:solidFill>
                <a:latin typeface="Consolas"/>
              </a:rPr>
              <a:t>SHARDS=4 ./scripts/run-single-gpu.sh</a:t>
            </a:r>
          </a:p>
          <a:p>
            <a:pPr algn="l">
              <a:lnSpc>
                <a:spcPct val="116000"/>
              </a:lnSpc>
              <a:spcBef>
                <a:spcPts val="0"/>
              </a:spcBef>
              <a:spcAft>
                <a:spcPts val="0"/>
              </a:spcAft>
            </a:pPr>
            <a:r>
              <a:rPr sz="1000" b="0" i="0">
                <a:solidFill>
                  <a:srgbClr val="1F2933"/>
                </a:solidFill>
                <a:latin typeface="Consolas"/>
              </a:rPr>
              <a:t>BACKEND=sim ./scripts/run-single-gpu.sh</a:t>
            </a:r>
          </a:p>
        </p:txBody>
      </p:sp>
      <p:sp>
        <p:nvSpPr>
          <p:cNvPr id="12" name="Rectangle 11"/>
          <p:cNvSpPr/>
          <p:nvPr/>
        </p:nvSpPr>
        <p:spPr>
          <a:xfrm>
            <a:off x="566928" y="5522976"/>
            <a:ext cx="5760720" cy="54864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66928" y="5522976"/>
            <a:ext cx="50292" cy="548640"/>
          </a:xfrm>
          <a:prstGeom prst="rect">
            <a:avLst/>
          </a:prstGeom>
          <a:solidFill>
            <a:srgbClr val="D97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6384" y="5641848"/>
            <a:ext cx="5376672" cy="329184"/>
          </a:xfrm>
          <a:prstGeom prst="rect">
            <a:avLst/>
          </a:prstGeom>
          <a:noFill/>
        </p:spPr>
        <p:txBody>
          <a:bodyPr wrap="square" lIns="0" rIns="0" tIns="0" bIns="0" anchor="ctr">
            <a:spAutoFit/>
          </a:bodyPr>
          <a:lstStyle/>
          <a:p>
            <a:pPr algn="l">
              <a:lnSpc>
                <a:spcPct val="120000"/>
              </a:lnSpc>
              <a:spcBef>
                <a:spcPts val="0"/>
              </a:spcBef>
              <a:spcAft>
                <a:spcPts val="0"/>
              </a:spcAft>
            </a:pPr>
            <a:r>
              <a:rPr sz="1150" b="0" i="0">
                <a:solidFill>
                  <a:srgbClr val="161D26"/>
                </a:solidFill>
                <a:latin typeface="Segoe UI"/>
              </a:rPr>
              <a:t>Rented GPU boxes are often unprivileged containers where k3s cannot run at all. The fallback needs none of it.</a:t>
            </a:r>
          </a:p>
        </p:txBody>
      </p:sp>
      <p:graphicFrame>
        <p:nvGraphicFramePr>
          <p:cNvPr id="15" name="Table 14"/>
          <p:cNvGraphicFramePr>
            <a:graphicFrameLocks noGrp="1"/>
          </p:cNvGraphicFramePr>
          <p:nvPr/>
        </p:nvGraphicFramePr>
        <p:xfrm>
          <a:off x="6739128" y="2002536"/>
          <a:ext cx="5440679" cy="3035808"/>
        </p:xfrm>
        <a:graphic>
          <a:graphicData uri="http://schemas.openxmlformats.org/drawingml/2006/table">
            <a:tbl>
              <a:tblPr firstRow="1">
                <a:tableStyleId>{5C22544A-7EE6-4342-B048-85BDC9FD1C3A}</a:tableStyleId>
              </a:tblPr>
              <a:tblGrid>
                <a:gridCol w="3200399"/>
                <a:gridCol w="2240280"/>
              </a:tblGrid>
              <a:tr h="292608">
                <a:tc>
                  <a:txBody>
                    <a:bodyPr wrap="square"/>
                    <a:lstStyle/>
                    <a:p>
                      <a:pPr>
                        <a:lnSpc>
                          <a:spcPct val="105000"/>
                        </a:lnSpc>
                        <a:spcBef>
                          <a:spcPts val="0"/>
                        </a:spcBef>
                        <a:spcAft>
                          <a:spcPts val="0"/>
                        </a:spcAft>
                      </a:pPr>
                      <a:r>
                        <a:rPr sz="1000" b="1" i="0">
                          <a:solidFill>
                            <a:srgbClr val="FFFFFF"/>
                          </a:solidFill>
                          <a:latin typeface="Segoe UI"/>
                        </a:rPr>
                        <a:t>What one GPU box gives</a:t>
                      </a:r>
                    </a:p>
                  </a:txBody>
                  <a:tcPr marL="64008" marR="64008" marT="18288" marB="18288" anchor="ctr">
                    <a:solidFill>
                      <a:srgbClr val="0E2A47"/>
                    </a:solidFill>
                  </a:tcPr>
                </a:tc>
                <a:tc>
                  <a:txBody>
                    <a:bodyPr wrap="square"/>
                    <a:lstStyle/>
                    <a:p>
                      <a:pPr algn="l">
                        <a:lnSpc>
                          <a:spcPct val="105000"/>
                        </a:lnSpc>
                        <a:spcBef>
                          <a:spcPts val="0"/>
                        </a:spcBef>
                        <a:spcAft>
                          <a:spcPts val="0"/>
                        </a:spcAft>
                      </a:pPr>
                      <a:r>
                        <a:rPr sz="1000" b="1" i="0">
                          <a:solidFill>
                            <a:srgbClr val="FFFFFF"/>
                          </a:solidFill>
                          <a:latin typeface="Segoe UI"/>
                        </a:rPr>
                        <a:t>Yes / No</a:t>
                      </a:r>
                    </a:p>
                  </a:txBody>
                  <a:tcPr marL="64008" marR="64008" marT="18288" marB="18288" anchor="ctr">
                    <a:solidFill>
                      <a:srgbClr val="0E2A47"/>
                    </a:solidFill>
                  </a:tcPr>
                </a:tc>
              </a:tr>
              <a:tr h="457200">
                <a:tc>
                  <a:txBody>
                    <a:bodyPr wrap="square"/>
                    <a:lstStyle/>
                    <a:p>
                      <a:pPr>
                        <a:lnSpc>
                          <a:spcPct val="105000"/>
                        </a:lnSpc>
                        <a:spcBef>
                          <a:spcPts val="0"/>
                        </a:spcBef>
                        <a:spcAft>
                          <a:spcPts val="0"/>
                        </a:spcAft>
                      </a:pPr>
                      <a:r>
                        <a:rPr sz="1000" b="0" i="0">
                          <a:solidFill>
                            <a:srgbClr val="161D26"/>
                          </a:solidFill>
                          <a:latin typeface="Segoe UI"/>
                        </a:rPr>
                        <a:t>Real CUDA inference, real GPT-2 tokens</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1000" b="0" i="0">
                          <a:solidFill>
                            <a:srgbClr val="2C9355"/>
                          </a:solidFill>
                          <a:latin typeface="Segoe UI"/>
                        </a:rPr>
                        <a:t>Yes</a:t>
                      </a:r>
                    </a:p>
                  </a:txBody>
                  <a:tcPr marL="64008" marR="64008" marT="18288" marB="18288" anchor="ctr">
                    <a:solidFill>
                      <a:srgbClr val="FFFFFF"/>
                    </a:solidFill>
                  </a:tcPr>
                </a:tc>
              </a:tr>
              <a:tr h="457200">
                <a:tc>
                  <a:txBody>
                    <a:bodyPr wrap="square"/>
                    <a:lstStyle/>
                    <a:p>
                      <a:pPr>
                        <a:lnSpc>
                          <a:spcPct val="105000"/>
                        </a:lnSpc>
                        <a:spcBef>
                          <a:spcPts val="0"/>
                        </a:spcBef>
                        <a:spcAft>
                          <a:spcPts val="0"/>
                        </a:spcAft>
                      </a:pPr>
                      <a:r>
                        <a:rPr sz="1000" b="0" i="0">
                          <a:solidFill>
                            <a:srgbClr val="161D26"/>
                          </a:solidFill>
                          <a:latin typeface="Segoe UI"/>
                        </a:rPr>
                        <a:t>Real NVML thermal and throttle telemetry</a:t>
                      </a:r>
                    </a:p>
                  </a:txBody>
                  <a:tcPr marL="64008" marR="64008" marT="18288" marB="18288" anchor="ctr">
                    <a:solidFill>
                      <a:srgbClr val="F3F7FB"/>
                    </a:solidFill>
                  </a:tcPr>
                </a:tc>
                <a:tc>
                  <a:txBody>
                    <a:bodyPr wrap="square"/>
                    <a:lstStyle/>
                    <a:p>
                      <a:pPr algn="l">
                        <a:lnSpc>
                          <a:spcPct val="105000"/>
                        </a:lnSpc>
                        <a:spcBef>
                          <a:spcPts val="0"/>
                        </a:spcBef>
                        <a:spcAft>
                          <a:spcPts val="0"/>
                        </a:spcAft>
                      </a:pPr>
                      <a:r>
                        <a:rPr sz="1000" b="0" i="0">
                          <a:solidFill>
                            <a:srgbClr val="2C9355"/>
                          </a:solidFill>
                          <a:latin typeface="Segoe UI"/>
                        </a:rPr>
                        <a:t>Yes</a:t>
                      </a:r>
                    </a:p>
                  </a:txBody>
                  <a:tcPr marL="64008" marR="64008" marT="18288" marB="18288" anchor="ctr">
                    <a:solidFill>
                      <a:srgbClr val="F3F7FB"/>
                    </a:solidFill>
                  </a:tcPr>
                </a:tc>
              </a:tr>
              <a:tr h="457200">
                <a:tc>
                  <a:txBody>
                    <a:bodyPr wrap="square"/>
                    <a:lstStyle/>
                    <a:p>
                      <a:pPr>
                        <a:lnSpc>
                          <a:spcPct val="105000"/>
                        </a:lnSpc>
                        <a:spcBef>
                          <a:spcPts val="0"/>
                        </a:spcBef>
                        <a:spcAft>
                          <a:spcPts val="0"/>
                        </a:spcAft>
                      </a:pPr>
                      <a:r>
                        <a:rPr sz="1000" b="0" i="0">
                          <a:solidFill>
                            <a:srgbClr val="161D26"/>
                          </a:solidFill>
                          <a:latin typeface="Segoe UI"/>
                        </a:rPr>
                        <a:t>Pipeline parallelism, token-identical output</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1000" b="0" i="0">
                          <a:solidFill>
                            <a:srgbClr val="2C9355"/>
                          </a:solidFill>
                          <a:latin typeface="Segoe UI"/>
                        </a:rPr>
                        <a:t>Yes</a:t>
                      </a:r>
                    </a:p>
                  </a:txBody>
                  <a:tcPr marL="64008" marR="64008" marT="18288" marB="18288" anchor="ctr">
                    <a:solidFill>
                      <a:srgbClr val="FFFFFF"/>
                    </a:solidFill>
                  </a:tcPr>
                </a:tc>
              </a:tr>
              <a:tr h="457200">
                <a:tc>
                  <a:txBody>
                    <a:bodyPr wrap="square"/>
                    <a:lstStyle/>
                    <a:p>
                      <a:pPr>
                        <a:lnSpc>
                          <a:spcPct val="105000"/>
                        </a:lnSpc>
                        <a:spcBef>
                          <a:spcPts val="0"/>
                        </a:spcBef>
                        <a:spcAft>
                          <a:spcPts val="0"/>
                        </a:spcAft>
                      </a:pPr>
                      <a:r>
                        <a:rPr sz="1000" b="0" i="0">
                          <a:solidFill>
                            <a:srgbClr val="161D26"/>
                          </a:solidFill>
                          <a:latin typeface="Segoe UI"/>
                        </a:rPr>
                        <a:t>Real inter-node network latency</a:t>
                      </a:r>
                    </a:p>
                  </a:txBody>
                  <a:tcPr marL="64008" marR="64008" marT="18288" marB="18288" anchor="ctr">
                    <a:solidFill>
                      <a:srgbClr val="F3F7FB"/>
                    </a:solidFill>
                  </a:tcPr>
                </a:tc>
                <a:tc>
                  <a:txBody>
                    <a:bodyPr wrap="square"/>
                    <a:lstStyle/>
                    <a:p>
                      <a:pPr algn="l">
                        <a:lnSpc>
                          <a:spcPct val="105000"/>
                        </a:lnSpc>
                        <a:spcBef>
                          <a:spcPts val="0"/>
                        </a:spcBef>
                        <a:spcAft>
                          <a:spcPts val="0"/>
                        </a:spcAft>
                      </a:pPr>
                      <a:r>
                        <a:rPr sz="1000" b="0" i="0">
                          <a:solidFill>
                            <a:srgbClr val="C43D3D"/>
                          </a:solidFill>
                          <a:latin typeface="Segoe UI"/>
                        </a:rPr>
                        <a:t>No - every hop is loopback</a:t>
                      </a:r>
                    </a:p>
                  </a:txBody>
                  <a:tcPr marL="64008" marR="64008" marT="18288" marB="18288" anchor="ctr">
                    <a:solidFill>
                      <a:srgbClr val="F3F7FB"/>
                    </a:solidFill>
                  </a:tcPr>
                </a:tc>
              </a:tr>
              <a:tr h="457200">
                <a:tc>
                  <a:txBody>
                    <a:bodyPr wrap="square"/>
                    <a:lstStyle/>
                    <a:p>
                      <a:pPr>
                        <a:lnSpc>
                          <a:spcPct val="105000"/>
                        </a:lnSpc>
                        <a:spcBef>
                          <a:spcPts val="0"/>
                        </a:spcBef>
                        <a:spcAft>
                          <a:spcPts val="0"/>
                        </a:spcAft>
                      </a:pPr>
                      <a:r>
                        <a:rPr sz="1000" b="0" i="0">
                          <a:solidFill>
                            <a:srgbClr val="161D26"/>
                          </a:solidFill>
                          <a:latin typeface="Segoe UI"/>
                        </a:rPr>
                        <a:t>Cross-node repartitioning being useful</a:t>
                      </a:r>
                    </a:p>
                  </a:txBody>
                  <a:tcPr marL="64008" marR="64008" marT="18288" marB="18288" anchor="ctr">
                    <a:solidFill>
                      <a:srgbClr val="FFFFFF"/>
                    </a:solidFill>
                  </a:tcPr>
                </a:tc>
                <a:tc>
                  <a:txBody>
                    <a:bodyPr wrap="square"/>
                    <a:lstStyle/>
                    <a:p>
                      <a:pPr algn="l">
                        <a:lnSpc>
                          <a:spcPct val="105000"/>
                        </a:lnSpc>
                        <a:spcBef>
                          <a:spcPts val="0"/>
                        </a:spcBef>
                        <a:spcAft>
                          <a:spcPts val="0"/>
                        </a:spcAft>
                      </a:pPr>
                      <a:r>
                        <a:rPr sz="1000" b="0" i="0">
                          <a:solidFill>
                            <a:srgbClr val="C43D3D"/>
                          </a:solidFill>
                          <a:latin typeface="Segoe UI"/>
                        </a:rPr>
                        <a:t>Limited - all shards share one GPU, so a throttle slows all of them equally</a:t>
                      </a:r>
                    </a:p>
                  </a:txBody>
                  <a:tcPr marL="64008" marR="64008" marT="18288" marB="18288" anchor="ctr">
                    <a:solidFill>
                      <a:srgbClr val="FFFFFF"/>
                    </a:solidFill>
                  </a:tcPr>
                </a:tc>
              </a:tr>
              <a:tr h="457200">
                <a:tc>
                  <a:txBody>
                    <a:bodyPr wrap="square"/>
                    <a:lstStyle/>
                    <a:p>
                      <a:pPr>
                        <a:lnSpc>
                          <a:spcPct val="105000"/>
                        </a:lnSpc>
                        <a:spcBef>
                          <a:spcPts val="0"/>
                        </a:spcBef>
                        <a:spcAft>
                          <a:spcPts val="0"/>
                        </a:spcAft>
                      </a:pPr>
                      <a:r>
                        <a:rPr sz="1000" b="0" i="0">
                          <a:solidFill>
                            <a:srgbClr val="161D26"/>
                          </a:solidFill>
                          <a:latin typeface="Segoe UI"/>
                        </a:rPr>
                        <a:t>Node-failure healing</a:t>
                      </a:r>
                    </a:p>
                  </a:txBody>
                  <a:tcPr marL="64008" marR="64008" marT="18288" marB="18288" anchor="ctr">
                    <a:solidFill>
                      <a:srgbClr val="F3F7FB"/>
                    </a:solidFill>
                  </a:tcPr>
                </a:tc>
                <a:tc>
                  <a:txBody>
                    <a:bodyPr wrap="square"/>
                    <a:lstStyle/>
                    <a:p>
                      <a:pPr algn="l">
                        <a:lnSpc>
                          <a:spcPct val="105000"/>
                        </a:lnSpc>
                        <a:spcBef>
                          <a:spcPts val="0"/>
                        </a:spcBef>
                        <a:spcAft>
                          <a:spcPts val="0"/>
                        </a:spcAft>
                      </a:pPr>
                      <a:r>
                        <a:rPr sz="1000" b="0" i="0">
                          <a:solidFill>
                            <a:srgbClr val="C43D3D"/>
                          </a:solidFill>
                          <a:latin typeface="Segoe UI"/>
                        </a:rPr>
                        <a:t>No - needs multiple machines</a:t>
                      </a:r>
                    </a:p>
                  </a:txBody>
                  <a:tcPr marL="64008" marR="64008" marT="18288" marB="18288" anchor="ctr">
                    <a:solidFill>
                      <a:srgbClr val="F3F7FB"/>
                    </a:solidFill>
                  </a:tcPr>
                </a:tc>
              </a:tr>
            </a:tbl>
          </a:graphicData>
        </a:graphic>
      </p:graphicFrame>
      <p:sp>
        <p:nvSpPr>
          <p:cNvPr id="16" name="Rectangle 15"/>
          <p:cNvSpPr/>
          <p:nvPr/>
        </p:nvSpPr>
        <p:spPr>
          <a:xfrm>
            <a:off x="6739128" y="5431536"/>
            <a:ext cx="5440680" cy="640080"/>
          </a:xfrm>
          <a:prstGeom prst="rect">
            <a:avLst/>
          </a:prstGeom>
          <a:solidFill>
            <a:srgbClr val="F3F7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739128" y="5431536"/>
            <a:ext cx="50292" cy="6400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58584" y="5550408"/>
            <a:ext cx="5056632" cy="420623"/>
          </a:xfrm>
          <a:prstGeom prst="rect">
            <a:avLst/>
          </a:prstGeom>
          <a:noFill/>
        </p:spPr>
        <p:txBody>
          <a:bodyPr wrap="square" lIns="0" rIns="0" tIns="0" bIns="0" anchor="ctr">
            <a:spAutoFit/>
          </a:bodyPr>
          <a:lstStyle/>
          <a:p>
            <a:pPr algn="l">
              <a:lnSpc>
                <a:spcPct val="120000"/>
              </a:lnSpc>
              <a:spcBef>
                <a:spcPts val="0"/>
              </a:spcBef>
              <a:spcAft>
                <a:spcPts val="0"/>
              </a:spcAft>
            </a:pPr>
            <a:r>
              <a:rPr sz="1150" b="0" i="0">
                <a:solidFill>
                  <a:srgbClr val="161D26"/>
                </a:solidFill>
                <a:latin typeface="Segoe UI"/>
              </a:rPr>
              <a:t>So: use the GPU box for the real-model claims, and kind or a second machine for the control-loop claims.</a:t>
            </a:r>
          </a:p>
        </p:txBody>
      </p:sp>
      <p:sp>
        <p:nvSpPr>
          <p:cNvPr id="19" name="TextBox 18"/>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20" name="TextBox 19"/>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66928" y="475488"/>
            <a:ext cx="11057839" cy="274320"/>
          </a:xfrm>
          <a:prstGeom prst="rect">
            <a:avLst/>
          </a:prstGeom>
          <a:noFill/>
        </p:spPr>
        <p:txBody>
          <a:bodyPr wrap="square" lIns="0" rIns="0" tIns="0" bIns="0" anchor="t">
            <a:spAutoFit/>
          </a:bodyPr>
          <a:lstStyle/>
          <a:p>
            <a:pPr algn="l">
              <a:lnSpc>
                <a:spcPct val="115000"/>
              </a:lnSpc>
              <a:spcBef>
                <a:spcPts val="0"/>
              </a:spcBef>
              <a:spcAft>
                <a:spcPts val="0"/>
              </a:spcAft>
            </a:pPr>
            <a:r>
              <a:rPr sz="1100" b="1" i="0">
                <a:solidFill>
                  <a:srgbClr val="2A78D6"/>
                </a:solidFill>
                <a:latin typeface="Segoe UI"/>
              </a:rPr>
              <a:t>CODE WALKTHROUGH</a:t>
            </a:r>
          </a:p>
        </p:txBody>
      </p:sp>
      <p:sp>
        <p:nvSpPr>
          <p:cNvPr id="3" name="TextBox 2"/>
          <p:cNvSpPr txBox="1"/>
          <p:nvPr/>
        </p:nvSpPr>
        <p:spPr>
          <a:xfrm>
            <a:off x="566928" y="777240"/>
            <a:ext cx="11057839" cy="502920"/>
          </a:xfrm>
          <a:prstGeom prst="rect">
            <a:avLst/>
          </a:prstGeom>
          <a:noFill/>
        </p:spPr>
        <p:txBody>
          <a:bodyPr wrap="square" lIns="0" rIns="0" tIns="0" bIns="0" anchor="t">
            <a:spAutoFit/>
          </a:bodyPr>
          <a:lstStyle/>
          <a:p>
            <a:pPr algn="l">
              <a:lnSpc>
                <a:spcPct val="105000"/>
              </a:lnSpc>
              <a:spcBef>
                <a:spcPts val="0"/>
              </a:spcBef>
              <a:spcAft>
                <a:spcPts val="0"/>
              </a:spcAft>
            </a:pPr>
            <a:r>
              <a:rPr sz="2700" b="1" i="0">
                <a:solidFill>
                  <a:srgbClr val="0E2A47"/>
                </a:solidFill>
                <a:latin typeface="Segoe UI"/>
              </a:rPr>
              <a:t>Design decisions worth defending in questions</a:t>
            </a:r>
          </a:p>
        </p:txBody>
      </p:sp>
      <p:sp>
        <p:nvSpPr>
          <p:cNvPr id="4" name="Rectangle 3"/>
          <p:cNvSpPr/>
          <p:nvPr/>
        </p:nvSpPr>
        <p:spPr>
          <a:xfrm>
            <a:off x="566928" y="1353312"/>
            <a:ext cx="868680" cy="2926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66928" y="1517904"/>
            <a:ext cx="11057839" cy="85953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517904"/>
            <a:ext cx="45720" cy="85953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95528" y="1655064"/>
            <a:ext cx="3429000" cy="694944"/>
          </a:xfrm>
          <a:prstGeom prst="rect">
            <a:avLst/>
          </a:prstGeom>
          <a:noFill/>
        </p:spPr>
        <p:txBody>
          <a:bodyPr wrap="square" lIns="0" rIns="0" tIns="0" bIns="0" anchor="t">
            <a:spAutoFit/>
          </a:bodyPr>
          <a:lstStyle/>
          <a:p>
            <a:pPr algn="l">
              <a:lnSpc>
                <a:spcPct val="115000"/>
              </a:lnSpc>
              <a:spcBef>
                <a:spcPts val="0"/>
              </a:spcBef>
              <a:spcAft>
                <a:spcPts val="0"/>
              </a:spcAft>
            </a:pPr>
            <a:r>
              <a:rPr sz="1250" b="1" i="0">
                <a:solidFill>
                  <a:srgbClr val="0E2A47"/>
                </a:solidFill>
                <a:latin typeface="Segoe UI"/>
              </a:rPr>
              <a:t>Why is the DP not the contribution?</a:t>
            </a:r>
          </a:p>
        </p:txBody>
      </p:sp>
      <p:sp>
        <p:nvSpPr>
          <p:cNvPr id="8" name="TextBox 7"/>
          <p:cNvSpPr txBox="1"/>
          <p:nvPr/>
        </p:nvSpPr>
        <p:spPr>
          <a:xfrm>
            <a:off x="4361688" y="1636776"/>
            <a:ext cx="7635240" cy="694944"/>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161D26"/>
                </a:solidFill>
                <a:latin typeface="Segoe UI"/>
              </a:rPr>
              <a:t>It is textbook chain partitioning - Skiena, Pınar &amp; Aykanat - and EdgeShard and Alpa use the same family. Saying so directly pre-empts the most likely objection. The contribution is re-invoking it continuously from live kernel telemetry.</a:t>
            </a:r>
          </a:p>
        </p:txBody>
      </p:sp>
      <p:sp>
        <p:nvSpPr>
          <p:cNvPr id="9" name="Rectangle 8"/>
          <p:cNvSpPr/>
          <p:nvPr/>
        </p:nvSpPr>
        <p:spPr>
          <a:xfrm>
            <a:off x="566928" y="2450592"/>
            <a:ext cx="11057839" cy="85953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66928" y="2450592"/>
            <a:ext cx="45720" cy="85953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95528" y="2587752"/>
            <a:ext cx="3429000" cy="694944"/>
          </a:xfrm>
          <a:prstGeom prst="rect">
            <a:avLst/>
          </a:prstGeom>
          <a:noFill/>
        </p:spPr>
        <p:txBody>
          <a:bodyPr wrap="square" lIns="0" rIns="0" tIns="0" bIns="0" anchor="t">
            <a:spAutoFit/>
          </a:bodyPr>
          <a:lstStyle/>
          <a:p>
            <a:pPr algn="l">
              <a:lnSpc>
                <a:spcPct val="115000"/>
              </a:lnSpc>
              <a:spcBef>
                <a:spcPts val="0"/>
              </a:spcBef>
              <a:spcAft>
                <a:spcPts val="0"/>
              </a:spcAft>
            </a:pPr>
            <a:r>
              <a:rPr sz="1250" b="1" i="0">
                <a:solidFill>
                  <a:srgbClr val="0E2A47"/>
                </a:solidFill>
                <a:latin typeface="Segoe UI"/>
              </a:rPr>
              <a:t>Why stateless workers instead of KV caching?</a:t>
            </a:r>
          </a:p>
        </p:txBody>
      </p:sp>
      <p:sp>
        <p:nvSpPr>
          <p:cNvPr id="12" name="TextBox 11"/>
          <p:cNvSpPr txBox="1"/>
          <p:nvPr/>
        </p:nvSpPr>
        <p:spPr>
          <a:xfrm>
            <a:off x="4361688" y="2569464"/>
            <a:ext cx="7635240" cy="694944"/>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161D26"/>
                </a:solidFill>
                <a:latin typeface="Segoe UI"/>
              </a:rPr>
              <a:t>Stateless recompute makes a mid-generation repartition provably correct with zero migration-consistency bugs. It costs redundant compute that grows with context length - the crossover point is measured future work, and is stated as such rather than hidden.</a:t>
            </a:r>
          </a:p>
        </p:txBody>
      </p:sp>
      <p:sp>
        <p:nvSpPr>
          <p:cNvPr id="13" name="Rectangle 12"/>
          <p:cNvSpPr/>
          <p:nvPr/>
        </p:nvSpPr>
        <p:spPr>
          <a:xfrm>
            <a:off x="566928" y="3383280"/>
            <a:ext cx="11057839" cy="85953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3383280"/>
            <a:ext cx="45720" cy="85953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95528" y="3520440"/>
            <a:ext cx="3429000" cy="694944"/>
          </a:xfrm>
          <a:prstGeom prst="rect">
            <a:avLst/>
          </a:prstGeom>
          <a:noFill/>
        </p:spPr>
        <p:txBody>
          <a:bodyPr wrap="square" lIns="0" rIns="0" tIns="0" bIns="0" anchor="t">
            <a:spAutoFit/>
          </a:bodyPr>
          <a:lstStyle/>
          <a:p>
            <a:pPr algn="l">
              <a:lnSpc>
                <a:spcPct val="115000"/>
              </a:lnSpc>
              <a:spcBef>
                <a:spcPts val="0"/>
              </a:spcBef>
              <a:spcAft>
                <a:spcPts val="0"/>
              </a:spcAft>
            </a:pPr>
            <a:r>
              <a:rPr sz="1250" b="1" i="0">
                <a:solidFill>
                  <a:srgbClr val="0E2A47"/>
                </a:solidFill>
                <a:latin typeface="Segoe UI"/>
              </a:rPr>
              <a:t>Why eBPF rather than application-level timing?</a:t>
            </a:r>
          </a:p>
        </p:txBody>
      </p:sp>
      <p:sp>
        <p:nvSpPr>
          <p:cNvPr id="16" name="TextBox 15"/>
          <p:cNvSpPr txBox="1"/>
          <p:nvPr/>
        </p:nvSpPr>
        <p:spPr>
          <a:xfrm>
            <a:off x="4361688" y="3502152"/>
            <a:ext cx="7635240" cy="694944"/>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161D26"/>
                </a:solidFill>
                <a:latin typeface="Segoe UI"/>
              </a:rPr>
              <a:t>sRTT from tcp_probe is the kernel's own estimate of the transport path, measured below the application, at no sampling cost to the data path. It cannot be skewed by Python GIL scheduling the way an app-level timer can.</a:t>
            </a:r>
          </a:p>
        </p:txBody>
      </p:sp>
      <p:sp>
        <p:nvSpPr>
          <p:cNvPr id="17" name="Rectangle 16"/>
          <p:cNvSpPr/>
          <p:nvPr/>
        </p:nvSpPr>
        <p:spPr>
          <a:xfrm>
            <a:off x="566928" y="4315968"/>
            <a:ext cx="11057839" cy="85953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315968"/>
            <a:ext cx="45720" cy="85953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95528" y="4453128"/>
            <a:ext cx="3429000" cy="694944"/>
          </a:xfrm>
          <a:prstGeom prst="rect">
            <a:avLst/>
          </a:prstGeom>
          <a:noFill/>
        </p:spPr>
        <p:txBody>
          <a:bodyPr wrap="square" lIns="0" rIns="0" tIns="0" bIns="0" anchor="t">
            <a:spAutoFit/>
          </a:bodyPr>
          <a:lstStyle/>
          <a:p>
            <a:pPr algn="l">
              <a:lnSpc>
                <a:spcPct val="115000"/>
              </a:lnSpc>
              <a:spcBef>
                <a:spcPts val="0"/>
              </a:spcBef>
              <a:spcAft>
                <a:spcPts val="0"/>
              </a:spcAft>
            </a:pPr>
            <a:r>
              <a:rPr sz="1250" b="1" i="0">
                <a:solidFill>
                  <a:srgbClr val="0E2A47"/>
                </a:solidFill>
                <a:latin typeface="Segoe UI"/>
              </a:rPr>
              <a:t>Why a CRD instead of a config file?</a:t>
            </a:r>
          </a:p>
        </p:txBody>
      </p:sp>
      <p:sp>
        <p:nvSpPr>
          <p:cNvPr id="20" name="TextBox 19"/>
          <p:cNvSpPr txBox="1"/>
          <p:nvPr/>
        </p:nvSpPr>
        <p:spPr>
          <a:xfrm>
            <a:off x="4361688" y="4434840"/>
            <a:ext cx="7635240" cy="694944"/>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161D26"/>
                </a:solidFill>
                <a:latin typeface="Segoe UI"/>
              </a:rPr>
              <a:t>It makes the partition an observable, reconciled cluster object: kubectl get ipl shows the live split, and every repartition is a status transition rather than an opaque internal event.</a:t>
            </a:r>
          </a:p>
        </p:txBody>
      </p:sp>
      <p:sp>
        <p:nvSpPr>
          <p:cNvPr id="21" name="Rectangle 20"/>
          <p:cNvSpPr/>
          <p:nvPr/>
        </p:nvSpPr>
        <p:spPr>
          <a:xfrm>
            <a:off x="566928" y="5248656"/>
            <a:ext cx="11057839" cy="859536"/>
          </a:xfrm>
          <a:prstGeom prst="rect">
            <a:avLst/>
          </a:prstGeom>
          <a:solidFill>
            <a:srgbClr val="FFFFFF"/>
          </a:solidFill>
          <a:ln w="12700">
            <a:solidFill>
              <a:srgbClr val="D9E0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66928" y="5248656"/>
            <a:ext cx="45720" cy="85953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95528" y="5385816"/>
            <a:ext cx="3429000" cy="694944"/>
          </a:xfrm>
          <a:prstGeom prst="rect">
            <a:avLst/>
          </a:prstGeom>
          <a:noFill/>
        </p:spPr>
        <p:txBody>
          <a:bodyPr wrap="square" lIns="0" rIns="0" tIns="0" bIns="0" anchor="t">
            <a:spAutoFit/>
          </a:bodyPr>
          <a:lstStyle/>
          <a:p>
            <a:pPr algn="l">
              <a:lnSpc>
                <a:spcPct val="115000"/>
              </a:lnSpc>
              <a:spcBef>
                <a:spcPts val="0"/>
              </a:spcBef>
              <a:spcAft>
                <a:spcPts val="0"/>
              </a:spcAft>
            </a:pPr>
            <a:r>
              <a:rPr sz="1250" b="1" i="0">
                <a:solidFill>
                  <a:srgbClr val="0E2A47"/>
                </a:solidFill>
                <a:latin typeface="Segoe UI"/>
              </a:rPr>
              <a:t>Why hysteresis at all?</a:t>
            </a:r>
          </a:p>
        </p:txBody>
      </p:sp>
      <p:sp>
        <p:nvSpPr>
          <p:cNvPr id="24" name="TextBox 23"/>
          <p:cNvSpPr txBox="1"/>
          <p:nvPr/>
        </p:nvSpPr>
        <p:spPr>
          <a:xfrm>
            <a:off x="4361688" y="5367528"/>
            <a:ext cx="7635240" cy="694944"/>
          </a:xfrm>
          <a:prstGeom prst="rect">
            <a:avLst/>
          </a:prstGeom>
          <a:noFill/>
        </p:spPr>
        <p:txBody>
          <a:bodyPr wrap="square" lIns="0" rIns="0" tIns="0" bIns="0" anchor="t">
            <a:spAutoFit/>
          </a:bodyPr>
          <a:lstStyle/>
          <a:p>
            <a:pPr algn="l">
              <a:lnSpc>
                <a:spcPct val="118000"/>
              </a:lnSpc>
              <a:spcBef>
                <a:spcPts val="0"/>
              </a:spcBef>
              <a:spcAft>
                <a:spcPts val="0"/>
              </a:spcAft>
            </a:pPr>
            <a:r>
              <a:rPr sz="1050" b="0" i="0">
                <a:solidFill>
                  <a:srgbClr val="161D26"/>
                </a:solidFill>
                <a:latin typeface="Segoe UI"/>
              </a:rPr>
              <a:t>Without it the optimiser would chase telemetry noise and move layers constantly. The sweep in the main deck shows behaviour is monotonic in both parameters and that no thrashing occurs at any tested setting.</a:t>
            </a:r>
          </a:p>
        </p:txBody>
      </p:sp>
      <p:sp>
        <p:nvSpPr>
          <p:cNvPr id="25" name="TextBox 24"/>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26" name="TextBox 25"/>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73736" cy="6858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0" y="2148840"/>
            <a:ext cx="9692640" cy="914400"/>
          </a:xfrm>
          <a:prstGeom prst="rect">
            <a:avLst/>
          </a:prstGeom>
          <a:noFill/>
        </p:spPr>
        <p:txBody>
          <a:bodyPr wrap="square" lIns="0" rIns="0" tIns="0" bIns="0" anchor="t">
            <a:spAutoFit/>
          </a:bodyPr>
          <a:lstStyle/>
          <a:p>
            <a:pPr algn="l">
              <a:lnSpc>
                <a:spcPct val="115000"/>
              </a:lnSpc>
              <a:spcBef>
                <a:spcPts val="0"/>
              </a:spcBef>
              <a:spcAft>
                <a:spcPts val="0"/>
              </a:spcAft>
            </a:pPr>
            <a:r>
              <a:rPr sz="4200" b="1" i="0">
                <a:solidFill>
                  <a:srgbClr val="FFFFFF"/>
                </a:solidFill>
                <a:latin typeface="Segoe UI"/>
              </a:rPr>
              <a:t>Demo</a:t>
            </a:r>
          </a:p>
        </p:txBody>
      </p:sp>
      <p:sp>
        <p:nvSpPr>
          <p:cNvPr id="5" name="TextBox 4"/>
          <p:cNvSpPr txBox="1"/>
          <p:nvPr/>
        </p:nvSpPr>
        <p:spPr>
          <a:xfrm>
            <a:off x="1280160" y="3063240"/>
            <a:ext cx="9326880" cy="1828800"/>
          </a:xfrm>
          <a:prstGeom prst="rect">
            <a:avLst/>
          </a:prstGeom>
          <a:noFill/>
        </p:spPr>
        <p:txBody>
          <a:bodyPr wrap="square" lIns="0" rIns="0" tIns="0" bIns="0" anchor="t">
            <a:spAutoFit/>
          </a:bodyPr>
          <a:lstStyle/>
          <a:p>
            <a:pPr algn="l">
              <a:lnSpc>
                <a:spcPct val="115000"/>
              </a:lnSpc>
              <a:spcBef>
                <a:spcPts val="0"/>
              </a:spcBef>
              <a:spcAft>
                <a:spcPts val="1000"/>
              </a:spcAft>
            </a:pPr>
            <a:r>
              <a:rPr sz="1500" b="0" i="0">
                <a:solidFill>
                  <a:srgbClr val="B9CCDE"/>
                </a:solidFill>
                <a:latin typeface="Segoe UI"/>
              </a:rPr>
              <a:t>Clone, one command, live dashboard:</a:t>
            </a:r>
          </a:p>
          <a:p>
            <a:pPr algn="l">
              <a:lnSpc>
                <a:spcPct val="115000"/>
              </a:lnSpc>
              <a:spcBef>
                <a:spcPts val="0"/>
              </a:spcBef>
              <a:spcAft>
                <a:spcPts val="400"/>
              </a:spcAft>
            </a:pPr>
            <a:r>
              <a:rPr sz="1600" b="0" i="0">
                <a:solidFill>
                  <a:srgbClr val="FFFFFF"/>
                </a:solidFill>
                <a:latin typeface="Consolas"/>
              </a:rPr>
              <a:t>git clone https://github.com/karnati-praveen/ebpf-</a:t>
            </a:r>
          </a:p>
          <a:p>
            <a:pPr algn="l">
              <a:lnSpc>
                <a:spcPct val="115000"/>
              </a:lnSpc>
              <a:spcBef>
                <a:spcPts val="0"/>
              </a:spcBef>
              <a:spcAft>
                <a:spcPts val="1000"/>
              </a:spcAft>
            </a:pPr>
            <a:r>
              <a:rPr sz="1600" b="0" i="0">
                <a:solidFill>
                  <a:srgbClr val="FFFFFF"/>
                </a:solidFill>
                <a:latin typeface="Consolas"/>
              </a:rPr>
              <a:t>cd ebpf- &amp;&amp; ./run-demo.sh</a:t>
            </a:r>
          </a:p>
          <a:p>
            <a:pPr algn="l">
              <a:lnSpc>
                <a:spcPct val="115000"/>
              </a:lnSpc>
              <a:spcBef>
                <a:spcPts val="0"/>
              </a:spcBef>
              <a:spcAft>
                <a:spcPts val="0"/>
              </a:spcAft>
            </a:pPr>
            <a:r>
              <a:rPr sz="1600" b="0" i="0">
                <a:solidFill>
                  <a:srgbClr val="8FBCEE"/>
                </a:solidFill>
                <a:latin typeface="Consolas"/>
              </a:rPr>
              <a:t>→  http://localhost:8000</a:t>
            </a:r>
          </a:p>
        </p:txBody>
      </p:sp>
      <p:sp>
        <p:nvSpPr>
          <p:cNvPr id="6" name="TextBox 5"/>
          <p:cNvSpPr txBox="1"/>
          <p:nvPr/>
        </p:nvSpPr>
        <p:spPr>
          <a:xfrm>
            <a:off x="566928" y="6437376"/>
            <a:ext cx="11057839" cy="237744"/>
          </a:xfrm>
          <a:prstGeom prst="rect">
            <a:avLst/>
          </a:prstGeom>
          <a:noFill/>
        </p:spPr>
        <p:txBody>
          <a:bodyPr wrap="square" lIns="0" rIns="0" tIns="0" bIns="0" anchor="t">
            <a:spAutoFit/>
          </a:bodyPr>
          <a:lstStyle/>
          <a:p>
            <a:pPr algn="l"/>
            <a:r>
              <a:rPr sz="900" b="0" i="0">
                <a:solidFill>
                  <a:srgbClr val="929FAC"/>
                </a:solidFill>
                <a:latin typeface="Segoe UI"/>
              </a:rPr>
              <a:t>KubeEdgeInfer  ·  code &amp; live demo</a:t>
            </a:r>
          </a:p>
        </p:txBody>
      </p:sp>
      <p:sp>
        <p:nvSpPr>
          <p:cNvPr id="7" name="TextBox 6"/>
          <p:cNvSpPr txBox="1"/>
          <p:nvPr/>
        </p:nvSpPr>
        <p:spPr>
          <a:xfrm>
            <a:off x="10527487" y="6437376"/>
            <a:ext cx="1097280" cy="237744"/>
          </a:xfrm>
          <a:prstGeom prst="rect">
            <a:avLst/>
          </a:prstGeom>
          <a:noFill/>
        </p:spPr>
        <p:txBody>
          <a:bodyPr wrap="square" lIns="0" rIns="0" tIns="0" bIns="0" anchor="t">
            <a:spAutoFit/>
          </a:bodyPr>
          <a:lstStyle/>
          <a:p>
            <a:pPr algn="r"/>
            <a:r>
              <a:rPr sz="900" b="0" i="0">
                <a:solidFill>
                  <a:srgbClr val="929FAC"/>
                </a:solidFill>
                <a:latin typeface="Segoe UI"/>
              </a:rPr>
              <a:t>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